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5"/>
  </p:notesMasterIdLst>
  <p:sldIdLst>
    <p:sldId id="277" r:id="rId2"/>
    <p:sldId id="284" r:id="rId3"/>
    <p:sldId id="327" r:id="rId4"/>
    <p:sldId id="365" r:id="rId5"/>
    <p:sldId id="360" r:id="rId6"/>
    <p:sldId id="361" r:id="rId7"/>
    <p:sldId id="258" r:id="rId8"/>
    <p:sldId id="353" r:id="rId9"/>
    <p:sldId id="355" r:id="rId10"/>
    <p:sldId id="268" r:id="rId11"/>
    <p:sldId id="354" r:id="rId12"/>
    <p:sldId id="362" r:id="rId13"/>
    <p:sldId id="343" r:id="rId14"/>
    <p:sldId id="356" r:id="rId15"/>
    <p:sldId id="346" r:id="rId16"/>
    <p:sldId id="280" r:id="rId17"/>
    <p:sldId id="333" r:id="rId18"/>
    <p:sldId id="334" r:id="rId19"/>
    <p:sldId id="281" r:id="rId20"/>
    <p:sldId id="282" r:id="rId21"/>
    <p:sldId id="316" r:id="rId22"/>
    <p:sldId id="363" r:id="rId23"/>
    <p:sldId id="359" r:id="rId24"/>
    <p:sldId id="357" r:id="rId25"/>
    <p:sldId id="364" r:id="rId26"/>
    <p:sldId id="328" r:id="rId27"/>
    <p:sldId id="324" r:id="rId28"/>
    <p:sldId id="329" r:id="rId29"/>
    <p:sldId id="330" r:id="rId30"/>
    <p:sldId id="294" r:id="rId31"/>
    <p:sldId id="332" r:id="rId32"/>
    <p:sldId id="352" r:id="rId33"/>
    <p:sldId id="335" r:id="rId34"/>
    <p:sldId id="326" r:id="rId35"/>
    <p:sldId id="350" r:id="rId36"/>
    <p:sldId id="260" r:id="rId37"/>
    <p:sldId id="262" r:id="rId38"/>
    <p:sldId id="270" r:id="rId39"/>
    <p:sldId id="344" r:id="rId40"/>
    <p:sldId id="345" r:id="rId41"/>
    <p:sldId id="347" r:id="rId42"/>
    <p:sldId id="257" r:id="rId43"/>
    <p:sldId id="261" r:id="rId44"/>
    <p:sldId id="348" r:id="rId45"/>
    <p:sldId id="349" r:id="rId46"/>
    <p:sldId id="351" r:id="rId47"/>
    <p:sldId id="342" r:id="rId48"/>
    <p:sldId id="325" r:id="rId49"/>
    <p:sldId id="341" r:id="rId50"/>
    <p:sldId id="336" r:id="rId51"/>
    <p:sldId id="331" r:id="rId52"/>
    <p:sldId id="338" r:id="rId53"/>
    <p:sldId id="337" r:id="rId54"/>
    <p:sldId id="339" r:id="rId55"/>
    <p:sldId id="340" r:id="rId56"/>
    <p:sldId id="323" r:id="rId57"/>
    <p:sldId id="264" r:id="rId58"/>
    <p:sldId id="263" r:id="rId59"/>
    <p:sldId id="322" r:id="rId60"/>
    <p:sldId id="269" r:id="rId61"/>
    <p:sldId id="265" r:id="rId62"/>
    <p:sldId id="358" r:id="rId63"/>
    <p:sldId id="285"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2574" autoAdjust="0"/>
    <p:restoredTop sz="94660"/>
  </p:normalViewPr>
  <p:slideViewPr>
    <p:cSldViewPr snapToGrid="0">
      <p:cViewPr varScale="1">
        <p:scale>
          <a:sx n="101" d="100"/>
          <a:sy n="101" d="100"/>
        </p:scale>
        <p:origin x="462" y="108"/>
      </p:cViewPr>
      <p:guideLst/>
    </p:cSldViewPr>
  </p:slideViewPr>
  <p:notesTextViewPr>
    <p:cViewPr>
      <p:scale>
        <a:sx n="3" d="2"/>
        <a:sy n="3" d="2"/>
      </p:scale>
      <p:origin x="0" y="0"/>
    </p:cViewPr>
  </p:notesTextViewPr>
  <p:sorterViewPr>
    <p:cViewPr>
      <p:scale>
        <a:sx n="120" d="100"/>
        <a:sy n="120" d="100"/>
      </p:scale>
      <p:origin x="0" y="-3192"/>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B11059-984B-482B-853D-84D823DCF0A5}" type="datetimeFigureOut">
              <a:rPr lang="en-US" smtClean="0"/>
              <a:t>8/31/2026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E74D84-3E4C-4333-A4BB-707EE2995693}" type="slidenum">
              <a:rPr lang="en-US" smtClean="0"/>
              <a:t>‹#›</a:t>
            </a:fld>
            <a:endParaRPr lang="en-US" dirty="0"/>
          </a:p>
        </p:txBody>
      </p:sp>
    </p:spTree>
    <p:extLst>
      <p:ext uri="{BB962C8B-B14F-4D97-AF65-F5344CB8AC3E}">
        <p14:creationId xmlns:p14="http://schemas.microsoft.com/office/powerpoint/2010/main" val="21663896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6F0D43-818C-41F6-861C-053B3DEB7AC4}" type="slidenum">
              <a:rPr lang="en-US" smtClean="0"/>
              <a:t>38</a:t>
            </a:fld>
            <a:endParaRPr lang="en-US" dirty="0"/>
          </a:p>
        </p:txBody>
      </p:sp>
    </p:spTree>
    <p:extLst>
      <p:ext uri="{BB962C8B-B14F-4D97-AF65-F5344CB8AC3E}">
        <p14:creationId xmlns:p14="http://schemas.microsoft.com/office/powerpoint/2010/main" val="20466188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6F0D43-818C-41F6-861C-053B3DEB7AC4}" type="slidenum">
              <a:rPr lang="en-US" smtClean="0"/>
              <a:t>40</a:t>
            </a:fld>
            <a:endParaRPr lang="en-US" dirty="0"/>
          </a:p>
        </p:txBody>
      </p:sp>
    </p:spTree>
    <p:extLst>
      <p:ext uri="{BB962C8B-B14F-4D97-AF65-F5344CB8AC3E}">
        <p14:creationId xmlns:p14="http://schemas.microsoft.com/office/powerpoint/2010/main" val="32873818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E1078-1D62-5582-713A-914146E74FB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110BBCE-8CC3-BBFF-85C1-44B60C15A1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67462C6-808A-2313-F20A-81A65366F86E}"/>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5" name="Footer Placeholder 4">
            <a:extLst>
              <a:ext uri="{FF2B5EF4-FFF2-40B4-BE49-F238E27FC236}">
                <a16:creationId xmlns:a16="http://schemas.microsoft.com/office/drawing/2014/main" id="{A94578A1-6D90-4A15-4D6C-E4F143CB570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13F5A92-BEDE-41E6-A1CE-38DA30860286}"/>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38065446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DA3778-FB37-13B9-1DDC-2C74C522406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B888681-1E1B-992B-9E81-ECF41849F9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81CB1A-A3B6-9A7A-5109-0D4B2493D9B0}"/>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5" name="Footer Placeholder 4">
            <a:extLst>
              <a:ext uri="{FF2B5EF4-FFF2-40B4-BE49-F238E27FC236}">
                <a16:creationId xmlns:a16="http://schemas.microsoft.com/office/drawing/2014/main" id="{77193597-92CC-13A0-D19E-062EDF044BA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69AFB8C-D762-EBA5-6980-89225F4314FA}"/>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20651900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FEEA1-2E5F-2C99-1230-89827A74973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087C47-2B12-D5D2-489D-C58D11AF07B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2C6C3F7-1AE8-DE4D-C9BE-71B1CB409D18}"/>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5" name="Footer Placeholder 4">
            <a:extLst>
              <a:ext uri="{FF2B5EF4-FFF2-40B4-BE49-F238E27FC236}">
                <a16:creationId xmlns:a16="http://schemas.microsoft.com/office/drawing/2014/main" id="{12D3696A-8F55-984E-85B0-80BC7B380E7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6BDE9F08-A32A-EFE1-FA9E-924C77254847}"/>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42061311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585BF-DC25-8DB5-B816-E2AFDC00F8D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2F6B57-3DD7-9E1F-B00C-D8D6F66EDD4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564EE7-8F8F-F467-F770-6729CA8D09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B120F29-D4FA-4578-AA2C-8DF71A0617CE}"/>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6" name="Footer Placeholder 5">
            <a:extLst>
              <a:ext uri="{FF2B5EF4-FFF2-40B4-BE49-F238E27FC236}">
                <a16:creationId xmlns:a16="http://schemas.microsoft.com/office/drawing/2014/main" id="{960FEBEB-1FFD-61AD-62AC-002DC4586D6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6041D39-F5A2-905B-8B8F-FC5D82D6FA07}"/>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28870834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7FDC9-7D49-953F-0D53-5BD3C866977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66E394-9CA2-FCD8-FCAC-DD06E66DA3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FEE694-4423-302A-47EE-9323177161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8DF3CC3-068A-E6AB-3150-00976E6AEB3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CACDF8-CCDD-7645-B168-B3ABE315CBF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96E53D1-7D0C-0775-6E84-82A1F26E279D}"/>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8" name="Footer Placeholder 7">
            <a:extLst>
              <a:ext uri="{FF2B5EF4-FFF2-40B4-BE49-F238E27FC236}">
                <a16:creationId xmlns:a16="http://schemas.microsoft.com/office/drawing/2014/main" id="{9CB9DDD8-5C95-19BF-16F3-2FAC0EF3C4D5}"/>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384AEAF7-5FCD-135A-D8ED-08A54973F5D0}"/>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22992378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6FA53-5174-6062-CD81-8A41E3467F4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DBC66D-953E-5B91-42DA-1143EDEF4A18}"/>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4" name="Footer Placeholder 3">
            <a:extLst>
              <a:ext uri="{FF2B5EF4-FFF2-40B4-BE49-F238E27FC236}">
                <a16:creationId xmlns:a16="http://schemas.microsoft.com/office/drawing/2014/main" id="{0072B11D-C8E8-ECDE-B699-ACEA6F75DD21}"/>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C460CBF-3037-A8CC-DF25-D6A8A19909DE}"/>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36574228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67822A-437C-C535-F404-989EF1A06EC5}"/>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3" name="Footer Placeholder 2">
            <a:extLst>
              <a:ext uri="{FF2B5EF4-FFF2-40B4-BE49-F238E27FC236}">
                <a16:creationId xmlns:a16="http://schemas.microsoft.com/office/drawing/2014/main" id="{1457489A-A26E-FA0B-990E-7DF8A3F61158}"/>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6CCBDB6A-9109-141F-1627-C26092BBD2FA}"/>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2554327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3BC0F-63DD-DFA2-1556-12D1EB9D80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C3DFEAC-F7BF-8478-4226-F30EADBD3B2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AB4106B-03EF-13A6-571C-4ACA361E84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5B0C92-F2D3-E177-9B0A-3A8AD9CC4C6B}"/>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6" name="Footer Placeholder 5">
            <a:extLst>
              <a:ext uri="{FF2B5EF4-FFF2-40B4-BE49-F238E27FC236}">
                <a16:creationId xmlns:a16="http://schemas.microsoft.com/office/drawing/2014/main" id="{F5D61457-912A-9974-9FBF-20C71B47D56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DEAA187-9B4C-5C4F-FE74-AB0B57746A63}"/>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39596601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7496-1F0A-B499-BE8E-7E26F26721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CC54CB5-D6CF-9581-DEFB-349B5C0A966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568497A7-D053-4B9A-B2E9-A7345286FA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30B4C3-6FB7-57CC-B57B-B56BCEBBA7F6}"/>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6" name="Footer Placeholder 5">
            <a:extLst>
              <a:ext uri="{FF2B5EF4-FFF2-40B4-BE49-F238E27FC236}">
                <a16:creationId xmlns:a16="http://schemas.microsoft.com/office/drawing/2014/main" id="{0A4E2BFB-BBF8-E7B7-176F-AC03CF62A18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E70D440-6E40-8B8E-8F13-AAD9C75D72EA}"/>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27821161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E4C47-F954-0785-F3FF-7C16EC1F248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A846DBE-2232-075F-2091-608EC7511A2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167423-A657-DD90-209D-FC4CE9DF2A2C}"/>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5" name="Footer Placeholder 4">
            <a:extLst>
              <a:ext uri="{FF2B5EF4-FFF2-40B4-BE49-F238E27FC236}">
                <a16:creationId xmlns:a16="http://schemas.microsoft.com/office/drawing/2014/main" id="{920B8B8E-011D-3659-0722-46038CBEC40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1551F76-A9FD-44F0-DADB-DEFAAED29CD8}"/>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30403241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AA19B-2087-E2C6-BEDB-F4E6F3D7270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FD72204-E02E-5A19-95E1-C51E38F49B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DD6623-A5EE-5828-065C-20CD7AD0B170}"/>
              </a:ext>
            </a:extLst>
          </p:cNvPr>
          <p:cNvSpPr>
            <a:spLocks noGrp="1"/>
          </p:cNvSpPr>
          <p:nvPr>
            <p:ph type="dt" sz="half" idx="10"/>
          </p:nvPr>
        </p:nvSpPr>
        <p:spPr/>
        <p:txBody>
          <a:bodyPr/>
          <a:lstStyle/>
          <a:p>
            <a:fld id="{254D0F3F-D97D-4516-82EE-F5E724098CBF}" type="datetimeFigureOut">
              <a:rPr lang="en-US" smtClean="0"/>
              <a:t>8/31/2026</a:t>
            </a:fld>
            <a:endParaRPr lang="en-US" dirty="0"/>
          </a:p>
        </p:txBody>
      </p:sp>
      <p:sp>
        <p:nvSpPr>
          <p:cNvPr id="5" name="Footer Placeholder 4">
            <a:extLst>
              <a:ext uri="{FF2B5EF4-FFF2-40B4-BE49-F238E27FC236}">
                <a16:creationId xmlns:a16="http://schemas.microsoft.com/office/drawing/2014/main" id="{203DE48B-3F90-4CD7-957F-508A79EB1E8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E4EF6FD-466C-1F14-5154-98A35EE5F81B}"/>
              </a:ext>
            </a:extLst>
          </p:cNvPr>
          <p:cNvSpPr>
            <a:spLocks noGrp="1"/>
          </p:cNvSpPr>
          <p:nvPr>
            <p:ph type="sldNum" sz="quarter" idx="12"/>
          </p:nvPr>
        </p:nvSpPr>
        <p:spPr/>
        <p:txBody>
          <a:bodyPr/>
          <a:lstStyle/>
          <a:p>
            <a:fld id="{0B094978-4F61-44A6-9ADD-F3DA41521C6A}" type="slidenum">
              <a:rPr lang="en-US" smtClean="0"/>
              <a:t>‹#›</a:t>
            </a:fld>
            <a:endParaRPr lang="en-US" dirty="0"/>
          </a:p>
        </p:txBody>
      </p:sp>
    </p:spTree>
    <p:extLst>
      <p:ext uri="{BB962C8B-B14F-4D97-AF65-F5344CB8AC3E}">
        <p14:creationId xmlns:p14="http://schemas.microsoft.com/office/powerpoint/2010/main" val="2177218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3EA75C-94EF-FE31-E474-2800FE1D9A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248533-CFC6-79AE-D2A5-453E70DDB8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12AB87-68FE-EFC6-9CE4-3239A9C4314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54D0F3F-D97D-4516-82EE-F5E724098CBF}" type="datetimeFigureOut">
              <a:rPr lang="en-US" smtClean="0"/>
              <a:t>8/31/2026</a:t>
            </a:fld>
            <a:endParaRPr lang="en-US" dirty="0"/>
          </a:p>
        </p:txBody>
      </p:sp>
      <p:sp>
        <p:nvSpPr>
          <p:cNvPr id="5" name="Footer Placeholder 4">
            <a:extLst>
              <a:ext uri="{FF2B5EF4-FFF2-40B4-BE49-F238E27FC236}">
                <a16:creationId xmlns:a16="http://schemas.microsoft.com/office/drawing/2014/main" id="{5191FBB3-0F2B-9763-A9BC-221F0E6FF7C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1D7F17C0-E254-C101-CF9F-83E3FEB9ECC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B094978-4F61-44A6-9ADD-F3DA41521C6A}" type="slidenum">
              <a:rPr lang="en-US" smtClean="0"/>
              <a:t>‹#›</a:t>
            </a:fld>
            <a:endParaRPr lang="en-US" dirty="0"/>
          </a:p>
        </p:txBody>
      </p:sp>
    </p:spTree>
    <p:extLst>
      <p:ext uri="{BB962C8B-B14F-4D97-AF65-F5344CB8AC3E}">
        <p14:creationId xmlns:p14="http://schemas.microsoft.com/office/powerpoint/2010/main" val="25018941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image" Target="../media/image2.jpg"/><Relationship Id="rId7" Type="http://schemas.openxmlformats.org/officeDocument/2006/relationships/image" Target="../media/image6.jpg"/><Relationship Id="rId12" Type="http://schemas.openxmlformats.org/officeDocument/2006/relationships/image" Target="../media/image11.jpg"/><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jpg"/><Relationship Id="rId5" Type="http://schemas.openxmlformats.org/officeDocument/2006/relationships/image" Target="../media/image4.jpg"/><Relationship Id="rId10" Type="http://schemas.openxmlformats.org/officeDocument/2006/relationships/image" Target="../media/image9.GIF"/><Relationship Id="rId4" Type="http://schemas.openxmlformats.org/officeDocument/2006/relationships/image" Target="../media/image3.JP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image" Target="../media/image12.jpg"/><Relationship Id="rId1" Type="http://schemas.openxmlformats.org/officeDocument/2006/relationships/slideLayout" Target="../slideLayouts/slideLayout1.xml"/><Relationship Id="rId4" Type="http://schemas.openxmlformats.org/officeDocument/2006/relationships/slide" Target="slide16.xml"/></Relationships>
</file>

<file path=ppt/slides/_rels/slide6.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image" Target="../media/image14.jpg"/><Relationship Id="rId1" Type="http://schemas.openxmlformats.org/officeDocument/2006/relationships/slideLayout" Target="../slideLayouts/slideLayout1.xml"/><Relationship Id="rId4" Type="http://schemas.openxmlformats.org/officeDocument/2006/relationships/slide" Target="slide12.xml"/></Relationships>
</file>

<file path=ppt/slides/_rels/slide7.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slide" Target="slide21.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slide" Target="slide21.xml"/><Relationship Id="rId1" Type="http://schemas.openxmlformats.org/officeDocument/2006/relationships/slideLayout" Target="../slideLayouts/slideLayout1.xml"/><Relationship Id="rId5" Type="http://schemas.openxmlformats.org/officeDocument/2006/relationships/image" Target="../media/image16.jpg"/><Relationship Id="rId4" Type="http://schemas.openxmlformats.org/officeDocument/2006/relationships/image" Target="../media/image1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image" Target="../media/image17.JPG"/><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11.xml.rels><?xml version="1.0" encoding="UTF-8" standalone="yes"?>
<Relationships xmlns="http://schemas.openxmlformats.org/package/2006/relationships"><Relationship Id="rId3" Type="http://schemas.openxmlformats.org/officeDocument/2006/relationships/hyperlink" Target="https://tcr-iac.github.io/iac-community-portal/iac_home.html" TargetMode="External"/><Relationship Id="rId2" Type="http://schemas.openxmlformats.org/officeDocument/2006/relationships/hyperlink" Target="http://https/tcr-iac.github.io/iac-community-portal/iac_home.html" TargetMode="Externa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toxifier.blogspot.com/2014/02/computer-maintenance-part-1-few-general.html" TargetMode="External"/><Relationship Id="rId7" Type="http://schemas.openxmlformats.org/officeDocument/2006/relationships/hyperlink" Target="https://www.freeimageslive.co.uk/free_stock_image/antiquecar8jpg" TargetMode="External"/><Relationship Id="rId2" Type="http://schemas.openxmlformats.org/officeDocument/2006/relationships/slide" Target="slide6.xml"/><Relationship Id="rId1" Type="http://schemas.openxmlformats.org/officeDocument/2006/relationships/slideLayout" Target="../slideLayouts/slideLayout1.xml"/><Relationship Id="rId6" Type="http://schemas.openxmlformats.org/officeDocument/2006/relationships/image" Target="../media/image19.jpg"/><Relationship Id="rId5" Type="http://schemas.openxmlformats.org/officeDocument/2006/relationships/image" Target="../media/image18.jpg"/><Relationship Id="rId4" Type="http://schemas.openxmlformats.org/officeDocument/2006/relationships/hyperlink" Target="https://creativecommons.org/licenses/by-nc-nd/3.0/" TargetMode="External"/></Relationships>
</file>

<file path=ppt/slides/_rels/slide13.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image" Target="../media/image22.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slide" Target="slide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image" Target="../media/image28.jpeg"/><Relationship Id="rId1" Type="http://schemas.openxmlformats.org/officeDocument/2006/relationships/slideLayout" Target="../slideLayouts/slideLayout1.xml"/><Relationship Id="rId4" Type="http://schemas.openxmlformats.org/officeDocument/2006/relationships/image" Target="../media/image30.jpg"/></Relationships>
</file>

<file path=ppt/slides/_rels/slide25.xml.rels><?xml version="1.0" encoding="UTF-8" standalone="yes"?>
<Relationships xmlns="http://schemas.openxmlformats.org/package/2006/relationships"><Relationship Id="rId2" Type="http://schemas.openxmlformats.org/officeDocument/2006/relationships/slide" Target="slide8.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pixabay.com/en/tick-mark-correct-choice-sign-yes-40143/" TargetMode="External"/><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5.jpg"/></Relationships>
</file>

<file path=ppt/slides/_rels/slide39.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8.JP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1.jp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2.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hyperlink" Target="http://www.telecommuter.org/" TargetMode="External"/><Relationship Id="rId2" Type="http://schemas.openxmlformats.org/officeDocument/2006/relationships/hyperlink" Target="mailto:jfsanger@telecommuter.org" TargetMode="External"/><Relationship Id="rId1" Type="http://schemas.openxmlformats.org/officeDocument/2006/relationships/slideLayout" Target="../slideLayouts/slideLayout1.xml"/><Relationship Id="rId4" Type="http://schemas.openxmlformats.org/officeDocument/2006/relationships/hyperlink" Target="http://www.infoagecommunity.org/"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44.jp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image" Target="../media/image45.jp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46.jp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hyperlink" Target="https://tcr-iac.github.io/iac-community-portal/iac_home.html" TargetMode="External"/><Relationship Id="rId2" Type="http://schemas.openxmlformats.org/officeDocument/2006/relationships/hyperlink" Target="http://https/tcr-iac.github.io/iac-community-portal/iac_home.html" TargetMode="Externa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hyperlink" Target="https://tcr-iac.github.io/iac-community-portal/iac_home.html" TargetMode="External"/><Relationship Id="rId2" Type="http://schemas.openxmlformats.org/officeDocument/2006/relationships/hyperlink" Target="http://https/tcr-iac.github.io/iac-community-portal/iac_home.html"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94CD582-7AEE-7604-5DF6-930C9CFAB49A}"/>
              </a:ext>
            </a:extLst>
          </p:cNvPr>
          <p:cNvSpPr txBox="1"/>
          <p:nvPr/>
        </p:nvSpPr>
        <p:spPr>
          <a:xfrm>
            <a:off x="33955" y="203549"/>
            <a:ext cx="12124090" cy="707886"/>
          </a:xfrm>
          <a:prstGeom prst="rect">
            <a:avLst/>
          </a:prstGeom>
          <a:noFill/>
        </p:spPr>
        <p:txBody>
          <a:bodyPr wrap="square" rtlCol="0">
            <a:spAutoFit/>
          </a:bodyPr>
          <a:lstStyle/>
          <a:p>
            <a:pPr algn="ctr"/>
            <a:r>
              <a:rPr lang="en-US" sz="4000" b="1" dirty="0">
                <a:solidFill>
                  <a:schemeClr val="bg1"/>
                </a:solidFill>
                <a:latin typeface="Times New Roman" panose="02020603050405020304" pitchFamily="18" charset="0"/>
                <a:cs typeface="Times New Roman" panose="02020603050405020304" pitchFamily="18" charset="0"/>
              </a:rPr>
              <a:t>THE INFORMATION AGE COMMUNITY</a:t>
            </a:r>
          </a:p>
        </p:txBody>
      </p:sp>
      <p:pic>
        <p:nvPicPr>
          <p:cNvPr id="6" name="Picture 5" descr="A diagram of a map with arrows pointing to different areas&#10;&#10;AI-generated content may be incorrect.">
            <a:extLst>
              <a:ext uri="{FF2B5EF4-FFF2-40B4-BE49-F238E27FC236}">
                <a16:creationId xmlns:a16="http://schemas.microsoft.com/office/drawing/2014/main" id="{6E6B0C6D-AA0D-EC94-A6B4-1059775DAF98}"/>
              </a:ext>
            </a:extLst>
          </p:cNvPr>
          <p:cNvPicPr>
            <a:picLocks noChangeAspect="1"/>
          </p:cNvPicPr>
          <p:nvPr/>
        </p:nvPicPr>
        <p:blipFill>
          <a:blip r:embed="rId2">
            <a:extLst>
              <a:ext uri="{28A0092B-C50C-407E-A947-70E740481C1C}">
                <a14:useLocalDpi xmlns:a14="http://schemas.microsoft.com/office/drawing/2010/main" val="0"/>
              </a:ext>
            </a:extLst>
          </a:blip>
          <a:srcRect l="5749" t="4949" r="8041" b="4244"/>
          <a:stretch/>
        </p:blipFill>
        <p:spPr>
          <a:xfrm>
            <a:off x="3490479" y="2167160"/>
            <a:ext cx="2477724" cy="1711838"/>
          </a:xfrm>
          <a:prstGeom prst="rect">
            <a:avLst/>
          </a:prstGeom>
          <a:ln w="28575">
            <a:solidFill>
              <a:schemeClr val="tx1"/>
            </a:solidFill>
          </a:ln>
        </p:spPr>
      </p:pic>
      <p:pic>
        <p:nvPicPr>
          <p:cNvPr id="8" name="Picture 7" descr="A map of the united states of america&#10;&#10;AI-generated content may be incorrect.">
            <a:extLst>
              <a:ext uri="{FF2B5EF4-FFF2-40B4-BE49-F238E27FC236}">
                <a16:creationId xmlns:a16="http://schemas.microsoft.com/office/drawing/2014/main" id="{25519BE9-F829-7744-CFD6-024C9605FFB2}"/>
              </a:ext>
            </a:extLst>
          </p:cNvPr>
          <p:cNvPicPr>
            <a:picLocks noChangeAspect="1"/>
          </p:cNvPicPr>
          <p:nvPr/>
        </p:nvPicPr>
        <p:blipFill>
          <a:blip r:embed="rId3">
            <a:extLst>
              <a:ext uri="{28A0092B-C50C-407E-A947-70E740481C1C}">
                <a14:useLocalDpi xmlns:a14="http://schemas.microsoft.com/office/drawing/2010/main" val="0"/>
              </a:ext>
            </a:extLst>
          </a:blip>
          <a:srcRect l="8699" t="5183" r="4687" b="1799"/>
          <a:stretch/>
        </p:blipFill>
        <p:spPr>
          <a:xfrm>
            <a:off x="9506296" y="2054679"/>
            <a:ext cx="1917512" cy="1312728"/>
          </a:xfrm>
          <a:prstGeom prst="rect">
            <a:avLst/>
          </a:prstGeom>
        </p:spPr>
      </p:pic>
      <p:pic>
        <p:nvPicPr>
          <p:cNvPr id="10" name="Picture 9" descr="A map of different colored ovals&#10;&#10;AI-generated content may be incorrect.">
            <a:extLst>
              <a:ext uri="{FF2B5EF4-FFF2-40B4-BE49-F238E27FC236}">
                <a16:creationId xmlns:a16="http://schemas.microsoft.com/office/drawing/2014/main" id="{782EC6A0-DEF2-4112-428F-16EEF393CD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67478" y="2777371"/>
            <a:ext cx="1523545" cy="1076729"/>
          </a:xfrm>
          <a:prstGeom prst="rect">
            <a:avLst/>
          </a:prstGeom>
        </p:spPr>
      </p:pic>
      <p:pic>
        <p:nvPicPr>
          <p:cNvPr id="12" name="Picture 11" descr="A diagram of a typology&#10;&#10;AI-generated content may be incorrect.">
            <a:extLst>
              <a:ext uri="{FF2B5EF4-FFF2-40B4-BE49-F238E27FC236}">
                <a16:creationId xmlns:a16="http://schemas.microsoft.com/office/drawing/2014/main" id="{0C1B94EB-6F4A-2163-1274-AB708C5163C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426774" y="3643783"/>
            <a:ext cx="2117360" cy="1718755"/>
          </a:xfrm>
          <a:prstGeom prst="rect">
            <a:avLst/>
          </a:prstGeom>
        </p:spPr>
      </p:pic>
      <p:pic>
        <p:nvPicPr>
          <p:cNvPr id="18" name="Picture 17" descr="A diagram of a neighborhood&#10;&#10;AI-generated content may be incorrect.">
            <a:extLst>
              <a:ext uri="{FF2B5EF4-FFF2-40B4-BE49-F238E27FC236}">
                <a16:creationId xmlns:a16="http://schemas.microsoft.com/office/drawing/2014/main" id="{BEED2CEF-84A4-57EF-F19D-AC037F6C6A8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2191999" y="-849663"/>
            <a:ext cx="1811450" cy="1823527"/>
          </a:xfrm>
          <a:prstGeom prst="rect">
            <a:avLst/>
          </a:prstGeom>
        </p:spPr>
      </p:pic>
      <p:pic>
        <p:nvPicPr>
          <p:cNvPr id="20" name="Picture 19" descr="A diagram of a diagram of a community&#10;&#10;AI-generated content may be incorrect.">
            <a:extLst>
              <a:ext uri="{FF2B5EF4-FFF2-40B4-BE49-F238E27FC236}">
                <a16:creationId xmlns:a16="http://schemas.microsoft.com/office/drawing/2014/main" id="{DBACFF5E-83C6-502C-DBA5-9CC3E4E36C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04205" y="-813184"/>
            <a:ext cx="1378880" cy="1075908"/>
          </a:xfrm>
          <a:prstGeom prst="rect">
            <a:avLst/>
          </a:prstGeom>
        </p:spPr>
      </p:pic>
      <p:pic>
        <p:nvPicPr>
          <p:cNvPr id="24" name="Picture 23" descr="A map of the state of minnesota&#10;&#10;AI-generated content may be incorrect.">
            <a:extLst>
              <a:ext uri="{FF2B5EF4-FFF2-40B4-BE49-F238E27FC236}">
                <a16:creationId xmlns:a16="http://schemas.microsoft.com/office/drawing/2014/main" id="{6926CB49-3B2A-9843-6BC6-ABE27ECEDD5F}"/>
              </a:ext>
            </a:extLst>
          </p:cNvPr>
          <p:cNvPicPr>
            <a:picLocks noChangeAspect="1"/>
          </p:cNvPicPr>
          <p:nvPr/>
        </p:nvPicPr>
        <p:blipFill>
          <a:blip r:embed="rId8">
            <a:extLst>
              <a:ext uri="{28A0092B-C50C-407E-A947-70E740481C1C}">
                <a14:useLocalDpi xmlns:a14="http://schemas.microsoft.com/office/drawing/2010/main" val="0"/>
              </a:ext>
            </a:extLst>
          </a:blip>
          <a:srcRect l="9728" t="8277" r="6555"/>
          <a:stretch/>
        </p:blipFill>
        <p:spPr>
          <a:xfrm>
            <a:off x="1161426" y="2119719"/>
            <a:ext cx="1857063" cy="1844882"/>
          </a:xfrm>
          <a:prstGeom prst="rect">
            <a:avLst/>
          </a:prstGeom>
        </p:spPr>
      </p:pic>
      <p:sp>
        <p:nvSpPr>
          <p:cNvPr id="30" name="TextBox 29">
            <a:extLst>
              <a:ext uri="{FF2B5EF4-FFF2-40B4-BE49-F238E27FC236}">
                <a16:creationId xmlns:a16="http://schemas.microsoft.com/office/drawing/2014/main" id="{AD719353-DC87-CEDD-A21C-7229B440ADC9}"/>
              </a:ext>
            </a:extLst>
          </p:cNvPr>
          <p:cNvSpPr txBox="1"/>
          <p:nvPr/>
        </p:nvSpPr>
        <p:spPr>
          <a:xfrm>
            <a:off x="999127" y="4160137"/>
            <a:ext cx="2117360" cy="523220"/>
          </a:xfrm>
          <a:prstGeom prst="rect">
            <a:avLst/>
          </a:prstGeom>
          <a:noFill/>
        </p:spPr>
        <p:txBody>
          <a:bodyPr wrap="square" rtlCol="0">
            <a:spAutoFit/>
          </a:bodyPr>
          <a:lstStyle/>
          <a:p>
            <a:pPr algn="ctr"/>
            <a:r>
              <a:rPr lang="en-US" sz="1400" b="1" dirty="0">
                <a:solidFill>
                  <a:schemeClr val="bg1"/>
                </a:solidFill>
                <a:latin typeface="Times New Roman" panose="02020603050405020304" pitchFamily="18" charset="0"/>
                <a:cs typeface="Times New Roman" panose="02020603050405020304" pitchFamily="18" charset="0"/>
              </a:rPr>
              <a:t>Beginning with a Basic Demographic Problem…</a:t>
            </a:r>
          </a:p>
        </p:txBody>
      </p:sp>
      <p:sp>
        <p:nvSpPr>
          <p:cNvPr id="31" name="TextBox 30">
            <a:extLst>
              <a:ext uri="{FF2B5EF4-FFF2-40B4-BE49-F238E27FC236}">
                <a16:creationId xmlns:a16="http://schemas.microsoft.com/office/drawing/2014/main" id="{9788B14A-B8B4-DAB4-F003-A2FAEE13CA42}"/>
              </a:ext>
            </a:extLst>
          </p:cNvPr>
          <p:cNvSpPr txBox="1"/>
          <p:nvPr/>
        </p:nvSpPr>
        <p:spPr>
          <a:xfrm>
            <a:off x="3435591" y="4160137"/>
            <a:ext cx="2729090" cy="523220"/>
          </a:xfrm>
          <a:prstGeom prst="rect">
            <a:avLst/>
          </a:prstGeom>
          <a:noFill/>
        </p:spPr>
        <p:txBody>
          <a:bodyPr wrap="square" rtlCol="0">
            <a:spAutoFit/>
          </a:bodyPr>
          <a:lstStyle/>
          <a:p>
            <a:pPr algn="ctr"/>
            <a:r>
              <a:rPr lang="en-US" sz="1400" b="1" dirty="0">
                <a:solidFill>
                  <a:schemeClr val="bg1"/>
                </a:solidFill>
                <a:latin typeface="Times New Roman" panose="02020603050405020304" pitchFamily="18" charset="0"/>
                <a:cs typeface="Times New Roman" panose="02020603050405020304" pitchFamily="18" charset="0"/>
              </a:rPr>
              <a:t>…applying Socio-economic data to define the “Community”!</a:t>
            </a:r>
          </a:p>
        </p:txBody>
      </p:sp>
      <p:pic>
        <p:nvPicPr>
          <p:cNvPr id="33" name="Picture 32" descr="A cartoon of a train&#10;&#10;AI-generated content may be incorrect.">
            <a:extLst>
              <a:ext uri="{FF2B5EF4-FFF2-40B4-BE49-F238E27FC236}">
                <a16:creationId xmlns:a16="http://schemas.microsoft.com/office/drawing/2014/main" id="{09FFF401-3880-F5C4-ED62-4396E3060D7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818673" y="1569493"/>
            <a:ext cx="2485714" cy="2714286"/>
          </a:xfrm>
          <a:prstGeom prst="rect">
            <a:avLst/>
          </a:prstGeom>
        </p:spPr>
      </p:pic>
      <p:sp>
        <p:nvSpPr>
          <p:cNvPr id="40" name="TextBox 39">
            <a:extLst>
              <a:ext uri="{FF2B5EF4-FFF2-40B4-BE49-F238E27FC236}">
                <a16:creationId xmlns:a16="http://schemas.microsoft.com/office/drawing/2014/main" id="{5F8DB4CA-C9CB-1C2B-B6D5-82B65315FD7F}"/>
              </a:ext>
            </a:extLst>
          </p:cNvPr>
          <p:cNvSpPr txBox="1"/>
          <p:nvPr/>
        </p:nvSpPr>
        <p:spPr>
          <a:xfrm>
            <a:off x="6305464" y="4160137"/>
            <a:ext cx="2971885" cy="523220"/>
          </a:xfrm>
          <a:prstGeom prst="rect">
            <a:avLst/>
          </a:prstGeom>
          <a:noFill/>
        </p:spPr>
        <p:txBody>
          <a:bodyPr wrap="square" rtlCol="0">
            <a:spAutoFit/>
          </a:bodyPr>
          <a:lstStyle/>
          <a:p>
            <a:pPr algn="ctr"/>
            <a:r>
              <a:rPr lang="en-US" sz="1400" b="1" dirty="0">
                <a:solidFill>
                  <a:schemeClr val="bg1"/>
                </a:solidFill>
                <a:latin typeface="Times New Roman" panose="02020603050405020304" pitchFamily="18" charset="0"/>
                <a:cs typeface="Times New Roman" panose="02020603050405020304" pitchFamily="18" charset="0"/>
              </a:rPr>
              <a:t>Focus on Thousands of Jurisdictions or six Community Lifestyles?</a:t>
            </a:r>
          </a:p>
        </p:txBody>
      </p:sp>
      <p:sp>
        <p:nvSpPr>
          <p:cNvPr id="41" name="TextBox 40">
            <a:extLst>
              <a:ext uri="{FF2B5EF4-FFF2-40B4-BE49-F238E27FC236}">
                <a16:creationId xmlns:a16="http://schemas.microsoft.com/office/drawing/2014/main" id="{CC2EA2DE-FD95-D298-EB97-585154799CA2}"/>
              </a:ext>
            </a:extLst>
          </p:cNvPr>
          <p:cNvSpPr txBox="1"/>
          <p:nvPr/>
        </p:nvSpPr>
        <p:spPr>
          <a:xfrm>
            <a:off x="9105433" y="4160137"/>
            <a:ext cx="2729090" cy="523220"/>
          </a:xfrm>
          <a:prstGeom prst="rect">
            <a:avLst/>
          </a:prstGeom>
          <a:noFill/>
        </p:spPr>
        <p:txBody>
          <a:bodyPr wrap="square" rtlCol="0">
            <a:spAutoFit/>
          </a:bodyPr>
          <a:lstStyle/>
          <a:p>
            <a:pPr algn="ctr"/>
            <a:r>
              <a:rPr lang="en-US" sz="1400" b="1" dirty="0">
                <a:solidFill>
                  <a:schemeClr val="bg1"/>
                </a:solidFill>
                <a:latin typeface="Times New Roman" panose="02020603050405020304" pitchFamily="18" charset="0"/>
                <a:cs typeface="Times New Roman" panose="02020603050405020304" pitchFamily="18" charset="0"/>
              </a:rPr>
              <a:t>And Ultimately, A National Prototype!</a:t>
            </a:r>
          </a:p>
        </p:txBody>
      </p:sp>
      <p:pic>
        <p:nvPicPr>
          <p:cNvPr id="43" name="Picture 42" descr="A map of the state of minnesota&#10;&#10;AI-generated content may be incorrect.">
            <a:extLst>
              <a:ext uri="{FF2B5EF4-FFF2-40B4-BE49-F238E27FC236}">
                <a16:creationId xmlns:a16="http://schemas.microsoft.com/office/drawing/2014/main" id="{42DFDF46-7557-18E6-9774-B29DFA9568A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406739" y="2036728"/>
            <a:ext cx="2526542" cy="1842270"/>
          </a:xfrm>
          <a:prstGeom prst="rect">
            <a:avLst/>
          </a:prstGeom>
        </p:spPr>
      </p:pic>
      <p:grpSp>
        <p:nvGrpSpPr>
          <p:cNvPr id="45" name="Group 44">
            <a:extLst>
              <a:ext uri="{FF2B5EF4-FFF2-40B4-BE49-F238E27FC236}">
                <a16:creationId xmlns:a16="http://schemas.microsoft.com/office/drawing/2014/main" id="{EF3BCEA7-6DE9-10A3-AC01-6A3E69F0387B}"/>
              </a:ext>
            </a:extLst>
          </p:cNvPr>
          <p:cNvGrpSpPr/>
          <p:nvPr/>
        </p:nvGrpSpPr>
        <p:grpSpPr>
          <a:xfrm>
            <a:off x="7655039" y="2555680"/>
            <a:ext cx="2117362" cy="1468547"/>
            <a:chOff x="7646691" y="2028623"/>
            <a:chExt cx="2578419" cy="1762779"/>
          </a:xfrm>
        </p:grpSpPr>
        <p:grpSp>
          <p:nvGrpSpPr>
            <p:cNvPr id="36" name="Group 35">
              <a:extLst>
                <a:ext uri="{FF2B5EF4-FFF2-40B4-BE49-F238E27FC236}">
                  <a16:creationId xmlns:a16="http://schemas.microsoft.com/office/drawing/2014/main" id="{99837155-3387-291A-8371-B7F76F9991BA}"/>
                </a:ext>
              </a:extLst>
            </p:cNvPr>
            <p:cNvGrpSpPr/>
            <p:nvPr/>
          </p:nvGrpSpPr>
          <p:grpSpPr>
            <a:xfrm>
              <a:off x="7646691" y="2028623"/>
              <a:ext cx="2553441" cy="1728192"/>
              <a:chOff x="6211105" y="1508104"/>
              <a:chExt cx="3740214" cy="2065449"/>
            </a:xfrm>
          </p:grpSpPr>
          <p:pic>
            <p:nvPicPr>
              <p:cNvPr id="37" name="Picture 36" descr="Several types of houses&#10;&#10;AI-generated content may be incorrect.">
                <a:extLst>
                  <a:ext uri="{FF2B5EF4-FFF2-40B4-BE49-F238E27FC236}">
                    <a16:creationId xmlns:a16="http://schemas.microsoft.com/office/drawing/2014/main" id="{258455FD-FC03-8083-7DFD-FC3679B07BB6}"/>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474102" y="2194719"/>
                <a:ext cx="1871882" cy="1378834"/>
              </a:xfrm>
              <a:prstGeom prst="rect">
                <a:avLst/>
              </a:prstGeom>
            </p:spPr>
          </p:pic>
          <p:pic>
            <p:nvPicPr>
              <p:cNvPr id="38" name="Picture 37" descr="A close-up of several buildings&#10;&#10;AI-generated content may be incorrect.">
                <a:extLst>
                  <a:ext uri="{FF2B5EF4-FFF2-40B4-BE49-F238E27FC236}">
                    <a16:creationId xmlns:a16="http://schemas.microsoft.com/office/drawing/2014/main" id="{A303B6BD-B332-69CE-54A4-F34020F5ED73}"/>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362269" y="2206011"/>
                <a:ext cx="1589050" cy="1331881"/>
              </a:xfrm>
              <a:prstGeom prst="rect">
                <a:avLst/>
              </a:prstGeom>
            </p:spPr>
          </p:pic>
          <p:sp>
            <p:nvSpPr>
              <p:cNvPr id="39" name="TextBox 38">
                <a:extLst>
                  <a:ext uri="{FF2B5EF4-FFF2-40B4-BE49-F238E27FC236}">
                    <a16:creationId xmlns:a16="http://schemas.microsoft.com/office/drawing/2014/main" id="{EBEC61E1-4F4E-6907-B73F-EACAD1D1EC2B}"/>
                  </a:ext>
                </a:extLst>
              </p:cNvPr>
              <p:cNvSpPr txBox="1"/>
              <p:nvPr/>
            </p:nvSpPr>
            <p:spPr>
              <a:xfrm>
                <a:off x="6211105" y="1508104"/>
                <a:ext cx="3200401" cy="529846"/>
              </a:xfrm>
              <a:prstGeom prst="rect">
                <a:avLst/>
              </a:prstGeom>
              <a:noFill/>
            </p:spPr>
            <p:txBody>
              <a:bodyPr wrap="square" rtlCol="0">
                <a:spAutoFit/>
              </a:bodyPr>
              <a:lstStyle/>
              <a:p>
                <a:pPr algn="ctr"/>
                <a:endParaRPr lang="en-US" b="1" dirty="0">
                  <a:solidFill>
                    <a:schemeClr val="bg1"/>
                  </a:solidFill>
                  <a:latin typeface="Times New Roman" panose="02020603050405020304" pitchFamily="18" charset="0"/>
                  <a:cs typeface="Times New Roman" panose="02020603050405020304" pitchFamily="18" charset="0"/>
                </a:endParaRPr>
              </a:p>
            </p:txBody>
          </p:sp>
        </p:grpSp>
        <p:sp>
          <p:nvSpPr>
            <p:cNvPr id="44" name="Rectangle 43">
              <a:extLst>
                <a:ext uri="{FF2B5EF4-FFF2-40B4-BE49-F238E27FC236}">
                  <a16:creationId xmlns:a16="http://schemas.microsoft.com/office/drawing/2014/main" id="{8CB67651-F39B-30DC-D319-AA4DC8BF8AA9}"/>
                </a:ext>
              </a:extLst>
            </p:cNvPr>
            <p:cNvSpPr/>
            <p:nvPr/>
          </p:nvSpPr>
          <p:spPr>
            <a:xfrm>
              <a:off x="7826239" y="2588727"/>
              <a:ext cx="2398871" cy="1202675"/>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sp>
        <p:nvSpPr>
          <p:cNvPr id="2" name="TextBox 1">
            <a:extLst>
              <a:ext uri="{FF2B5EF4-FFF2-40B4-BE49-F238E27FC236}">
                <a16:creationId xmlns:a16="http://schemas.microsoft.com/office/drawing/2014/main" id="{1E9ACF9E-EC4A-3716-F622-CC53A9DEE548}"/>
              </a:ext>
            </a:extLst>
          </p:cNvPr>
          <p:cNvSpPr txBox="1"/>
          <p:nvPr/>
        </p:nvSpPr>
        <p:spPr>
          <a:xfrm rot="16200000">
            <a:off x="-4106957" y="2984194"/>
            <a:ext cx="6858002" cy="769441"/>
          </a:xfrm>
          <a:prstGeom prst="rect">
            <a:avLst/>
          </a:prstGeom>
          <a:solidFill>
            <a:schemeClr val="tx1"/>
          </a:solidFill>
        </p:spPr>
        <p:txBody>
          <a:bodyPr wrap="square" rtlCol="0">
            <a:spAutoFit/>
          </a:bodyPr>
          <a:lstStyle/>
          <a:p>
            <a:pPr algn="ctr"/>
            <a:r>
              <a:rPr lang="en-US" sz="4400" b="1" dirty="0">
                <a:solidFill>
                  <a:schemeClr val="bg1"/>
                </a:solidFill>
                <a:latin typeface="Stencil" panose="040409050D0802020404" pitchFamily="82" charset="0"/>
              </a:rPr>
              <a:t>ThE PLAN</a:t>
            </a:r>
          </a:p>
        </p:txBody>
      </p:sp>
      <p:cxnSp>
        <p:nvCxnSpPr>
          <p:cNvPr id="5" name="Straight Connector 4">
            <a:extLst>
              <a:ext uri="{FF2B5EF4-FFF2-40B4-BE49-F238E27FC236}">
                <a16:creationId xmlns:a16="http://schemas.microsoft.com/office/drawing/2014/main" id="{EFB6FF65-3D26-585D-FD54-C848C7387D7B}"/>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8FBBBA8-FD29-CE57-75BA-57A25F58FA87}"/>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11" name="Action Button: Go Forward or Next 10">
            <a:hlinkClick r:id="" action="ppaction://hlinkshowjump?jump=nextslide" highlightClick="1"/>
            <a:extLst>
              <a:ext uri="{FF2B5EF4-FFF2-40B4-BE49-F238E27FC236}">
                <a16:creationId xmlns:a16="http://schemas.microsoft.com/office/drawing/2014/main" id="{934A2D2A-76E9-8ADF-BAB4-4C9994637D96}"/>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51A9AB75-596D-5478-EDD7-2F2275ACBEA8}"/>
              </a:ext>
            </a:extLst>
          </p:cNvPr>
          <p:cNvSpPr txBox="1"/>
          <p:nvPr/>
        </p:nvSpPr>
        <p:spPr>
          <a:xfrm>
            <a:off x="-9502" y="757583"/>
            <a:ext cx="12124090" cy="584775"/>
          </a:xfrm>
          <a:prstGeom prst="rect">
            <a:avLst/>
          </a:prstGeom>
          <a:noFill/>
        </p:spPr>
        <p:txBody>
          <a:bodyPr wrap="square" rtlCol="0">
            <a:spAutoFit/>
          </a:bodyPr>
          <a:lstStyle/>
          <a:p>
            <a:pPr algn="ctr"/>
            <a:r>
              <a:rPr lang="en-US" sz="3200" b="1" i="1" dirty="0">
                <a:solidFill>
                  <a:schemeClr val="bg1"/>
                </a:solidFill>
                <a:latin typeface="Times New Roman" panose="02020603050405020304" pitchFamily="18" charset="0"/>
                <a:cs typeface="Times New Roman" panose="02020603050405020304" pitchFamily="18" charset="0"/>
              </a:rPr>
              <a:t>A 30 Year Planning and Implementation Evolution </a:t>
            </a:r>
          </a:p>
        </p:txBody>
      </p:sp>
      <p:sp>
        <p:nvSpPr>
          <p:cNvPr id="15" name="TextBox 14">
            <a:extLst>
              <a:ext uri="{FF2B5EF4-FFF2-40B4-BE49-F238E27FC236}">
                <a16:creationId xmlns:a16="http://schemas.microsoft.com/office/drawing/2014/main" id="{17179EF8-81A2-47AE-CE34-D473B937F6C0}"/>
              </a:ext>
            </a:extLst>
          </p:cNvPr>
          <p:cNvSpPr txBox="1"/>
          <p:nvPr/>
        </p:nvSpPr>
        <p:spPr>
          <a:xfrm>
            <a:off x="1162910" y="1754906"/>
            <a:ext cx="1789793" cy="338554"/>
          </a:xfrm>
          <a:prstGeom prst="rect">
            <a:avLst/>
          </a:prstGeom>
          <a:noFill/>
        </p:spPr>
        <p:txBody>
          <a:bodyPr wrap="square" rtlCol="0">
            <a:spAutoFit/>
          </a:bodyPr>
          <a:lstStyle/>
          <a:p>
            <a:pPr algn="ctr"/>
            <a:r>
              <a:rPr lang="en-US" sz="1600" b="1" dirty="0">
                <a:solidFill>
                  <a:schemeClr val="bg1"/>
                </a:solidFill>
                <a:latin typeface="Times New Roman" panose="02020603050405020304" pitchFamily="18" charset="0"/>
                <a:cs typeface="Times New Roman" panose="02020603050405020304" pitchFamily="18" charset="0"/>
              </a:rPr>
              <a:t>1995 MN Report</a:t>
            </a:r>
          </a:p>
        </p:txBody>
      </p:sp>
    </p:spTree>
    <p:extLst>
      <p:ext uri="{BB962C8B-B14F-4D97-AF65-F5344CB8AC3E}">
        <p14:creationId xmlns:p14="http://schemas.microsoft.com/office/powerpoint/2010/main" val="14985214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457483"/>
            <a:ext cx="12192000" cy="723331"/>
          </a:xfrm>
        </p:spPr>
        <p:txBody>
          <a:bodyPr>
            <a:normAutofit/>
          </a:bodyPr>
          <a:lstStyle/>
          <a:p>
            <a:r>
              <a:rPr lang="en-US" sz="4000" b="1" u="sng" dirty="0">
                <a:solidFill>
                  <a:schemeClr val="bg1"/>
                </a:solidFill>
                <a:latin typeface="Times New Roman" panose="02020603050405020304" pitchFamily="18" charset="0"/>
                <a:cs typeface="Times New Roman" panose="02020603050405020304" pitchFamily="18" charset="0"/>
              </a:rPr>
              <a:t>THE BUSH FOUNDATION’S GOAL</a:t>
            </a:r>
          </a:p>
        </p:txBody>
      </p:sp>
      <p:sp>
        <p:nvSpPr>
          <p:cNvPr id="4" name="Subtitle 2">
            <a:extLst>
              <a:ext uri="{FF2B5EF4-FFF2-40B4-BE49-F238E27FC236}">
                <a16:creationId xmlns:a16="http://schemas.microsoft.com/office/drawing/2014/main" id="{15615D0E-6F01-16F0-E511-C12A8AE8B49A}"/>
              </a:ext>
            </a:extLst>
          </p:cNvPr>
          <p:cNvSpPr txBox="1">
            <a:spLocks/>
          </p:cNvSpPr>
          <p:nvPr/>
        </p:nvSpPr>
        <p:spPr>
          <a:xfrm>
            <a:off x="295276" y="723332"/>
            <a:ext cx="11849100" cy="595369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1257300" lvl="2" indent="-342900" algn="l">
              <a:buFont typeface="Arial" panose="020B0604020202020204" pitchFamily="34" charset="0"/>
              <a:buChar char="•"/>
            </a:pPr>
            <a:endParaRPr lang="en-US" sz="1000" dirty="0">
              <a:solidFill>
                <a:schemeClr val="bg1"/>
              </a:solidFill>
              <a:latin typeface="Times New Roman" panose="02020603050405020304" pitchFamily="18" charset="0"/>
              <a:cs typeface="Times New Roman" panose="02020603050405020304" pitchFamily="18" charset="0"/>
            </a:endParaRPr>
          </a:p>
          <a:p>
            <a:pPr lvl="5" algn="l"/>
            <a:endParaRPr lang="en-US" sz="3600" b="1" dirty="0">
              <a:solidFill>
                <a:schemeClr val="bg1"/>
              </a:solidFill>
              <a:highlight>
                <a:srgbClr val="000000"/>
              </a:highlight>
              <a:latin typeface="Times New Roman" panose="02020603050405020304" pitchFamily="18" charset="0"/>
              <a:cs typeface="Times New Roman" panose="02020603050405020304" pitchFamily="18" charset="0"/>
            </a:endParaRPr>
          </a:p>
          <a:p>
            <a:pPr lvl="1" algn="l"/>
            <a:r>
              <a:rPr lang="en-US" sz="3600" b="1" dirty="0">
                <a:solidFill>
                  <a:schemeClr val="bg1"/>
                </a:solidFill>
                <a:latin typeface="Times New Roman" panose="02020603050405020304" pitchFamily="18" charset="0"/>
                <a:cs typeface="Times New Roman" panose="02020603050405020304" pitchFamily="18" charset="0"/>
              </a:rPr>
              <a:t>Support community-driven ideas</a:t>
            </a:r>
          </a:p>
          <a:p>
            <a:pPr marL="1371600" lvl="2" indent="-457200" algn="l">
              <a:buFont typeface="Arial" panose="020B0604020202020204" pitchFamily="34" charset="0"/>
              <a:buChar char="•"/>
            </a:pPr>
            <a:r>
              <a:rPr lang="en-US" sz="3200" b="1" i="1" dirty="0">
                <a:solidFill>
                  <a:schemeClr val="bg1"/>
                </a:solidFill>
                <a:latin typeface="Times New Roman" panose="02020603050405020304" pitchFamily="18" charset="0"/>
                <a:cs typeface="Times New Roman" panose="02020603050405020304" pitchFamily="18" charset="0"/>
              </a:rPr>
              <a:t> that change underlying systems —not just symptoms—</a:t>
            </a:r>
          </a:p>
          <a:p>
            <a:pPr lvl="1" algn="l"/>
            <a:r>
              <a:rPr lang="en-US" sz="3600" b="1" dirty="0">
                <a:solidFill>
                  <a:schemeClr val="bg1"/>
                </a:solidFill>
                <a:latin typeface="Times New Roman" panose="02020603050405020304" pitchFamily="18" charset="0"/>
                <a:cs typeface="Times New Roman" panose="02020603050405020304" pitchFamily="18" charset="0"/>
              </a:rPr>
              <a:t>Create lasting, scalable improvements across the region.</a:t>
            </a:r>
            <a:r>
              <a:rPr lang="en-US" sz="3600" dirty="0">
                <a:solidFill>
                  <a:schemeClr val="bg1"/>
                </a:solidFill>
                <a:latin typeface="Times New Roman" panose="02020603050405020304" pitchFamily="18" charset="0"/>
                <a:cs typeface="Times New Roman" panose="02020603050405020304" pitchFamily="18" charset="0"/>
              </a:rPr>
              <a:t> </a:t>
            </a:r>
          </a:p>
          <a:p>
            <a:pPr lvl="1" algn="l"/>
            <a:endParaRPr lang="en-US" sz="1400" dirty="0">
              <a:solidFill>
                <a:schemeClr val="bg1"/>
              </a:solidFill>
              <a:latin typeface="Times New Roman" panose="02020603050405020304" pitchFamily="18" charset="0"/>
              <a:cs typeface="Times New Roman" panose="02020603050405020304" pitchFamily="18" charset="0"/>
            </a:endParaRPr>
          </a:p>
          <a:p>
            <a:pPr marL="1085850" lvl="1" indent="-285750" algn="l">
              <a:buFont typeface="Arial" panose="020B0604020202020204" pitchFamily="34" charset="0"/>
              <a:buChar char="•"/>
            </a:pPr>
            <a:r>
              <a:rPr lang="en-US" sz="2400" b="1" i="1" u="sng" dirty="0">
                <a:solidFill>
                  <a:schemeClr val="bg1"/>
                </a:solidFill>
                <a:latin typeface="Times New Roman" panose="02020603050405020304" pitchFamily="18" charset="0"/>
                <a:cs typeface="Times New Roman" panose="02020603050405020304" pitchFamily="18" charset="0"/>
              </a:rPr>
              <a:t>Transform systems</a:t>
            </a:r>
            <a:r>
              <a:rPr lang="en-US" sz="2400" b="1" i="1" dirty="0">
                <a:solidFill>
                  <a:schemeClr val="bg1"/>
                </a:solidFill>
                <a:latin typeface="Times New Roman" panose="02020603050405020304" pitchFamily="18" charset="0"/>
                <a:cs typeface="Times New Roman" panose="02020603050405020304" pitchFamily="18" charset="0"/>
              </a:rPr>
              <a:t>:</a:t>
            </a:r>
            <a:r>
              <a:rPr lang="en-US" sz="2400" i="1" dirty="0">
                <a:solidFill>
                  <a:schemeClr val="bg1"/>
                </a:solidFill>
                <a:latin typeface="Times New Roman" panose="02020603050405020304" pitchFamily="18" charset="0"/>
                <a:cs typeface="Times New Roman" panose="02020603050405020304" pitchFamily="18" charset="0"/>
              </a:rPr>
              <a:t> address root causes and change how opportunities and outcomes are produced. </a:t>
            </a:r>
          </a:p>
          <a:p>
            <a:pPr marL="1085850" lvl="1" indent="-285750" algn="l">
              <a:buFont typeface="Arial" panose="020B0604020202020204" pitchFamily="34" charset="0"/>
              <a:buChar char="•"/>
            </a:pPr>
            <a:r>
              <a:rPr lang="en-US" sz="2400" b="1" i="1" u="sng" dirty="0">
                <a:solidFill>
                  <a:schemeClr val="bg1"/>
                </a:solidFill>
                <a:latin typeface="Times New Roman" panose="02020603050405020304" pitchFamily="18" charset="0"/>
                <a:cs typeface="Times New Roman" panose="02020603050405020304" pitchFamily="18" charset="0"/>
              </a:rPr>
              <a:t>Build from community ownership</a:t>
            </a:r>
            <a:r>
              <a:rPr lang="en-US" sz="2400" b="1" i="1" dirty="0">
                <a:solidFill>
                  <a:schemeClr val="bg1"/>
                </a:solidFill>
                <a:latin typeface="Times New Roman" panose="02020603050405020304" pitchFamily="18" charset="0"/>
                <a:cs typeface="Times New Roman" panose="02020603050405020304" pitchFamily="18" charset="0"/>
              </a:rPr>
              <a:t>:</a:t>
            </a:r>
            <a:r>
              <a:rPr lang="en-US" sz="2400" i="1" dirty="0">
                <a:solidFill>
                  <a:schemeClr val="bg1"/>
                </a:solidFill>
                <a:latin typeface="Times New Roman" panose="02020603050405020304" pitchFamily="18" charset="0"/>
                <a:cs typeface="Times New Roman" panose="02020603050405020304" pitchFamily="18" charset="0"/>
              </a:rPr>
              <a:t> involve the people affected and create strong, collaborative solutions. </a:t>
            </a:r>
          </a:p>
          <a:p>
            <a:pPr marL="1085850" lvl="1" indent="-285750" algn="l">
              <a:buFont typeface="Arial" panose="020B0604020202020204" pitchFamily="34" charset="0"/>
              <a:buChar char="•"/>
            </a:pPr>
            <a:r>
              <a:rPr lang="en-US" sz="2400" b="1" i="1" u="sng" dirty="0">
                <a:solidFill>
                  <a:schemeClr val="bg1"/>
                </a:solidFill>
                <a:latin typeface="Times New Roman" panose="02020603050405020304" pitchFamily="18" charset="0"/>
                <a:cs typeface="Times New Roman" panose="02020603050405020304" pitchFamily="18" charset="0"/>
              </a:rPr>
              <a:t>Create lasting, expandable impact:</a:t>
            </a:r>
            <a:r>
              <a:rPr lang="en-US" sz="2400" i="1" u="sng" dirty="0">
                <a:solidFill>
                  <a:schemeClr val="bg1"/>
                </a:solidFill>
                <a:latin typeface="Times New Roman" panose="02020603050405020304" pitchFamily="18" charset="0"/>
                <a:cs typeface="Times New Roman" panose="02020603050405020304" pitchFamily="18" charset="0"/>
              </a:rPr>
              <a:t> </a:t>
            </a:r>
            <a:r>
              <a:rPr lang="en-US" sz="2400" i="1" dirty="0">
                <a:solidFill>
                  <a:schemeClr val="bg1"/>
                </a:solidFill>
                <a:latin typeface="Times New Roman" panose="02020603050405020304" pitchFamily="18" charset="0"/>
                <a:cs typeface="Times New Roman" panose="02020603050405020304" pitchFamily="18" charset="0"/>
              </a:rPr>
              <a:t>support ideas that can grow, spread, and make the region better for everyone. </a:t>
            </a:r>
          </a:p>
          <a:p>
            <a:pPr algn="l"/>
            <a:endParaRPr lang="en-US" b="1" dirty="0">
              <a:solidFill>
                <a:schemeClr val="bg1"/>
              </a:solidFill>
              <a:latin typeface="Times New Roman" panose="02020603050405020304" pitchFamily="18" charset="0"/>
              <a:cs typeface="Times New Roman" panose="02020603050405020304" pitchFamily="18" charset="0"/>
            </a:endParaRPr>
          </a:p>
        </p:txBody>
      </p:sp>
      <p:cxnSp>
        <p:nvCxnSpPr>
          <p:cNvPr id="2" name="Straight Connector 1">
            <a:extLst>
              <a:ext uri="{FF2B5EF4-FFF2-40B4-BE49-F238E27FC236}">
                <a16:creationId xmlns:a16="http://schemas.microsoft.com/office/drawing/2014/main" id="{566B149D-F2C7-8D1F-35AA-1B2D4E3CF3CD}"/>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31724CA8-2D0F-FB0B-3561-D1B3177A879E}"/>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10" name="Action Button: Go Forward or Next 9">
            <a:hlinkClick r:id="" action="ppaction://hlinkshowjump?jump=nextslide" highlightClick="1"/>
            <a:extLst>
              <a:ext uri="{FF2B5EF4-FFF2-40B4-BE49-F238E27FC236}">
                <a16:creationId xmlns:a16="http://schemas.microsoft.com/office/drawing/2014/main" id="{39B801B1-59B6-5589-C898-216F4018A4A3}"/>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5974027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316506" y="356479"/>
            <a:ext cx="11048999" cy="4678204"/>
          </a:xfrm>
          <a:prstGeom prst="rect">
            <a:avLst/>
          </a:prstGeom>
          <a:noFill/>
        </p:spPr>
        <p:txBody>
          <a:bodyPr wrap="square" rtlCol="0">
            <a:spAutoFit/>
          </a:bodyPr>
          <a:lstStyle/>
          <a:p>
            <a:pPr algn="ctr"/>
            <a:r>
              <a:rPr lang="en-US" sz="7200" dirty="0">
                <a:solidFill>
                  <a:schemeClr val="bg1"/>
                </a:solidFill>
                <a:latin typeface="Times New Roman" panose="02020603050405020304" pitchFamily="18" charset="0"/>
                <a:cs typeface="Times New Roman" panose="02020603050405020304" pitchFamily="18" charset="0"/>
              </a:rPr>
              <a:t>The</a:t>
            </a:r>
          </a:p>
          <a:p>
            <a:pPr algn="ctr"/>
            <a:r>
              <a:rPr lang="en-US" sz="7200" dirty="0">
                <a:solidFill>
                  <a:schemeClr val="bg1"/>
                </a:solidFill>
                <a:latin typeface="Times New Roman" panose="02020603050405020304" pitchFamily="18" charset="0"/>
                <a:cs typeface="Times New Roman" panose="02020603050405020304" pitchFamily="18" charset="0"/>
              </a:rPr>
              <a:t>FUNDAMENTAL ISSUE</a:t>
            </a:r>
          </a:p>
          <a:p>
            <a:pPr algn="ctr"/>
            <a:r>
              <a:rPr lang="en-US" sz="7200" dirty="0">
                <a:solidFill>
                  <a:schemeClr val="bg1"/>
                </a:solidFill>
                <a:latin typeface="Times New Roman" panose="02020603050405020304" pitchFamily="18" charset="0"/>
                <a:cs typeface="Times New Roman" panose="02020603050405020304" pitchFamily="18" charset="0"/>
              </a:rPr>
              <a:t> </a:t>
            </a:r>
            <a:r>
              <a:rPr lang="en-US" sz="3600" b="1" dirty="0">
                <a:solidFill>
                  <a:schemeClr val="bg1"/>
                </a:solidFill>
                <a:latin typeface="Times New Roman" panose="02020603050405020304" pitchFamily="18" charset="0"/>
                <a:cs typeface="Times New Roman" panose="02020603050405020304" pitchFamily="18" charset="0"/>
              </a:rPr>
              <a:t>How Can Society provide</a:t>
            </a:r>
          </a:p>
          <a:p>
            <a:pPr algn="ctr"/>
            <a:r>
              <a:rPr lang="en-US" sz="3600" b="1" dirty="0">
                <a:solidFill>
                  <a:schemeClr val="bg1"/>
                </a:solidFill>
                <a:latin typeface="Times New Roman" panose="02020603050405020304" pitchFamily="18" charset="0"/>
                <a:cs typeface="Times New Roman" panose="02020603050405020304" pitchFamily="18" charset="0"/>
              </a:rPr>
              <a:t> Equitability for all Living Environments?</a:t>
            </a:r>
          </a:p>
          <a:p>
            <a:pPr algn="ctr"/>
            <a:endParaRPr lang="en-US" sz="1400" b="1" dirty="0">
              <a:solidFill>
                <a:schemeClr val="bg1"/>
              </a:solidFill>
              <a:latin typeface="Times New Roman" panose="02020603050405020304" pitchFamily="18" charset="0"/>
              <a:cs typeface="Times New Roman" panose="02020603050405020304" pitchFamily="18" charset="0"/>
            </a:endParaRPr>
          </a:p>
          <a:p>
            <a:pPr algn="ctr"/>
            <a:r>
              <a:rPr lang="en-US" sz="2800" b="1" i="1" dirty="0">
                <a:solidFill>
                  <a:schemeClr val="bg1"/>
                </a:solidFill>
                <a:latin typeface="Times New Roman" panose="02020603050405020304" pitchFamily="18" charset="0"/>
                <a:cs typeface="Times New Roman" panose="02020603050405020304" pitchFamily="18" charset="0"/>
              </a:rPr>
              <a:t>(TCR Doesn’t Believe Silos can Provide it!)</a:t>
            </a:r>
          </a:p>
        </p:txBody>
      </p:sp>
      <p:sp>
        <p:nvSpPr>
          <p:cNvPr id="2" name="Action Button: Go Forward or Next 1">
            <a:hlinkClick r:id="" action="ppaction://hlinkshowjump?jump=nextslide" highlightClick="1"/>
            <a:extLst>
              <a:ext uri="{FF2B5EF4-FFF2-40B4-BE49-F238E27FC236}">
                <a16:creationId xmlns:a16="http://schemas.microsoft.com/office/drawing/2014/main" id="{31DB209A-6F6A-16E7-5383-551F16236BD8}"/>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4637738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571500" y="1061329"/>
            <a:ext cx="11048999" cy="3970318"/>
          </a:xfrm>
          <a:prstGeom prst="rect">
            <a:avLst/>
          </a:prstGeom>
          <a:noFill/>
        </p:spPr>
        <p:txBody>
          <a:bodyPr wrap="square" rtlCol="0">
            <a:spAutoFit/>
          </a:bodyPr>
          <a:lstStyle/>
          <a:p>
            <a:pPr algn="ctr"/>
            <a:r>
              <a:rPr lang="en-US" sz="7200" dirty="0">
                <a:solidFill>
                  <a:schemeClr val="bg1"/>
                </a:solidFill>
                <a:latin typeface="Times New Roman" panose="02020603050405020304" pitchFamily="18" charset="0"/>
                <a:cs typeface="Times New Roman" panose="02020603050405020304" pitchFamily="18" charset="0"/>
              </a:rPr>
              <a:t>COLLABORATION?</a:t>
            </a:r>
          </a:p>
          <a:p>
            <a:pPr algn="ctr"/>
            <a:endParaRPr lang="en-US" sz="7200" dirty="0">
              <a:solidFill>
                <a:schemeClr val="bg1"/>
              </a:solidFill>
              <a:latin typeface="Times New Roman" panose="02020603050405020304" pitchFamily="18" charset="0"/>
              <a:cs typeface="Times New Roman" panose="02020603050405020304" pitchFamily="18" charset="0"/>
            </a:endParaRPr>
          </a:p>
          <a:p>
            <a:pPr algn="ctr"/>
            <a:r>
              <a:rPr lang="en-US" sz="5400" dirty="0">
                <a:solidFill>
                  <a:schemeClr val="bg1"/>
                </a:solidFill>
                <a:latin typeface="Times New Roman" panose="02020603050405020304" pitchFamily="18" charset="0"/>
                <a:cs typeface="Times New Roman" panose="02020603050405020304" pitchFamily="18" charset="0"/>
              </a:rPr>
              <a:t>Catalyst?</a:t>
            </a:r>
          </a:p>
          <a:p>
            <a:pPr algn="ctr"/>
            <a:r>
              <a:rPr lang="en-US" sz="5400" dirty="0">
                <a:solidFill>
                  <a:schemeClr val="bg1"/>
                </a:solidFill>
                <a:latin typeface="Times New Roman" panose="02020603050405020304" pitchFamily="18" charset="0"/>
                <a:cs typeface="Times New Roman" panose="02020603050405020304" pitchFamily="18" charset="0"/>
              </a:rPr>
              <a:t>BUSH vs. </a:t>
            </a:r>
            <a:r>
              <a:rPr lang="en-US" sz="5400" dirty="0" err="1">
                <a:solidFill>
                  <a:schemeClr val="bg1"/>
                </a:solidFill>
                <a:latin typeface="Times New Roman" panose="02020603050405020304" pitchFamily="18" charset="0"/>
                <a:cs typeface="Times New Roman" panose="02020603050405020304" pitchFamily="18" charset="0"/>
              </a:rPr>
              <a:t>ESMC</a:t>
            </a:r>
            <a:r>
              <a:rPr lang="en-US" sz="5400" dirty="0">
                <a:solidFill>
                  <a:schemeClr val="bg1"/>
                </a:solidFill>
                <a:latin typeface="Times New Roman" panose="02020603050405020304" pitchFamily="18" charset="0"/>
                <a:cs typeface="Times New Roman" panose="02020603050405020304" pitchFamily="18" charset="0"/>
              </a:rPr>
              <a:t>?</a:t>
            </a:r>
            <a:endParaRPr lang="en-US" sz="5400" b="1" i="1" dirty="0">
              <a:solidFill>
                <a:schemeClr val="bg1"/>
              </a:solidFill>
              <a:latin typeface="Times New Roman" panose="02020603050405020304" pitchFamily="18" charset="0"/>
              <a:cs typeface="Times New Roman" panose="02020603050405020304" pitchFamily="18" charset="0"/>
            </a:endParaRPr>
          </a:p>
        </p:txBody>
      </p:sp>
      <p:sp>
        <p:nvSpPr>
          <p:cNvPr id="2" name="Action Button: Go Forward or Next 1">
            <a:hlinkClick r:id="" action="ppaction://hlinkshowjump?jump=nextslide" highlightClick="1"/>
            <a:extLst>
              <a:ext uri="{FF2B5EF4-FFF2-40B4-BE49-F238E27FC236}">
                <a16:creationId xmlns:a16="http://schemas.microsoft.com/office/drawing/2014/main" id="{31DB209A-6F6A-16E7-5383-551F16236BD8}"/>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764935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177137"/>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1. UNDERSTANDING REALITY</a:t>
            </a:r>
          </a:p>
        </p:txBody>
      </p:sp>
      <p:pic>
        <p:nvPicPr>
          <p:cNvPr id="7" name="Picture 6">
            <a:extLst>
              <a:ext uri="{FF2B5EF4-FFF2-40B4-BE49-F238E27FC236}">
                <a16:creationId xmlns:a16="http://schemas.microsoft.com/office/drawing/2014/main" id="{90715C55-FA59-012D-70E1-F5FA82826C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3345" y="1611599"/>
            <a:ext cx="3633604" cy="4269078"/>
          </a:xfrm>
          <a:prstGeom prst="rect">
            <a:avLst/>
          </a:prstGeom>
        </p:spPr>
      </p:pic>
      <p:sp>
        <p:nvSpPr>
          <p:cNvPr id="10" name="TextBox 9">
            <a:extLst>
              <a:ext uri="{FF2B5EF4-FFF2-40B4-BE49-F238E27FC236}">
                <a16:creationId xmlns:a16="http://schemas.microsoft.com/office/drawing/2014/main" id="{B36D33E7-5C4A-3FF2-D2BD-8A91C778071A}"/>
              </a:ext>
            </a:extLst>
          </p:cNvPr>
          <p:cNvSpPr txBox="1"/>
          <p:nvPr/>
        </p:nvSpPr>
        <p:spPr>
          <a:xfrm>
            <a:off x="484357" y="797944"/>
            <a:ext cx="10877549" cy="646331"/>
          </a:xfrm>
          <a:prstGeom prst="rect">
            <a:avLst/>
          </a:prstGeom>
          <a:noFill/>
        </p:spPr>
        <p:txBody>
          <a:bodyPr wrap="square" rtlCol="0">
            <a:spAutoFit/>
          </a:bodyPr>
          <a:lstStyle/>
          <a:p>
            <a:r>
              <a:rPr lang="en-US" b="1" dirty="0">
                <a:solidFill>
                  <a:schemeClr val="bg1"/>
                </a:solidFill>
                <a:latin typeface="Times New Roman" panose="02020603050405020304" pitchFamily="18" charset="0"/>
                <a:cs typeface="Times New Roman" panose="02020603050405020304" pitchFamily="18" charset="0"/>
              </a:rPr>
              <a:t>The </a:t>
            </a:r>
            <a:r>
              <a:rPr lang="en-US" b="1" u="sng" dirty="0">
                <a:solidFill>
                  <a:schemeClr val="bg1"/>
                </a:solidFill>
                <a:latin typeface="Times New Roman" panose="02020603050405020304" pitchFamily="18" charset="0"/>
                <a:cs typeface="Times New Roman" panose="02020603050405020304" pitchFamily="18" charset="0"/>
              </a:rPr>
              <a:t>Viability Index and its Geo Structure</a:t>
            </a:r>
            <a:r>
              <a:rPr lang="en-US" b="1" dirty="0">
                <a:solidFill>
                  <a:schemeClr val="bg1"/>
                </a:solidFill>
                <a:latin typeface="Times New Roman" panose="02020603050405020304" pitchFamily="18" charset="0"/>
                <a:cs typeface="Times New Roman" panose="02020603050405020304" pitchFamily="18" charset="0"/>
              </a:rPr>
              <a:t> focus on understanding community at the  zip code level and provides the tools to apply the information at three levels: Community, Project and Customized Analysis.  </a:t>
            </a:r>
          </a:p>
        </p:txBody>
      </p:sp>
      <p:pic>
        <p:nvPicPr>
          <p:cNvPr id="6" name="Picture 5">
            <a:extLst>
              <a:ext uri="{FF2B5EF4-FFF2-40B4-BE49-F238E27FC236}">
                <a16:creationId xmlns:a16="http://schemas.microsoft.com/office/drawing/2014/main" id="{EB333924-E663-47FD-2935-3F532DBB7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57902" y="1719617"/>
            <a:ext cx="5791123" cy="3046051"/>
          </a:xfrm>
          <a:prstGeom prst="rect">
            <a:avLst/>
          </a:prstGeom>
        </p:spPr>
      </p:pic>
      <p:cxnSp>
        <p:nvCxnSpPr>
          <p:cNvPr id="11" name="Straight Connector 10">
            <a:extLst>
              <a:ext uri="{FF2B5EF4-FFF2-40B4-BE49-F238E27FC236}">
                <a16:creationId xmlns:a16="http://schemas.microsoft.com/office/drawing/2014/main" id="{2FD414DB-BB13-C0D3-71DD-4759AAD6E284}"/>
              </a:ext>
            </a:extLst>
          </p:cNvPr>
          <p:cNvCxnSpPr>
            <a:cxnSpLocks/>
          </p:cNvCxnSpPr>
          <p:nvPr/>
        </p:nvCxnSpPr>
        <p:spPr>
          <a:xfrm flipH="1">
            <a:off x="1460310" y="1719617"/>
            <a:ext cx="3997592" cy="3046051"/>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EB154507-42E6-5455-3A74-8C3F69D0A782}"/>
              </a:ext>
            </a:extLst>
          </p:cNvPr>
          <p:cNvCxnSpPr>
            <a:cxnSpLocks/>
          </p:cNvCxnSpPr>
          <p:nvPr/>
        </p:nvCxnSpPr>
        <p:spPr>
          <a:xfrm flipH="1">
            <a:off x="2101755" y="4375298"/>
            <a:ext cx="5811032" cy="1233932"/>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677B88AA-5262-F655-1D23-277CB9B0C80E}"/>
              </a:ext>
            </a:extLst>
          </p:cNvPr>
          <p:cNvSpPr/>
          <p:nvPr/>
        </p:nvSpPr>
        <p:spPr>
          <a:xfrm>
            <a:off x="1460310" y="4765668"/>
            <a:ext cx="641445" cy="843562"/>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 name="Straight Connector 1">
            <a:extLst>
              <a:ext uri="{FF2B5EF4-FFF2-40B4-BE49-F238E27FC236}">
                <a16:creationId xmlns:a16="http://schemas.microsoft.com/office/drawing/2014/main" id="{952D9207-12C4-DE7D-464B-D2A443AE7670}"/>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B55D1BF7-CABE-870E-98EA-1FA6E196A8E5}"/>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Rectangle: Rounded Corners 7">
            <a:extLst>
              <a:ext uri="{FF2B5EF4-FFF2-40B4-BE49-F238E27FC236}">
                <a16:creationId xmlns:a16="http://schemas.microsoft.com/office/drawing/2014/main" id="{03B78DAB-B13A-C4F6-FC3A-F025791C6B91}"/>
              </a:ext>
            </a:extLst>
          </p:cNvPr>
          <p:cNvSpPr/>
          <p:nvPr/>
        </p:nvSpPr>
        <p:spPr>
          <a:xfrm>
            <a:off x="9448800" y="6134100"/>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4" action="ppaction://hlinksldjump">
                  <a:extLst>
                    <a:ext uri="{A12FA001-AC4F-418D-AE19-62706E023703}">
                      <ahyp:hlinkClr xmlns:ahyp="http://schemas.microsoft.com/office/drawing/2018/hyperlinkcolor" val="tx"/>
                    </a:ext>
                  </a:extLst>
                </a:hlinkClick>
              </a:rPr>
              <a:t>Discuss the Viability Index</a:t>
            </a:r>
            <a:endParaRPr lang="en-US" dirty="0">
              <a:solidFill>
                <a:schemeClr val="bg1"/>
              </a:solidFill>
              <a:latin typeface="Times New Roman" panose="02020603050405020304" pitchFamily="18" charset="0"/>
              <a:cs typeface="Times New Roman" panose="02020603050405020304" pitchFamily="18" charset="0"/>
            </a:endParaRPr>
          </a:p>
        </p:txBody>
      </p:sp>
      <p:sp>
        <p:nvSpPr>
          <p:cNvPr id="9" name="Action Button: Go Forward or Next 8">
            <a:hlinkClick r:id="" action="ppaction://hlinkshowjump?jump=nextslide" highlightClick="1"/>
            <a:extLst>
              <a:ext uri="{FF2B5EF4-FFF2-40B4-BE49-F238E27FC236}">
                <a16:creationId xmlns:a16="http://schemas.microsoft.com/office/drawing/2014/main" id="{EC5E8CEA-E1CE-B6EF-9B65-635C6883D26F}"/>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2C367AC8-F060-8697-C9F5-EDCE3590A64D}"/>
              </a:ext>
            </a:extLst>
          </p:cNvPr>
          <p:cNvSpPr/>
          <p:nvPr/>
        </p:nvSpPr>
        <p:spPr>
          <a:xfrm>
            <a:off x="1663986" y="5156038"/>
            <a:ext cx="96611" cy="90363"/>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46078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168746"/>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2. REFINING THE COMMUNITY HIERARCHY</a:t>
            </a:r>
          </a:p>
        </p:txBody>
      </p:sp>
      <p:sp>
        <p:nvSpPr>
          <p:cNvPr id="4" name="Subtitle 2">
            <a:extLst>
              <a:ext uri="{FF2B5EF4-FFF2-40B4-BE49-F238E27FC236}">
                <a16:creationId xmlns:a16="http://schemas.microsoft.com/office/drawing/2014/main" id="{15615D0E-6F01-16F0-E511-C12A8AE8B49A}"/>
              </a:ext>
            </a:extLst>
          </p:cNvPr>
          <p:cNvSpPr txBox="1">
            <a:spLocks/>
          </p:cNvSpPr>
          <p:nvPr/>
        </p:nvSpPr>
        <p:spPr>
          <a:xfrm>
            <a:off x="351090" y="1162051"/>
            <a:ext cx="12000134" cy="4982386"/>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15000"/>
              </a:lnSpc>
              <a:spcBef>
                <a:spcPts val="0"/>
              </a:spcBef>
            </a:pPr>
            <a:r>
              <a:rPr lang="en-US" sz="20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p:txBody>
      </p:sp>
      <p:cxnSp>
        <p:nvCxnSpPr>
          <p:cNvPr id="2" name="Straight Connector 1">
            <a:extLst>
              <a:ext uri="{FF2B5EF4-FFF2-40B4-BE49-F238E27FC236}">
                <a16:creationId xmlns:a16="http://schemas.microsoft.com/office/drawing/2014/main" id="{C09D7837-4CC7-E61D-3CC5-03BDE3276A6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40E73FEB-5C94-B44B-8820-01379D363F87}"/>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pic>
        <p:nvPicPr>
          <p:cNvPr id="20" name="Picture 19">
            <a:extLst>
              <a:ext uri="{FF2B5EF4-FFF2-40B4-BE49-F238E27FC236}">
                <a16:creationId xmlns:a16="http://schemas.microsoft.com/office/drawing/2014/main" id="{B368F4D5-14CB-AB27-75CD-B3FD5019CC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7332" y="1162051"/>
            <a:ext cx="9117491" cy="3926453"/>
          </a:xfrm>
          <a:prstGeom prst="rect">
            <a:avLst/>
          </a:prstGeom>
        </p:spPr>
      </p:pic>
      <p:sp>
        <p:nvSpPr>
          <p:cNvPr id="5" name="Rectangle: Rounded Corners 4">
            <a:hlinkClick r:id="rId3" action="ppaction://hlinksldjump"/>
            <a:extLst>
              <a:ext uri="{FF2B5EF4-FFF2-40B4-BE49-F238E27FC236}">
                <a16:creationId xmlns:a16="http://schemas.microsoft.com/office/drawing/2014/main" id="{70A09834-A435-D310-0ADE-462DAB028E7E}"/>
              </a:ext>
            </a:extLst>
          </p:cNvPr>
          <p:cNvSpPr/>
          <p:nvPr/>
        </p:nvSpPr>
        <p:spPr>
          <a:xfrm>
            <a:off x="9528897" y="6157108"/>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hlinkClick r:id="rId4" action="ppaction://hlinksldjump">
                  <a:extLst>
                    <a:ext uri="{A12FA001-AC4F-418D-AE19-62706E023703}">
                      <ahyp:hlinkClr xmlns:ahyp="http://schemas.microsoft.com/office/drawing/2018/hyperlinkcolor" val="tx"/>
                    </a:ext>
                  </a:extLst>
                </a:hlinkClick>
              </a:rPr>
              <a:t>Discuss Service Access</a:t>
            </a:r>
            <a:endParaRPr lang="en-US" b="1" dirty="0">
              <a:solidFill>
                <a:schemeClr val="bg1"/>
              </a:solidFill>
              <a:latin typeface="Times New Roman" panose="02020603050405020304" pitchFamily="18" charset="0"/>
              <a:cs typeface="Times New Roman" panose="02020603050405020304" pitchFamily="18" charset="0"/>
            </a:endParaRPr>
          </a:p>
        </p:txBody>
      </p:sp>
      <p:sp>
        <p:nvSpPr>
          <p:cNvPr id="19" name="Action Button: Go Forward or Next 18">
            <a:hlinkClick r:id="" action="ppaction://hlinkshowjump?jump=nextslide" highlightClick="1"/>
            <a:extLst>
              <a:ext uri="{FF2B5EF4-FFF2-40B4-BE49-F238E27FC236}">
                <a16:creationId xmlns:a16="http://schemas.microsoft.com/office/drawing/2014/main" id="{F3A67E53-D552-3C5E-8213-6B9FB3B2A023}"/>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23080310-286D-B8AD-1DBB-CD013A9FF00C}"/>
              </a:ext>
            </a:extLst>
          </p:cNvPr>
          <p:cNvSpPr/>
          <p:nvPr/>
        </p:nvSpPr>
        <p:spPr>
          <a:xfrm>
            <a:off x="1564395" y="1162051"/>
            <a:ext cx="8684964" cy="4549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tx1"/>
                </a:solidFill>
                <a:latin typeface="Times New Roman" panose="02020603050405020304" pitchFamily="18" charset="0"/>
                <a:cs typeface="Times New Roman" panose="02020603050405020304" pitchFamily="18" charset="0"/>
              </a:rPr>
              <a:t>THE TRADE CENTER MODEL                  THE COMMUNITY MODEL</a:t>
            </a:r>
          </a:p>
        </p:txBody>
      </p:sp>
    </p:spTree>
    <p:extLst>
      <p:ext uri="{BB962C8B-B14F-4D97-AF65-F5344CB8AC3E}">
        <p14:creationId xmlns:p14="http://schemas.microsoft.com/office/powerpoint/2010/main" val="3714546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168746"/>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2. REFINING THE COMMUNITY HIERARCHY</a:t>
            </a:r>
          </a:p>
        </p:txBody>
      </p:sp>
      <p:grpSp>
        <p:nvGrpSpPr>
          <p:cNvPr id="17" name="Group 16">
            <a:extLst>
              <a:ext uri="{FF2B5EF4-FFF2-40B4-BE49-F238E27FC236}">
                <a16:creationId xmlns:a16="http://schemas.microsoft.com/office/drawing/2014/main" id="{87911C72-E16B-8FCD-04A2-671FE82929D2}"/>
              </a:ext>
            </a:extLst>
          </p:cNvPr>
          <p:cNvGrpSpPr/>
          <p:nvPr/>
        </p:nvGrpSpPr>
        <p:grpSpPr>
          <a:xfrm>
            <a:off x="3877938" y="1027064"/>
            <a:ext cx="6322987" cy="3367220"/>
            <a:chOff x="279708" y="1918564"/>
            <a:chExt cx="4826016" cy="2849319"/>
          </a:xfrm>
        </p:grpSpPr>
        <p:sp>
          <p:nvSpPr>
            <p:cNvPr id="6" name="Oval 5">
              <a:extLst>
                <a:ext uri="{FF2B5EF4-FFF2-40B4-BE49-F238E27FC236}">
                  <a16:creationId xmlns:a16="http://schemas.microsoft.com/office/drawing/2014/main" id="{419DDB95-02FF-FF7A-0DE4-BBBDBD054303}"/>
                </a:ext>
              </a:extLst>
            </p:cNvPr>
            <p:cNvSpPr/>
            <p:nvPr/>
          </p:nvSpPr>
          <p:spPr>
            <a:xfrm>
              <a:off x="279708" y="2067718"/>
              <a:ext cx="2804337" cy="2700165"/>
            </a:xfrm>
            <a:prstGeom prst="ellipse">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8D5D7843-48B9-7C64-74D9-F575125E16E8}"/>
                </a:ext>
              </a:extLst>
            </p:cNvPr>
            <p:cNvSpPr txBox="1"/>
            <p:nvPr/>
          </p:nvSpPr>
          <p:spPr>
            <a:xfrm>
              <a:off x="1280374" y="1918564"/>
              <a:ext cx="3825350" cy="586421"/>
            </a:xfrm>
            <a:prstGeom prst="rect">
              <a:avLst/>
            </a:prstGeom>
            <a:noFill/>
          </p:spPr>
          <p:txBody>
            <a:bodyPr wrap="square" rtlCol="0">
              <a:spAutoFit/>
            </a:bodyPr>
            <a:lstStyle/>
            <a:p>
              <a:r>
                <a:rPr lang="en-US" dirty="0"/>
                <a:t>__________</a:t>
              </a:r>
              <a:r>
                <a:rPr lang="en-US" sz="1200" b="1" dirty="0">
                  <a:solidFill>
                    <a:schemeClr val="bg1"/>
                  </a:solidFill>
                  <a:latin typeface="Times New Roman" panose="02020603050405020304" pitchFamily="18" charset="0"/>
                  <a:cs typeface="Times New Roman" panose="02020603050405020304" pitchFamily="18" charset="0"/>
                </a:rPr>
                <a:t>THE IAC / Global Service Center Center</a:t>
              </a:r>
              <a:endParaRPr lang="en-US" sz="1200" dirty="0"/>
            </a:p>
          </p:txBody>
        </p:sp>
        <p:sp>
          <p:nvSpPr>
            <p:cNvPr id="8" name="Oval 7">
              <a:extLst>
                <a:ext uri="{FF2B5EF4-FFF2-40B4-BE49-F238E27FC236}">
                  <a16:creationId xmlns:a16="http://schemas.microsoft.com/office/drawing/2014/main" id="{7C1A10A1-C8F2-AEDC-95AA-C0350EE3A93A}"/>
                </a:ext>
              </a:extLst>
            </p:cNvPr>
            <p:cNvSpPr/>
            <p:nvPr/>
          </p:nvSpPr>
          <p:spPr>
            <a:xfrm>
              <a:off x="529203" y="2287809"/>
              <a:ext cx="2308681" cy="2259985"/>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75092E19-4C28-27CC-0615-C99F7637CB6D}"/>
                </a:ext>
              </a:extLst>
            </p:cNvPr>
            <p:cNvSpPr txBox="1"/>
            <p:nvPr/>
          </p:nvSpPr>
          <p:spPr>
            <a:xfrm>
              <a:off x="1433039" y="2115399"/>
              <a:ext cx="2969598" cy="369332"/>
            </a:xfrm>
            <a:prstGeom prst="rect">
              <a:avLst/>
            </a:prstGeom>
            <a:noFill/>
          </p:spPr>
          <p:txBody>
            <a:bodyPr wrap="square" rtlCol="0">
              <a:spAutoFit/>
            </a:bodyPr>
            <a:lstStyle/>
            <a:p>
              <a:r>
                <a:rPr lang="en-US" dirty="0"/>
                <a:t>___________</a:t>
              </a:r>
              <a:r>
                <a:rPr lang="en-US" sz="1200" b="1" dirty="0">
                  <a:solidFill>
                    <a:schemeClr val="bg1"/>
                  </a:solidFill>
                  <a:latin typeface="Times New Roman" panose="02020603050405020304" pitchFamily="18" charset="0"/>
                  <a:cs typeface="Times New Roman" panose="02020603050405020304" pitchFamily="18" charset="0"/>
                </a:rPr>
                <a:t>The Service Anchors</a:t>
              </a:r>
              <a:endParaRPr lang="en-US" sz="1200" dirty="0"/>
            </a:p>
          </p:txBody>
        </p:sp>
        <p:sp>
          <p:nvSpPr>
            <p:cNvPr id="10" name="Oval 9">
              <a:extLst>
                <a:ext uri="{FF2B5EF4-FFF2-40B4-BE49-F238E27FC236}">
                  <a16:creationId xmlns:a16="http://schemas.microsoft.com/office/drawing/2014/main" id="{09BD9744-36CA-D9B5-FE43-8B3E11B91486}"/>
                </a:ext>
              </a:extLst>
            </p:cNvPr>
            <p:cNvSpPr/>
            <p:nvPr/>
          </p:nvSpPr>
          <p:spPr>
            <a:xfrm>
              <a:off x="775747" y="2487840"/>
              <a:ext cx="1815594" cy="1777298"/>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5603FCC1-2DC1-35BA-A614-2FA24906D2ED}"/>
                </a:ext>
              </a:extLst>
            </p:cNvPr>
            <p:cNvSpPr txBox="1"/>
            <p:nvPr/>
          </p:nvSpPr>
          <p:spPr>
            <a:xfrm>
              <a:off x="1525642" y="2346688"/>
              <a:ext cx="2969598" cy="369332"/>
            </a:xfrm>
            <a:prstGeom prst="rect">
              <a:avLst/>
            </a:prstGeom>
            <a:noFill/>
          </p:spPr>
          <p:txBody>
            <a:bodyPr wrap="square" rtlCol="0">
              <a:spAutoFit/>
            </a:bodyPr>
            <a:lstStyle/>
            <a:p>
              <a:r>
                <a:rPr lang="en-US" dirty="0"/>
                <a:t>_____________</a:t>
              </a:r>
              <a:r>
                <a:rPr lang="en-US" sz="1200" b="1" dirty="0">
                  <a:solidFill>
                    <a:schemeClr val="bg1"/>
                  </a:solidFill>
                  <a:latin typeface="Times New Roman" panose="02020603050405020304" pitchFamily="18" charset="0"/>
                  <a:cs typeface="Times New Roman" panose="02020603050405020304" pitchFamily="18" charset="0"/>
                </a:rPr>
                <a:t>The Service Centers</a:t>
              </a:r>
              <a:endParaRPr lang="en-US" sz="1200" dirty="0"/>
            </a:p>
          </p:txBody>
        </p:sp>
        <p:sp>
          <p:nvSpPr>
            <p:cNvPr id="12" name="Oval 11">
              <a:extLst>
                <a:ext uri="{FF2B5EF4-FFF2-40B4-BE49-F238E27FC236}">
                  <a16:creationId xmlns:a16="http://schemas.microsoft.com/office/drawing/2014/main" id="{424C49E1-2ED8-B74B-94C8-C2EB334608F2}"/>
                </a:ext>
              </a:extLst>
            </p:cNvPr>
            <p:cNvSpPr/>
            <p:nvPr/>
          </p:nvSpPr>
          <p:spPr>
            <a:xfrm>
              <a:off x="1050982" y="2716941"/>
              <a:ext cx="1308680" cy="1281077"/>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7620E96D-12A5-C0BB-F935-13403FE68A21}"/>
                </a:ext>
              </a:extLst>
            </p:cNvPr>
            <p:cNvSpPr txBox="1"/>
            <p:nvPr/>
          </p:nvSpPr>
          <p:spPr>
            <a:xfrm>
              <a:off x="1618245" y="2585461"/>
              <a:ext cx="2969598" cy="369332"/>
            </a:xfrm>
            <a:prstGeom prst="rect">
              <a:avLst/>
            </a:prstGeom>
            <a:noFill/>
          </p:spPr>
          <p:txBody>
            <a:bodyPr wrap="square" rtlCol="0">
              <a:spAutoFit/>
            </a:bodyPr>
            <a:lstStyle/>
            <a:p>
              <a:r>
                <a:rPr lang="en-US" dirty="0"/>
                <a:t>______________</a:t>
              </a:r>
              <a:r>
                <a:rPr lang="en-US" sz="1200" b="1" dirty="0">
                  <a:solidFill>
                    <a:schemeClr val="bg1"/>
                  </a:solidFill>
                  <a:latin typeface="Times New Roman" panose="02020603050405020304" pitchFamily="18" charset="0"/>
                  <a:cs typeface="Times New Roman" panose="02020603050405020304" pitchFamily="18" charset="0"/>
                </a:rPr>
                <a:t>The Community</a:t>
              </a:r>
              <a:endParaRPr lang="en-US" sz="1200" dirty="0"/>
            </a:p>
          </p:txBody>
        </p:sp>
        <p:sp>
          <p:nvSpPr>
            <p:cNvPr id="14" name="Oval 13">
              <a:extLst>
                <a:ext uri="{FF2B5EF4-FFF2-40B4-BE49-F238E27FC236}">
                  <a16:creationId xmlns:a16="http://schemas.microsoft.com/office/drawing/2014/main" id="{6D48D6FA-43A7-E780-A510-6C6530182225}"/>
                </a:ext>
              </a:extLst>
            </p:cNvPr>
            <p:cNvSpPr/>
            <p:nvPr/>
          </p:nvSpPr>
          <p:spPr>
            <a:xfrm>
              <a:off x="1342564" y="2990424"/>
              <a:ext cx="755292" cy="717532"/>
            </a:xfrm>
            <a:prstGeom prst="ellipse">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TextBox 14">
              <a:extLst>
                <a:ext uri="{FF2B5EF4-FFF2-40B4-BE49-F238E27FC236}">
                  <a16:creationId xmlns:a16="http://schemas.microsoft.com/office/drawing/2014/main" id="{F1409975-19B0-D458-4896-3889FCD393D7}"/>
                </a:ext>
              </a:extLst>
            </p:cNvPr>
            <p:cNvSpPr txBox="1"/>
            <p:nvPr/>
          </p:nvSpPr>
          <p:spPr>
            <a:xfrm>
              <a:off x="1745507" y="2871970"/>
              <a:ext cx="3360217" cy="390948"/>
            </a:xfrm>
            <a:prstGeom prst="rect">
              <a:avLst/>
            </a:prstGeom>
            <a:noFill/>
          </p:spPr>
          <p:txBody>
            <a:bodyPr wrap="square" rtlCol="0">
              <a:spAutoFit/>
            </a:bodyPr>
            <a:lstStyle/>
            <a:p>
              <a:r>
                <a:rPr lang="en-US" dirty="0"/>
                <a:t>______________</a:t>
              </a:r>
              <a:r>
                <a:rPr lang="en-US" sz="1200" b="1" dirty="0">
                  <a:solidFill>
                    <a:schemeClr val="bg1"/>
                  </a:solidFill>
                  <a:latin typeface="Times New Roman" panose="02020603050405020304" pitchFamily="18" charset="0"/>
                  <a:cs typeface="Times New Roman" panose="02020603050405020304" pitchFamily="18" charset="0"/>
                </a:rPr>
                <a:t>The Neighborhood</a:t>
              </a:r>
              <a:endParaRPr lang="en-US" sz="1200" dirty="0"/>
            </a:p>
          </p:txBody>
        </p:sp>
        <p:sp>
          <p:nvSpPr>
            <p:cNvPr id="18" name="TextBox 17">
              <a:extLst>
                <a:ext uri="{FF2B5EF4-FFF2-40B4-BE49-F238E27FC236}">
                  <a16:creationId xmlns:a16="http://schemas.microsoft.com/office/drawing/2014/main" id="{5199103E-91A8-A23E-F2E4-E25B57FBE411}"/>
                </a:ext>
              </a:extLst>
            </p:cNvPr>
            <p:cNvSpPr txBox="1"/>
            <p:nvPr/>
          </p:nvSpPr>
          <p:spPr>
            <a:xfrm>
              <a:off x="1870586" y="3148485"/>
              <a:ext cx="3235138" cy="369332"/>
            </a:xfrm>
            <a:prstGeom prst="rect">
              <a:avLst/>
            </a:prstGeom>
            <a:noFill/>
          </p:spPr>
          <p:txBody>
            <a:bodyPr wrap="square" rtlCol="0">
              <a:spAutoFit/>
            </a:bodyPr>
            <a:lstStyle/>
            <a:p>
              <a:r>
                <a:rPr lang="en-US" dirty="0"/>
                <a:t>_______________</a:t>
              </a:r>
              <a:r>
                <a:rPr lang="en-US" sz="1200" b="1" dirty="0">
                  <a:solidFill>
                    <a:schemeClr val="bg1"/>
                  </a:solidFill>
                  <a:latin typeface="Times New Roman" panose="02020603050405020304" pitchFamily="18" charset="0"/>
                  <a:cs typeface="Times New Roman" panose="02020603050405020304" pitchFamily="18" charset="0"/>
                </a:rPr>
                <a:t>Dispersed Housing</a:t>
              </a:r>
              <a:endParaRPr lang="en-US" sz="1200" dirty="0"/>
            </a:p>
          </p:txBody>
        </p:sp>
      </p:grpSp>
      <p:cxnSp>
        <p:nvCxnSpPr>
          <p:cNvPr id="2" name="Straight Connector 1">
            <a:extLst>
              <a:ext uri="{FF2B5EF4-FFF2-40B4-BE49-F238E27FC236}">
                <a16:creationId xmlns:a16="http://schemas.microsoft.com/office/drawing/2014/main" id="{C09D7837-4CC7-E61D-3CC5-03BDE3276A6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40E73FEB-5C94-B44B-8820-01379D363F87}"/>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5" name="Rectangle: Rounded Corners 4">
            <a:hlinkClick r:id="rId2" action="ppaction://hlinksldjump"/>
            <a:extLst>
              <a:ext uri="{FF2B5EF4-FFF2-40B4-BE49-F238E27FC236}">
                <a16:creationId xmlns:a16="http://schemas.microsoft.com/office/drawing/2014/main" id="{70A09834-A435-D310-0ADE-462DAB028E7E}"/>
              </a:ext>
            </a:extLst>
          </p:cNvPr>
          <p:cNvSpPr/>
          <p:nvPr/>
        </p:nvSpPr>
        <p:spPr>
          <a:xfrm>
            <a:off x="9429745" y="6144437"/>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3" action="ppaction://hlinksldjump"/>
              </a:rPr>
              <a:t>Discuss the Database </a:t>
            </a:r>
            <a:endParaRPr lang="en-US" dirty="0">
              <a:solidFill>
                <a:schemeClr val="bg1"/>
              </a:solidFill>
              <a:latin typeface="Times New Roman" panose="02020603050405020304" pitchFamily="18" charset="0"/>
              <a:cs typeface="Times New Roman" panose="02020603050405020304" pitchFamily="18" charset="0"/>
            </a:endParaRPr>
          </a:p>
        </p:txBody>
      </p:sp>
      <p:sp>
        <p:nvSpPr>
          <p:cNvPr id="19" name="Action Button: Go Forward or Next 18">
            <a:hlinkClick r:id="" action="ppaction://hlinkshowjump?jump=nextslide" highlightClick="1"/>
            <a:extLst>
              <a:ext uri="{FF2B5EF4-FFF2-40B4-BE49-F238E27FC236}">
                <a16:creationId xmlns:a16="http://schemas.microsoft.com/office/drawing/2014/main" id="{F3A67E53-D552-3C5E-8213-6B9FB3B2A023}"/>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E92F1D4-786E-3517-1889-678EC0A8A6C6}"/>
              </a:ext>
            </a:extLst>
          </p:cNvPr>
          <p:cNvSpPr txBox="1"/>
          <p:nvPr/>
        </p:nvSpPr>
        <p:spPr>
          <a:xfrm>
            <a:off x="632389" y="4529271"/>
            <a:ext cx="10836067" cy="1200329"/>
          </a:xfrm>
          <a:prstGeom prst="rect">
            <a:avLst/>
          </a:prstGeom>
          <a:noFill/>
        </p:spPr>
        <p:txBody>
          <a:bodyPr wrap="squar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This is simply shifting from the political structure established by the pioneer surveyors to that of a the human relationships already established by the multiple market perspectives existent in every community.</a:t>
            </a:r>
          </a:p>
        </p:txBody>
      </p:sp>
    </p:spTree>
    <p:extLst>
      <p:ext uri="{BB962C8B-B14F-4D97-AF65-F5344CB8AC3E}">
        <p14:creationId xmlns:p14="http://schemas.microsoft.com/office/powerpoint/2010/main" val="1437107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75792"/>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3. RESTORING THE COMMUNITY VOICE</a:t>
            </a:r>
          </a:p>
        </p:txBody>
      </p:sp>
      <p:cxnSp>
        <p:nvCxnSpPr>
          <p:cNvPr id="2" name="Straight Connector 1">
            <a:extLst>
              <a:ext uri="{FF2B5EF4-FFF2-40B4-BE49-F238E27FC236}">
                <a16:creationId xmlns:a16="http://schemas.microsoft.com/office/drawing/2014/main" id="{C09D7837-4CC7-E61D-3CC5-03BDE3276A6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40E73FEB-5C94-B44B-8820-01379D363F87}"/>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27" name="Rectangle: Rounded Corners 26">
            <a:hlinkClick r:id="rId2" action="ppaction://hlinksldjump"/>
            <a:extLst>
              <a:ext uri="{FF2B5EF4-FFF2-40B4-BE49-F238E27FC236}">
                <a16:creationId xmlns:a16="http://schemas.microsoft.com/office/drawing/2014/main" id="{CF3AE9DE-7E55-2323-A41E-FE5839BA2A96}"/>
              </a:ext>
            </a:extLst>
          </p:cNvPr>
          <p:cNvSpPr/>
          <p:nvPr/>
        </p:nvSpPr>
        <p:spPr>
          <a:xfrm>
            <a:off x="9403971" y="6153150"/>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3" action="ppaction://hlinksldjump">
                  <a:extLst>
                    <a:ext uri="{A12FA001-AC4F-418D-AE19-62706E023703}">
                      <ahyp:hlinkClr xmlns:ahyp="http://schemas.microsoft.com/office/drawing/2018/hyperlinkcolor" val="tx"/>
                    </a:ext>
                  </a:extLst>
                </a:hlinkClick>
              </a:rPr>
              <a:t> </a:t>
            </a:r>
            <a:r>
              <a:rPr lang="en-US" dirty="0">
                <a:solidFill>
                  <a:schemeClr val="bg1"/>
                </a:solidFill>
                <a:latin typeface="Times New Roman" panose="02020603050405020304" pitchFamily="18" charset="0"/>
                <a:cs typeface="Times New Roman" panose="02020603050405020304" pitchFamily="18" charset="0"/>
                <a:hlinkClick r:id="rId2" action="ppaction://hlinksldjump">
                  <a:extLst>
                    <a:ext uri="{A12FA001-AC4F-418D-AE19-62706E023703}">
                      <ahyp:hlinkClr xmlns:ahyp="http://schemas.microsoft.com/office/drawing/2018/hyperlinkcolor" val="tx"/>
                    </a:ext>
                  </a:extLst>
                </a:hlinkClick>
              </a:rPr>
              <a:t>Discuss the    e-Consensus </a:t>
            </a:r>
            <a:endParaRPr lang="en-US" dirty="0">
              <a:solidFill>
                <a:schemeClr val="bg1"/>
              </a:solidFill>
              <a:latin typeface="Times New Roman" panose="02020603050405020304" pitchFamily="18" charset="0"/>
              <a:cs typeface="Times New Roman" panose="02020603050405020304" pitchFamily="18" charset="0"/>
            </a:endParaRPr>
          </a:p>
        </p:txBody>
      </p:sp>
      <p:sp>
        <p:nvSpPr>
          <p:cNvPr id="28" name="Action Button: Go Forward or Next 27">
            <a:hlinkClick r:id="" action="ppaction://hlinkshowjump?jump=nextslide" highlightClick="1"/>
            <a:extLst>
              <a:ext uri="{FF2B5EF4-FFF2-40B4-BE49-F238E27FC236}">
                <a16:creationId xmlns:a16="http://schemas.microsoft.com/office/drawing/2014/main" id="{C2DAEF29-338A-6BD0-1CCA-8F0EC9555989}"/>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TextBox 41">
            <a:extLst>
              <a:ext uri="{FF2B5EF4-FFF2-40B4-BE49-F238E27FC236}">
                <a16:creationId xmlns:a16="http://schemas.microsoft.com/office/drawing/2014/main" id="{B0D355CE-E326-C002-F811-C106DE79D940}"/>
              </a:ext>
            </a:extLst>
          </p:cNvPr>
          <p:cNvSpPr txBox="1"/>
          <p:nvPr/>
        </p:nvSpPr>
        <p:spPr>
          <a:xfrm>
            <a:off x="1015804" y="882813"/>
            <a:ext cx="5179514" cy="3293209"/>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INSTITUTIONAL  CONFIDENCE </a:t>
            </a:r>
            <a:r>
              <a:rPr lang="en-US" sz="2800" b="1" dirty="0">
                <a:solidFill>
                  <a:schemeClr val="bg1"/>
                </a:solidFill>
                <a:latin typeface="Times New Roman" panose="02020603050405020304" pitchFamily="18" charset="0"/>
                <a:cs typeface="Times New Roman" panose="02020603050405020304" pitchFamily="18" charset="0"/>
              </a:rPr>
              <a:t>*</a:t>
            </a:r>
          </a:p>
          <a:p>
            <a:pPr marL="457200" indent="-231775">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Small Business        67%</a:t>
            </a:r>
          </a:p>
          <a:p>
            <a:pPr marL="457200" indent="-231775">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Health Care             36%</a:t>
            </a:r>
          </a:p>
          <a:p>
            <a:pPr marL="457200" indent="-231775">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Religion                   32%</a:t>
            </a:r>
          </a:p>
          <a:p>
            <a:pPr marL="457200" indent="-231775">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Banks                       27%</a:t>
            </a:r>
          </a:p>
          <a:p>
            <a:pPr marL="457200" indent="-231775">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Large Tech               20%</a:t>
            </a:r>
          </a:p>
          <a:p>
            <a:pPr marL="457200" indent="-231775">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Presidency               19%</a:t>
            </a:r>
          </a:p>
          <a:p>
            <a:pPr marL="457200" indent="-231775">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Media                       16%</a:t>
            </a:r>
          </a:p>
          <a:p>
            <a:pPr marL="457200" indent="-231775">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Courts                       12% </a:t>
            </a:r>
          </a:p>
          <a:p>
            <a:pPr marL="457200" indent="-231775">
              <a:buFont typeface="Arial" panose="020B0604020202020204" pitchFamily="34" charset="0"/>
              <a:buChar char="•"/>
            </a:pPr>
            <a:r>
              <a:rPr lang="en-US" sz="2000" dirty="0">
                <a:solidFill>
                  <a:schemeClr val="bg1"/>
                </a:solidFill>
                <a:latin typeface="Times New Roman" panose="02020603050405020304" pitchFamily="18" charset="0"/>
                <a:cs typeface="Times New Roman" panose="02020603050405020304" pitchFamily="18" charset="0"/>
              </a:rPr>
              <a:t>Congress                     8%           </a:t>
            </a:r>
          </a:p>
        </p:txBody>
      </p:sp>
      <p:sp>
        <p:nvSpPr>
          <p:cNvPr id="48" name="TextBox 47">
            <a:extLst>
              <a:ext uri="{FF2B5EF4-FFF2-40B4-BE49-F238E27FC236}">
                <a16:creationId xmlns:a16="http://schemas.microsoft.com/office/drawing/2014/main" id="{41A3B6D4-D6C4-E141-CDF0-8B118BE2ABB5}"/>
              </a:ext>
            </a:extLst>
          </p:cNvPr>
          <p:cNvSpPr txBox="1"/>
          <p:nvPr/>
        </p:nvSpPr>
        <p:spPr>
          <a:xfrm>
            <a:off x="57150" y="4620936"/>
            <a:ext cx="12077700" cy="892552"/>
          </a:xfrm>
          <a:prstGeom prst="rect">
            <a:avLst/>
          </a:prstGeom>
          <a:noFill/>
        </p:spPr>
        <p:txBody>
          <a:bodyPr wrap="square" rtlCol="0">
            <a:spAutoFit/>
          </a:bodyPr>
          <a:lstStyle/>
          <a:p>
            <a:pPr algn="ctr"/>
            <a:r>
              <a:rPr lang="en-US" sz="2400" b="1" dirty="0">
                <a:solidFill>
                  <a:schemeClr val="bg1"/>
                </a:solidFill>
                <a:latin typeface="Times New Roman" panose="02020603050405020304" pitchFamily="18" charset="0"/>
                <a:cs typeface="Times New Roman" panose="02020603050405020304" pitchFamily="18" charset="0"/>
              </a:rPr>
              <a:t>The Community Sector Pays For Everything But Has No Power Over Anything</a:t>
            </a:r>
          </a:p>
          <a:p>
            <a:pPr marL="285750" indent="-173038" algn="ctr">
              <a:buFont typeface="Arial" panose="020B0604020202020204" pitchFamily="34" charset="0"/>
              <a:buChar char="•"/>
              <a:tabLst>
                <a:tab pos="168275" algn="l"/>
              </a:tabLst>
            </a:pPr>
            <a:endParaRPr lang="en-US" sz="1400" b="1" dirty="0">
              <a:solidFill>
                <a:schemeClr val="bg1"/>
              </a:solidFill>
              <a:latin typeface="Times New Roman" panose="02020603050405020304" pitchFamily="18" charset="0"/>
              <a:cs typeface="Times New Roman" panose="02020603050405020304" pitchFamily="18" charset="0"/>
            </a:endParaRPr>
          </a:p>
          <a:p>
            <a:pPr marL="112712" algn="ct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  Gallup’s Annual Tracking Trends </a:t>
            </a:r>
            <a:r>
              <a:rPr lang="en-US" sz="1400" b="1" dirty="0">
                <a:latin typeface="Times New Roman" panose="02020603050405020304" pitchFamily="18" charset="0"/>
                <a:cs typeface="Times New Roman" panose="02020603050405020304" pitchFamily="18" charset="0"/>
              </a:rPr>
              <a:t>king Trends</a:t>
            </a:r>
          </a:p>
        </p:txBody>
      </p:sp>
      <p:pic>
        <p:nvPicPr>
          <p:cNvPr id="68" name="Picture 67">
            <a:extLst>
              <a:ext uri="{FF2B5EF4-FFF2-40B4-BE49-F238E27FC236}">
                <a16:creationId xmlns:a16="http://schemas.microsoft.com/office/drawing/2014/main" id="{0D452165-69F4-60FF-4792-77A5EF1EEB90}"/>
              </a:ext>
            </a:extLst>
          </p:cNvPr>
          <p:cNvPicPr>
            <a:picLocks noChangeAspect="1"/>
          </p:cNvPicPr>
          <p:nvPr/>
        </p:nvPicPr>
        <p:blipFill>
          <a:blip r:embed="rId4">
            <a:extLst>
              <a:ext uri="{28A0092B-C50C-407E-A947-70E740481C1C}">
                <a14:useLocalDpi xmlns:a14="http://schemas.microsoft.com/office/drawing/2010/main" val="0"/>
              </a:ext>
            </a:extLst>
          </a:blip>
          <a:srcRect l="4112" r="5125"/>
          <a:stretch/>
        </p:blipFill>
        <p:spPr>
          <a:xfrm>
            <a:off x="5278351" y="7008580"/>
            <a:ext cx="2416994" cy="1138466"/>
          </a:xfrm>
          <a:prstGeom prst="rect">
            <a:avLst/>
          </a:prstGeom>
        </p:spPr>
      </p:pic>
      <p:pic>
        <p:nvPicPr>
          <p:cNvPr id="70" name="Picture 69">
            <a:extLst>
              <a:ext uri="{FF2B5EF4-FFF2-40B4-BE49-F238E27FC236}">
                <a16:creationId xmlns:a16="http://schemas.microsoft.com/office/drawing/2014/main" id="{1673620F-371F-DDBA-4D9B-BF4EDDC7FC3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35195" y="948985"/>
            <a:ext cx="4442405" cy="3068402"/>
          </a:xfrm>
          <a:prstGeom prst="rect">
            <a:avLst/>
          </a:prstGeom>
        </p:spPr>
      </p:pic>
      <p:sp>
        <p:nvSpPr>
          <p:cNvPr id="71" name="Isosceles Triangle 70">
            <a:extLst>
              <a:ext uri="{FF2B5EF4-FFF2-40B4-BE49-F238E27FC236}">
                <a16:creationId xmlns:a16="http://schemas.microsoft.com/office/drawing/2014/main" id="{A5312657-014B-EE9D-A7D9-7B4923F6E7F2}"/>
              </a:ext>
            </a:extLst>
          </p:cNvPr>
          <p:cNvSpPr/>
          <p:nvPr/>
        </p:nvSpPr>
        <p:spPr>
          <a:xfrm rot="14139975">
            <a:off x="9073534" y="2289232"/>
            <a:ext cx="670386" cy="387909"/>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Isosceles Triangle 71">
            <a:extLst>
              <a:ext uri="{FF2B5EF4-FFF2-40B4-BE49-F238E27FC236}">
                <a16:creationId xmlns:a16="http://schemas.microsoft.com/office/drawing/2014/main" id="{1FD46E13-08F0-CC65-CF94-0DEFC374BDFA}"/>
              </a:ext>
            </a:extLst>
          </p:cNvPr>
          <p:cNvSpPr/>
          <p:nvPr/>
        </p:nvSpPr>
        <p:spPr>
          <a:xfrm rot="7110643">
            <a:off x="8414871" y="2290170"/>
            <a:ext cx="670386" cy="387909"/>
          </a:xfrm>
          <a:prstGeom prst="triangle">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76283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088F8C-7CE9-55F9-19EE-2C9A3AD1C239}"/>
              </a:ext>
            </a:extLst>
          </p:cNvPr>
          <p:cNvSpPr/>
          <p:nvPr/>
        </p:nvSpPr>
        <p:spPr>
          <a:xfrm>
            <a:off x="0" y="-37310"/>
            <a:ext cx="12192000" cy="693261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0"/>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4. DEPLOYING STRATEGIC INVESTMENTS</a:t>
            </a:r>
          </a:p>
        </p:txBody>
      </p:sp>
      <p:sp>
        <p:nvSpPr>
          <p:cNvPr id="4" name="Subtitle 2">
            <a:extLst>
              <a:ext uri="{FF2B5EF4-FFF2-40B4-BE49-F238E27FC236}">
                <a16:creationId xmlns:a16="http://schemas.microsoft.com/office/drawing/2014/main" id="{15615D0E-6F01-16F0-E511-C12A8AE8B49A}"/>
              </a:ext>
            </a:extLst>
          </p:cNvPr>
          <p:cNvSpPr txBox="1">
            <a:spLocks/>
          </p:cNvSpPr>
          <p:nvPr/>
        </p:nvSpPr>
        <p:spPr>
          <a:xfrm>
            <a:off x="366487" y="4962770"/>
            <a:ext cx="11710113" cy="107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174625" marR="0" indent="-174625" algn="l">
              <a:lnSpc>
                <a:spcPct val="115000"/>
              </a:lnSpc>
              <a:spcBef>
                <a:spcPts val="0"/>
              </a:spcBef>
              <a:spcAft>
                <a:spcPts val="0"/>
              </a:spcAft>
            </a:pPr>
            <a:r>
              <a:rPr lang="en-US" sz="1600" i="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 THE COMMUNITY IMPACT ANALYSIS - uses the Viability Index to find common problems and common opportunities the solution </a:t>
            </a:r>
            <a:r>
              <a:rPr lang="en-US" sz="1600" i="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of which would impact the greatest number of communities.  The IAC </a:t>
            </a:r>
            <a:r>
              <a:rPr lang="en-US" sz="1600" i="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provides the market-area intelligence, comparison, scale, and coordination needed to act where the opportunity or problem crosses local boundaries.</a:t>
            </a:r>
          </a:p>
        </p:txBody>
      </p:sp>
      <p:sp>
        <p:nvSpPr>
          <p:cNvPr id="2" name="TextBox 1">
            <a:extLst>
              <a:ext uri="{FF2B5EF4-FFF2-40B4-BE49-F238E27FC236}">
                <a16:creationId xmlns:a16="http://schemas.microsoft.com/office/drawing/2014/main" id="{0F11F653-8C3B-3BF3-862B-6962F19B5DE0}"/>
              </a:ext>
            </a:extLst>
          </p:cNvPr>
          <p:cNvSpPr txBox="1"/>
          <p:nvPr/>
        </p:nvSpPr>
        <p:spPr>
          <a:xfrm>
            <a:off x="554475" y="804955"/>
            <a:ext cx="5136320" cy="461665"/>
          </a:xfrm>
          <a:prstGeom prst="rect">
            <a:avLst/>
          </a:prstGeom>
          <a:noFill/>
        </p:spPr>
        <p:txBody>
          <a:bodyPr wrap="square" rtlCol="0">
            <a:spAutoFit/>
          </a:bodyPr>
          <a:lstStyle/>
          <a:p>
            <a:r>
              <a:rPr lang="en-US" sz="2400" b="1" u="sng" dirty="0">
                <a:solidFill>
                  <a:schemeClr val="bg1"/>
                </a:solidFill>
                <a:latin typeface="Times New Roman" panose="02020603050405020304" pitchFamily="18" charset="0"/>
                <a:cs typeface="Times New Roman" panose="02020603050405020304" pitchFamily="18" charset="0"/>
              </a:rPr>
              <a:t>Agency &amp; Foundation Approach</a:t>
            </a:r>
          </a:p>
        </p:txBody>
      </p:sp>
      <p:sp>
        <p:nvSpPr>
          <p:cNvPr id="6" name="TextBox 5">
            <a:extLst>
              <a:ext uri="{FF2B5EF4-FFF2-40B4-BE49-F238E27FC236}">
                <a16:creationId xmlns:a16="http://schemas.microsoft.com/office/drawing/2014/main" id="{DEFF71B2-049C-4393-DA0C-92583F03C904}"/>
              </a:ext>
            </a:extLst>
          </p:cNvPr>
          <p:cNvSpPr txBox="1"/>
          <p:nvPr/>
        </p:nvSpPr>
        <p:spPr>
          <a:xfrm>
            <a:off x="5911342" y="817121"/>
            <a:ext cx="6318891" cy="461665"/>
          </a:xfrm>
          <a:prstGeom prst="rect">
            <a:avLst/>
          </a:prstGeom>
          <a:noFill/>
        </p:spPr>
        <p:txBody>
          <a:bodyPr wrap="square" rtlCol="0">
            <a:spAutoFit/>
          </a:bodyPr>
          <a:lstStyle/>
          <a:p>
            <a:r>
              <a:rPr lang="en-US" sz="2400" b="1" u="sng" dirty="0">
                <a:solidFill>
                  <a:schemeClr val="bg1"/>
                </a:solidFill>
                <a:latin typeface="Times New Roman" panose="02020603050405020304" pitchFamily="18" charset="0"/>
                <a:cs typeface="Times New Roman" panose="02020603050405020304" pitchFamily="18" charset="0"/>
              </a:rPr>
              <a:t>Budgeting for Community Results</a:t>
            </a:r>
          </a:p>
        </p:txBody>
      </p:sp>
      <p:sp>
        <p:nvSpPr>
          <p:cNvPr id="7" name="TextBox 6">
            <a:extLst>
              <a:ext uri="{FF2B5EF4-FFF2-40B4-BE49-F238E27FC236}">
                <a16:creationId xmlns:a16="http://schemas.microsoft.com/office/drawing/2014/main" id="{84C48712-C1A5-3A8D-5FD6-0E41F63FC0FE}"/>
              </a:ext>
            </a:extLst>
          </p:cNvPr>
          <p:cNvSpPr txBox="1"/>
          <p:nvPr/>
        </p:nvSpPr>
        <p:spPr>
          <a:xfrm>
            <a:off x="696893" y="1266620"/>
            <a:ext cx="4555789" cy="2031325"/>
          </a:xfrm>
          <a:prstGeom prst="rect">
            <a:avLst/>
          </a:prstGeom>
          <a:noFill/>
        </p:spPr>
        <p:txBody>
          <a:bodyPr wrap="square" rtlCol="0">
            <a:spAutoFit/>
          </a:bodyPr>
          <a:lstStyle/>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Select their Special Interest</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Determine Qualification Requirements</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Determine Selection Criteria</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Release an RFP ( Request for Proposal)</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Award the Grants</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Manage Grant Compliance</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Publish Results-- </a:t>
            </a:r>
            <a:r>
              <a:rPr lang="en-US" i="1" dirty="0">
                <a:solidFill>
                  <a:schemeClr val="bg1"/>
                </a:solidFill>
                <a:latin typeface="Times New Roman" panose="02020603050405020304" pitchFamily="18" charset="0"/>
                <a:cs typeface="Times New Roman" panose="02020603050405020304" pitchFamily="18" charset="0"/>
              </a:rPr>
              <a:t>Maybe</a:t>
            </a:r>
          </a:p>
        </p:txBody>
      </p:sp>
      <p:sp>
        <p:nvSpPr>
          <p:cNvPr id="8" name="TextBox 7">
            <a:extLst>
              <a:ext uri="{FF2B5EF4-FFF2-40B4-BE49-F238E27FC236}">
                <a16:creationId xmlns:a16="http://schemas.microsoft.com/office/drawing/2014/main" id="{6AF02A2C-54D1-A9CF-6893-FC7A54F43DE5}"/>
              </a:ext>
            </a:extLst>
          </p:cNvPr>
          <p:cNvSpPr txBox="1"/>
          <p:nvPr/>
        </p:nvSpPr>
        <p:spPr>
          <a:xfrm>
            <a:off x="6131570" y="1200148"/>
            <a:ext cx="6057767" cy="3693319"/>
          </a:xfrm>
          <a:prstGeom prst="rect">
            <a:avLst/>
          </a:prstGeom>
          <a:noFill/>
        </p:spPr>
        <p:txBody>
          <a:bodyPr wrap="square" rtlCol="0">
            <a:spAutoFit/>
          </a:bodyPr>
          <a:lstStyle/>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Annual </a:t>
            </a:r>
            <a:r>
              <a:rPr lang="en-US" b="1" i="1" u="sng" dirty="0">
                <a:solidFill>
                  <a:schemeClr val="bg1"/>
                </a:solidFill>
                <a:latin typeface="Times New Roman" panose="02020603050405020304" pitchFamily="18" charset="0"/>
                <a:cs typeface="Times New Roman" panose="02020603050405020304" pitchFamily="18" charset="0"/>
              </a:rPr>
              <a:t>Consensus Budgeting </a:t>
            </a:r>
            <a:r>
              <a:rPr lang="en-US" dirty="0">
                <a:solidFill>
                  <a:schemeClr val="bg1"/>
                </a:solidFill>
                <a:latin typeface="Times New Roman" panose="02020603050405020304" pitchFamily="18" charset="0"/>
                <a:cs typeface="Times New Roman" panose="02020603050405020304" pitchFamily="18" charset="0"/>
              </a:rPr>
              <a:t>Cycle</a:t>
            </a:r>
          </a:p>
          <a:p>
            <a:pPr marL="342900" indent="-342900">
              <a:buFont typeface="+mj-lt"/>
              <a:buAutoNum type="arabicPeriod"/>
            </a:pPr>
            <a:r>
              <a:rPr lang="en-US" b="1" i="1" dirty="0">
                <a:solidFill>
                  <a:schemeClr val="bg1"/>
                </a:solidFill>
                <a:latin typeface="Times New Roman" panose="02020603050405020304" pitchFamily="18" charset="0"/>
                <a:cs typeface="Times New Roman" panose="02020603050405020304" pitchFamily="18" charset="0"/>
              </a:rPr>
              <a:t>E-Consensus </a:t>
            </a:r>
            <a:r>
              <a:rPr lang="en-US" dirty="0">
                <a:solidFill>
                  <a:schemeClr val="bg1"/>
                </a:solidFill>
                <a:latin typeface="Times New Roman" panose="02020603050405020304" pitchFamily="18" charset="0"/>
                <a:cs typeface="Times New Roman" panose="02020603050405020304" pitchFamily="18" charset="0"/>
              </a:rPr>
              <a:t>Prioritizes the Issues</a:t>
            </a:r>
          </a:p>
          <a:p>
            <a:pPr marL="342900" indent="-342900">
              <a:buFont typeface="+mj-lt"/>
              <a:buAutoNum type="arabicPeriod"/>
            </a:pPr>
            <a:r>
              <a:rPr lang="en-US" b="1" i="1" u="sng" dirty="0">
                <a:solidFill>
                  <a:schemeClr val="bg1"/>
                </a:solidFill>
                <a:latin typeface="Times New Roman" panose="02020603050405020304" pitchFamily="18" charset="0"/>
                <a:cs typeface="Times New Roman" panose="02020603050405020304" pitchFamily="18" charset="0"/>
              </a:rPr>
              <a:t>Viability Index </a:t>
            </a:r>
            <a:r>
              <a:rPr lang="en-US" dirty="0">
                <a:solidFill>
                  <a:schemeClr val="bg1"/>
                </a:solidFill>
                <a:latin typeface="Times New Roman" panose="02020603050405020304" pitchFamily="18" charset="0"/>
                <a:cs typeface="Times New Roman" panose="02020603050405020304" pitchFamily="18" charset="0"/>
              </a:rPr>
              <a:t>Evaluates Top Priority Issues</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Perform a CIA (</a:t>
            </a:r>
            <a:r>
              <a:rPr lang="en-US" b="1" i="1" dirty="0">
                <a:solidFill>
                  <a:schemeClr val="bg1"/>
                </a:solidFill>
                <a:latin typeface="Times New Roman" panose="02020603050405020304" pitchFamily="18" charset="0"/>
                <a:cs typeface="Times New Roman" panose="02020603050405020304" pitchFamily="18" charset="0"/>
              </a:rPr>
              <a:t>Community Impact Analysis</a:t>
            </a:r>
            <a:r>
              <a:rPr lang="en-US" dirty="0">
                <a:solidFill>
                  <a:schemeClr val="bg1"/>
                </a:solidFill>
                <a:latin typeface="Times New Roman" panose="02020603050405020304" pitchFamily="18" charset="0"/>
                <a:cs typeface="Times New Roman" panose="02020603050405020304" pitchFamily="18" charset="0"/>
              </a:rPr>
              <a:t>)*</a:t>
            </a:r>
          </a:p>
          <a:p>
            <a:pPr marL="342900" indent="-342900">
              <a:buFont typeface="+mj-lt"/>
              <a:buAutoNum type="arabicPeriod"/>
            </a:pPr>
            <a:r>
              <a:rPr lang="en-US" b="1" i="1" u="sng" dirty="0">
                <a:solidFill>
                  <a:schemeClr val="bg1"/>
                </a:solidFill>
                <a:latin typeface="Times New Roman" panose="02020603050405020304" pitchFamily="18" charset="0"/>
                <a:cs typeface="Times New Roman" panose="02020603050405020304" pitchFamily="18" charset="0"/>
              </a:rPr>
              <a:t>Viability Index </a:t>
            </a:r>
            <a:r>
              <a:rPr lang="en-US" dirty="0">
                <a:solidFill>
                  <a:schemeClr val="bg1"/>
                </a:solidFill>
                <a:latin typeface="Times New Roman" panose="02020603050405020304" pitchFamily="18" charset="0"/>
                <a:cs typeface="Times New Roman" panose="02020603050405020304" pitchFamily="18" charset="0"/>
              </a:rPr>
              <a:t>identifies those affected- form a Task Force</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Apply </a:t>
            </a:r>
            <a:r>
              <a:rPr lang="en-US" b="1" i="1" u="sng" dirty="0">
                <a:solidFill>
                  <a:schemeClr val="bg1"/>
                </a:solidFill>
                <a:latin typeface="Times New Roman" panose="02020603050405020304" pitchFamily="18" charset="0"/>
                <a:cs typeface="Times New Roman" panose="02020603050405020304" pitchFamily="18" charset="0"/>
              </a:rPr>
              <a:t>e-Consensus, AI and Viability Index to </a:t>
            </a:r>
            <a:r>
              <a:rPr lang="en-US" dirty="0">
                <a:solidFill>
                  <a:schemeClr val="bg1"/>
                </a:solidFill>
                <a:latin typeface="Times New Roman" panose="02020603050405020304" pitchFamily="18" charset="0"/>
                <a:cs typeface="Times New Roman" panose="02020603050405020304" pitchFamily="18" charset="0"/>
              </a:rPr>
              <a:t>reveal causes / sources of the problem </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Fund the project via the </a:t>
            </a:r>
            <a:r>
              <a:rPr lang="en-US" b="1" i="1" u="sng" dirty="0">
                <a:solidFill>
                  <a:schemeClr val="bg1"/>
                </a:solidFill>
                <a:latin typeface="Times New Roman" panose="02020603050405020304" pitchFamily="18" charset="0"/>
                <a:cs typeface="Times New Roman" panose="02020603050405020304" pitchFamily="18" charset="0"/>
              </a:rPr>
              <a:t>Funding Collaborative</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Develop a Workplan with the  IAC Collaboratives including scaling it to variously impacted communities</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Execute the </a:t>
            </a:r>
            <a:r>
              <a:rPr lang="en-US" b="1" i="1" u="sng" dirty="0">
                <a:solidFill>
                  <a:schemeClr val="bg1"/>
                </a:solidFill>
                <a:latin typeface="Times New Roman" panose="02020603050405020304" pitchFamily="18" charset="0"/>
                <a:cs typeface="Times New Roman" panose="02020603050405020304" pitchFamily="18" charset="0"/>
              </a:rPr>
              <a:t>plan </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Facilitate </a:t>
            </a:r>
            <a:r>
              <a:rPr lang="en-US" b="1" i="1" u="sng" dirty="0">
                <a:solidFill>
                  <a:schemeClr val="bg1"/>
                </a:solidFill>
                <a:latin typeface="Times New Roman" panose="02020603050405020304" pitchFamily="18" charset="0"/>
                <a:cs typeface="Times New Roman" panose="02020603050405020304" pitchFamily="18" charset="0"/>
              </a:rPr>
              <a:t>Solution Implementation</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Monitor Results with </a:t>
            </a:r>
            <a:r>
              <a:rPr lang="en-US" b="1" i="1" u="sng" dirty="0">
                <a:solidFill>
                  <a:schemeClr val="bg1"/>
                </a:solidFill>
                <a:latin typeface="Times New Roman" panose="02020603050405020304" pitchFamily="18" charset="0"/>
                <a:cs typeface="Times New Roman" panose="02020603050405020304" pitchFamily="18" charset="0"/>
              </a:rPr>
              <a:t>Viability Index</a:t>
            </a:r>
          </a:p>
        </p:txBody>
      </p:sp>
      <p:cxnSp>
        <p:nvCxnSpPr>
          <p:cNvPr id="9" name="Straight Connector 8">
            <a:extLst>
              <a:ext uri="{FF2B5EF4-FFF2-40B4-BE49-F238E27FC236}">
                <a16:creationId xmlns:a16="http://schemas.microsoft.com/office/drawing/2014/main" id="{C8F19259-4D8A-913A-4DA5-D2DDCA16CF5E}"/>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ECFF1CB-95A0-5B1E-3CCF-15652DF138E8}"/>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11" name="Action Button: Go Forward or Next 10">
            <a:hlinkClick r:id="" action="ppaction://hlinkshowjump?jump=nextslide" highlightClick="1"/>
            <a:extLst>
              <a:ext uri="{FF2B5EF4-FFF2-40B4-BE49-F238E27FC236}">
                <a16:creationId xmlns:a16="http://schemas.microsoft.com/office/drawing/2014/main" id="{24D9A5CB-469E-E982-21E2-CA696F09FECB}"/>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331470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1411F58-C5B9-FBE2-FD47-F8C0F478F7F8}"/>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3080" t="1122" r="2239" b="3520"/>
          <a:stretch/>
        </p:blipFill>
        <p:spPr>
          <a:xfrm>
            <a:off x="4627233" y="949210"/>
            <a:ext cx="6003858" cy="4539794"/>
          </a:xfrm>
          <a:ln>
            <a:solidFill>
              <a:schemeClr val="tx1"/>
            </a:solidFill>
          </a:ln>
        </p:spPr>
      </p:pic>
      <p:sp>
        <p:nvSpPr>
          <p:cNvPr id="6" name="Rectangle: Rounded Corners 5">
            <a:extLst>
              <a:ext uri="{FF2B5EF4-FFF2-40B4-BE49-F238E27FC236}">
                <a16:creationId xmlns:a16="http://schemas.microsoft.com/office/drawing/2014/main" id="{77126801-53D6-C07A-9E23-7B693617322A}"/>
              </a:ext>
            </a:extLst>
          </p:cNvPr>
          <p:cNvSpPr/>
          <p:nvPr/>
        </p:nvSpPr>
        <p:spPr>
          <a:xfrm>
            <a:off x="447675" y="1057276"/>
            <a:ext cx="3067050" cy="4772024"/>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E21E230-5F8C-B7E3-7A0F-C0839E02FCB0}"/>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5. TELEWORK- THE FIRST VIRTUALIZATION</a:t>
            </a:r>
          </a:p>
        </p:txBody>
      </p:sp>
      <p:cxnSp>
        <p:nvCxnSpPr>
          <p:cNvPr id="10" name="Straight Connector 9">
            <a:extLst>
              <a:ext uri="{FF2B5EF4-FFF2-40B4-BE49-F238E27FC236}">
                <a16:creationId xmlns:a16="http://schemas.microsoft.com/office/drawing/2014/main" id="{CF6D245D-0A94-44F9-2796-E28D086B08CF}"/>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CC3ED1BE-055D-C396-CFA6-E531A798E75E}"/>
              </a:ext>
            </a:extLst>
          </p:cNvPr>
          <p:cNvSpPr txBox="1"/>
          <p:nvPr/>
        </p:nvSpPr>
        <p:spPr>
          <a:xfrm>
            <a:off x="647701" y="1485900"/>
            <a:ext cx="2695574" cy="2246769"/>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As part of Tele-Commuter Resources’ Information Age Community project , the WVP  supports the Community, the Public and  the Private Sector.</a:t>
            </a:r>
          </a:p>
        </p:txBody>
      </p:sp>
      <p:sp>
        <p:nvSpPr>
          <p:cNvPr id="2" name="Action Button: Go Forward or Next 1">
            <a:hlinkClick r:id="" action="ppaction://hlinkshowjump?jump=nextslide" highlightClick="1"/>
            <a:extLst>
              <a:ext uri="{FF2B5EF4-FFF2-40B4-BE49-F238E27FC236}">
                <a16:creationId xmlns:a16="http://schemas.microsoft.com/office/drawing/2014/main" id="{16889472-B832-8539-5CF1-649C989D7B06}"/>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9C2565B7-D46F-A90B-4EA3-33CEA8073729}"/>
              </a:ext>
            </a:extLst>
          </p:cNvPr>
          <p:cNvCxnSpPr>
            <a:cxnSpLocks/>
          </p:cNvCxnSpPr>
          <p:nvPr/>
        </p:nvCxnSpPr>
        <p:spPr>
          <a:xfrm>
            <a:off x="-117753" y="6029325"/>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182C1D78-772D-64A4-DEAD-6D335C2D75D8}"/>
              </a:ext>
            </a:extLst>
          </p:cNvPr>
          <p:cNvSpPr txBox="1"/>
          <p:nvPr/>
        </p:nvSpPr>
        <p:spPr>
          <a:xfrm>
            <a:off x="114300" y="6134785"/>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9" name="Rectangle: Rounded Corners 8">
            <a:hlinkClick r:id="rId3" action="ppaction://hlinksldjump"/>
            <a:extLst>
              <a:ext uri="{FF2B5EF4-FFF2-40B4-BE49-F238E27FC236}">
                <a16:creationId xmlns:a16="http://schemas.microsoft.com/office/drawing/2014/main" id="{AC1A6C18-372B-06E4-F8F9-E2CB456FDA13}"/>
              </a:ext>
            </a:extLst>
          </p:cNvPr>
          <p:cNvSpPr/>
          <p:nvPr/>
        </p:nvSpPr>
        <p:spPr>
          <a:xfrm>
            <a:off x="9403971" y="6153150"/>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rPr>
              <a:t> </a:t>
            </a:r>
            <a:r>
              <a:rPr lang="en-US" dirty="0">
                <a:solidFill>
                  <a:schemeClr val="bg1"/>
                </a:solidFill>
                <a:latin typeface="Times New Roman" panose="02020603050405020304" pitchFamily="18" charset="0"/>
                <a:cs typeface="Times New Roman" panose="02020603050405020304" pitchFamily="18" charset="0"/>
                <a:hlinkClick r:id="rId4" action="ppaction://hlinksldjump">
                  <a:extLst>
                    <a:ext uri="{A12FA001-AC4F-418D-AE19-62706E023703}">
                      <ahyp:hlinkClr xmlns:ahyp="http://schemas.microsoft.com/office/drawing/2018/hyperlinkcolor" val="tx"/>
                    </a:ext>
                  </a:extLst>
                </a:hlinkClick>
              </a:rPr>
              <a:t>Discuss the    WVP</a:t>
            </a:r>
            <a:endParaRPr lang="en-US"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417944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0"/>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6. THE SYNERGY OF TCR’S TOOLS</a:t>
            </a:r>
            <a:endParaRPr lang="en-US" sz="4000" b="1" dirty="0">
              <a:solidFill>
                <a:srgbClr val="FFC000"/>
              </a:solidFill>
              <a:latin typeface="Times New Roman" panose="02020603050405020304" pitchFamily="18" charset="0"/>
              <a:cs typeface="Times New Roman" panose="02020603050405020304" pitchFamily="18" charset="0"/>
            </a:endParaRPr>
          </a:p>
        </p:txBody>
      </p:sp>
      <p:cxnSp>
        <p:nvCxnSpPr>
          <p:cNvPr id="9" name="Straight Connector 8">
            <a:extLst>
              <a:ext uri="{FF2B5EF4-FFF2-40B4-BE49-F238E27FC236}">
                <a16:creationId xmlns:a16="http://schemas.microsoft.com/office/drawing/2014/main" id="{C8F19259-4D8A-913A-4DA5-D2DDCA16CF5E}"/>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ECFF1CB-95A0-5B1E-3CCF-15652DF138E8}"/>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13" name="Rectangle: Rounded Corners 12">
            <a:extLst>
              <a:ext uri="{FF2B5EF4-FFF2-40B4-BE49-F238E27FC236}">
                <a16:creationId xmlns:a16="http://schemas.microsoft.com/office/drawing/2014/main" id="{3057E947-1420-F1EB-3D96-17F9677BBD2C}"/>
              </a:ext>
            </a:extLst>
          </p:cNvPr>
          <p:cNvSpPr/>
          <p:nvPr/>
        </p:nvSpPr>
        <p:spPr>
          <a:xfrm>
            <a:off x="10175496" y="6157518"/>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2">
                  <a:extLst>
                    <a:ext uri="{A12FA001-AC4F-418D-AE19-62706E023703}">
                      <ahyp:hlinkClr xmlns:ahyp="http://schemas.microsoft.com/office/drawing/2018/hyperlinkcolor" val="tx"/>
                    </a:ext>
                  </a:extLst>
                </a:hlinkClick>
              </a:rPr>
              <a:t> </a:t>
            </a:r>
            <a:r>
              <a:rPr lang="en-US" dirty="0">
                <a:solidFill>
                  <a:schemeClr val="bg1"/>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Load the LENS</a:t>
            </a:r>
            <a:endParaRPr lang="en-US" dirty="0">
              <a:solidFill>
                <a:schemeClr val="bg1"/>
              </a:solidFill>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53FFDE2-55A7-B729-8A4E-2966532BB403}"/>
              </a:ext>
            </a:extLst>
          </p:cNvPr>
          <p:cNvSpPr/>
          <p:nvPr/>
        </p:nvSpPr>
        <p:spPr>
          <a:xfrm>
            <a:off x="4900612" y="874170"/>
            <a:ext cx="2390775" cy="723325"/>
          </a:xfrm>
          <a:prstGeom prst="ellipse">
            <a:avLst/>
          </a:prstGeom>
          <a:solidFill>
            <a:schemeClr val="tx2">
              <a:lumMod val="50000"/>
              <a:lumOff val="5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Governance</a:t>
            </a:r>
          </a:p>
        </p:txBody>
      </p:sp>
      <p:sp>
        <p:nvSpPr>
          <p:cNvPr id="4" name="Oval 3">
            <a:extLst>
              <a:ext uri="{FF2B5EF4-FFF2-40B4-BE49-F238E27FC236}">
                <a16:creationId xmlns:a16="http://schemas.microsoft.com/office/drawing/2014/main" id="{E9FE76CA-039A-0486-3A98-A9F44D05342D}"/>
              </a:ext>
            </a:extLst>
          </p:cNvPr>
          <p:cNvSpPr/>
          <p:nvPr/>
        </p:nvSpPr>
        <p:spPr>
          <a:xfrm>
            <a:off x="8164808" y="2324803"/>
            <a:ext cx="2390775" cy="723325"/>
          </a:xfrm>
          <a:prstGeom prst="ellipse">
            <a:avLst/>
          </a:prstGeom>
          <a:solidFill>
            <a:schemeClr val="accent6">
              <a:lumMod val="60000"/>
              <a:lumOff val="4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TeleCenters</a:t>
            </a:r>
          </a:p>
        </p:txBody>
      </p:sp>
      <p:sp>
        <p:nvSpPr>
          <p:cNvPr id="7" name="Oval 6">
            <a:extLst>
              <a:ext uri="{FF2B5EF4-FFF2-40B4-BE49-F238E27FC236}">
                <a16:creationId xmlns:a16="http://schemas.microsoft.com/office/drawing/2014/main" id="{99366144-29E7-E97A-CDAE-2B05C47F0243}"/>
              </a:ext>
            </a:extLst>
          </p:cNvPr>
          <p:cNvSpPr/>
          <p:nvPr/>
        </p:nvSpPr>
        <p:spPr>
          <a:xfrm>
            <a:off x="7558086" y="1261187"/>
            <a:ext cx="2390775" cy="723325"/>
          </a:xfrm>
          <a:prstGeom prst="ellipse">
            <a:avLst/>
          </a:prstGeom>
          <a:solidFill>
            <a:schemeClr val="accent6">
              <a:lumMod val="60000"/>
              <a:lumOff val="4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Visioning </a:t>
            </a:r>
          </a:p>
        </p:txBody>
      </p:sp>
      <p:sp>
        <p:nvSpPr>
          <p:cNvPr id="16" name="Oval 15">
            <a:extLst>
              <a:ext uri="{FF2B5EF4-FFF2-40B4-BE49-F238E27FC236}">
                <a16:creationId xmlns:a16="http://schemas.microsoft.com/office/drawing/2014/main" id="{8826253B-5326-1833-C45B-86FFB86679DB}"/>
              </a:ext>
            </a:extLst>
          </p:cNvPr>
          <p:cNvSpPr/>
          <p:nvPr/>
        </p:nvSpPr>
        <p:spPr>
          <a:xfrm>
            <a:off x="6491701" y="4348630"/>
            <a:ext cx="2390775" cy="723325"/>
          </a:xfrm>
          <a:prstGeom prst="ellipse">
            <a:avLst/>
          </a:prstGeom>
          <a:solidFill>
            <a:schemeClr val="tx2">
              <a:lumMod val="50000"/>
              <a:lumOff val="5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The Lens</a:t>
            </a:r>
          </a:p>
        </p:txBody>
      </p:sp>
      <p:sp>
        <p:nvSpPr>
          <p:cNvPr id="17" name="Oval 16">
            <a:extLst>
              <a:ext uri="{FF2B5EF4-FFF2-40B4-BE49-F238E27FC236}">
                <a16:creationId xmlns:a16="http://schemas.microsoft.com/office/drawing/2014/main" id="{C23DD42B-CDC0-D618-762F-9CC2152C07A7}"/>
              </a:ext>
            </a:extLst>
          </p:cNvPr>
          <p:cNvSpPr/>
          <p:nvPr/>
        </p:nvSpPr>
        <p:spPr>
          <a:xfrm>
            <a:off x="3309525" y="4328166"/>
            <a:ext cx="2390775" cy="723325"/>
          </a:xfrm>
          <a:prstGeom prst="ellipse">
            <a:avLst/>
          </a:prstGeom>
          <a:solidFill>
            <a:schemeClr val="tx2">
              <a:lumMod val="50000"/>
              <a:lumOff val="5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Workforce</a:t>
            </a:r>
          </a:p>
        </p:txBody>
      </p:sp>
      <p:sp>
        <p:nvSpPr>
          <p:cNvPr id="18" name="Oval 17">
            <a:extLst>
              <a:ext uri="{FF2B5EF4-FFF2-40B4-BE49-F238E27FC236}">
                <a16:creationId xmlns:a16="http://schemas.microsoft.com/office/drawing/2014/main" id="{DB409EB1-752E-5FEC-4DC8-F72F74CBD1A8}"/>
              </a:ext>
            </a:extLst>
          </p:cNvPr>
          <p:cNvSpPr/>
          <p:nvPr/>
        </p:nvSpPr>
        <p:spPr>
          <a:xfrm>
            <a:off x="1790700" y="3429000"/>
            <a:ext cx="2390775" cy="723325"/>
          </a:xfrm>
          <a:prstGeom prst="ellipse">
            <a:avLst/>
          </a:prstGeom>
          <a:solidFill>
            <a:schemeClr val="tx2">
              <a:lumMod val="50000"/>
              <a:lumOff val="5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E-Consensus</a:t>
            </a:r>
          </a:p>
        </p:txBody>
      </p:sp>
      <p:sp>
        <p:nvSpPr>
          <p:cNvPr id="19" name="Oval 18">
            <a:extLst>
              <a:ext uri="{FF2B5EF4-FFF2-40B4-BE49-F238E27FC236}">
                <a16:creationId xmlns:a16="http://schemas.microsoft.com/office/drawing/2014/main" id="{B818E255-F65D-CBE5-4384-76D7794E315C}"/>
              </a:ext>
            </a:extLst>
          </p:cNvPr>
          <p:cNvSpPr/>
          <p:nvPr/>
        </p:nvSpPr>
        <p:spPr>
          <a:xfrm>
            <a:off x="1562103" y="2400933"/>
            <a:ext cx="2390775" cy="723325"/>
          </a:xfrm>
          <a:prstGeom prst="ellipse">
            <a:avLst/>
          </a:prstGeom>
          <a:solidFill>
            <a:schemeClr val="tx2">
              <a:lumMod val="50000"/>
              <a:lumOff val="5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Alliance</a:t>
            </a:r>
          </a:p>
        </p:txBody>
      </p:sp>
      <p:sp>
        <p:nvSpPr>
          <p:cNvPr id="20" name="Oval 19">
            <a:extLst>
              <a:ext uri="{FF2B5EF4-FFF2-40B4-BE49-F238E27FC236}">
                <a16:creationId xmlns:a16="http://schemas.microsoft.com/office/drawing/2014/main" id="{C4281369-3420-2F9F-9E56-E7DAA016CCE5}"/>
              </a:ext>
            </a:extLst>
          </p:cNvPr>
          <p:cNvSpPr/>
          <p:nvPr/>
        </p:nvSpPr>
        <p:spPr>
          <a:xfrm>
            <a:off x="2252662" y="1289873"/>
            <a:ext cx="2390775" cy="723325"/>
          </a:xfrm>
          <a:prstGeom prst="ellipse">
            <a:avLst/>
          </a:prstGeom>
          <a:solidFill>
            <a:schemeClr val="tx2">
              <a:lumMod val="50000"/>
              <a:lumOff val="5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Viability</a:t>
            </a:r>
          </a:p>
        </p:txBody>
      </p:sp>
      <p:sp>
        <p:nvSpPr>
          <p:cNvPr id="22" name="TextBox 21">
            <a:extLst>
              <a:ext uri="{FF2B5EF4-FFF2-40B4-BE49-F238E27FC236}">
                <a16:creationId xmlns:a16="http://schemas.microsoft.com/office/drawing/2014/main" id="{ADE747DE-AEFB-7842-4CE3-1E077EED59AB}"/>
              </a:ext>
            </a:extLst>
          </p:cNvPr>
          <p:cNvSpPr txBox="1"/>
          <p:nvPr/>
        </p:nvSpPr>
        <p:spPr>
          <a:xfrm>
            <a:off x="9125353" y="4050885"/>
            <a:ext cx="3066647" cy="461665"/>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Physical Connectivity</a:t>
            </a:r>
          </a:p>
        </p:txBody>
      </p:sp>
      <p:sp>
        <p:nvSpPr>
          <p:cNvPr id="23" name="TextBox 22">
            <a:extLst>
              <a:ext uri="{FF2B5EF4-FFF2-40B4-BE49-F238E27FC236}">
                <a16:creationId xmlns:a16="http://schemas.microsoft.com/office/drawing/2014/main" id="{818C230A-4FE9-F6D6-8291-792BB90A13D6}"/>
              </a:ext>
            </a:extLst>
          </p:cNvPr>
          <p:cNvSpPr txBox="1"/>
          <p:nvPr/>
        </p:nvSpPr>
        <p:spPr>
          <a:xfrm>
            <a:off x="9755161" y="2969375"/>
            <a:ext cx="2490787" cy="461665"/>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Physical Support</a:t>
            </a:r>
          </a:p>
        </p:txBody>
      </p:sp>
      <p:sp>
        <p:nvSpPr>
          <p:cNvPr id="24" name="TextBox 23">
            <a:extLst>
              <a:ext uri="{FF2B5EF4-FFF2-40B4-BE49-F238E27FC236}">
                <a16:creationId xmlns:a16="http://schemas.microsoft.com/office/drawing/2014/main" id="{3047276F-FE3B-B878-B060-AFD9A24B7A05}"/>
              </a:ext>
            </a:extLst>
          </p:cNvPr>
          <p:cNvSpPr txBox="1"/>
          <p:nvPr/>
        </p:nvSpPr>
        <p:spPr>
          <a:xfrm>
            <a:off x="9501188" y="1772286"/>
            <a:ext cx="2862819" cy="461665"/>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Strategic Direction</a:t>
            </a:r>
          </a:p>
        </p:txBody>
      </p:sp>
      <p:sp>
        <p:nvSpPr>
          <p:cNvPr id="25" name="TextBox 24">
            <a:extLst>
              <a:ext uri="{FF2B5EF4-FFF2-40B4-BE49-F238E27FC236}">
                <a16:creationId xmlns:a16="http://schemas.microsoft.com/office/drawing/2014/main" id="{F59BC90A-4662-23C2-FFF2-DC34511303B3}"/>
              </a:ext>
            </a:extLst>
          </p:cNvPr>
          <p:cNvSpPr txBox="1"/>
          <p:nvPr/>
        </p:nvSpPr>
        <p:spPr>
          <a:xfrm>
            <a:off x="6836108" y="595890"/>
            <a:ext cx="1676400" cy="461665"/>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Leadership</a:t>
            </a:r>
          </a:p>
        </p:txBody>
      </p:sp>
      <p:sp>
        <p:nvSpPr>
          <p:cNvPr id="26" name="TextBox 25">
            <a:extLst>
              <a:ext uri="{FF2B5EF4-FFF2-40B4-BE49-F238E27FC236}">
                <a16:creationId xmlns:a16="http://schemas.microsoft.com/office/drawing/2014/main" id="{54AFE039-2588-AD0F-112B-A5298317D701}"/>
              </a:ext>
            </a:extLst>
          </p:cNvPr>
          <p:cNvSpPr txBox="1"/>
          <p:nvPr/>
        </p:nvSpPr>
        <p:spPr>
          <a:xfrm>
            <a:off x="704850" y="4141337"/>
            <a:ext cx="2452275" cy="461665"/>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Call to Action</a:t>
            </a:r>
          </a:p>
        </p:txBody>
      </p:sp>
      <p:sp>
        <p:nvSpPr>
          <p:cNvPr id="27" name="TextBox 26">
            <a:extLst>
              <a:ext uri="{FF2B5EF4-FFF2-40B4-BE49-F238E27FC236}">
                <a16:creationId xmlns:a16="http://schemas.microsoft.com/office/drawing/2014/main" id="{7F6BA33C-87C1-1657-2A1D-D7B3E3A46186}"/>
              </a:ext>
            </a:extLst>
          </p:cNvPr>
          <p:cNvSpPr txBox="1"/>
          <p:nvPr/>
        </p:nvSpPr>
        <p:spPr>
          <a:xfrm>
            <a:off x="66678" y="3006104"/>
            <a:ext cx="2990850" cy="461665"/>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Citizen Awareness</a:t>
            </a:r>
          </a:p>
        </p:txBody>
      </p:sp>
      <p:sp>
        <p:nvSpPr>
          <p:cNvPr id="28" name="TextBox 27">
            <a:extLst>
              <a:ext uri="{FF2B5EF4-FFF2-40B4-BE49-F238E27FC236}">
                <a16:creationId xmlns:a16="http://schemas.microsoft.com/office/drawing/2014/main" id="{858E7D2C-B2BB-27E5-9190-23348B3829D7}"/>
              </a:ext>
            </a:extLst>
          </p:cNvPr>
          <p:cNvSpPr txBox="1"/>
          <p:nvPr/>
        </p:nvSpPr>
        <p:spPr>
          <a:xfrm>
            <a:off x="695325" y="1821436"/>
            <a:ext cx="2090740" cy="461665"/>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Reality Check</a:t>
            </a:r>
          </a:p>
        </p:txBody>
      </p:sp>
      <p:sp>
        <p:nvSpPr>
          <p:cNvPr id="29" name="TextBox 28">
            <a:extLst>
              <a:ext uri="{FF2B5EF4-FFF2-40B4-BE49-F238E27FC236}">
                <a16:creationId xmlns:a16="http://schemas.microsoft.com/office/drawing/2014/main" id="{2059F851-3282-DCF4-97E0-2F3C6CE9C39E}"/>
              </a:ext>
            </a:extLst>
          </p:cNvPr>
          <p:cNvSpPr txBox="1"/>
          <p:nvPr/>
        </p:nvSpPr>
        <p:spPr>
          <a:xfrm>
            <a:off x="7920034" y="4963457"/>
            <a:ext cx="2880484" cy="461665"/>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Virtual Connectivity</a:t>
            </a:r>
          </a:p>
        </p:txBody>
      </p:sp>
      <p:sp>
        <p:nvSpPr>
          <p:cNvPr id="30" name="TextBox 29">
            <a:extLst>
              <a:ext uri="{FF2B5EF4-FFF2-40B4-BE49-F238E27FC236}">
                <a16:creationId xmlns:a16="http://schemas.microsoft.com/office/drawing/2014/main" id="{7AC5E89A-C225-B887-0D3D-54D773ECF7DF}"/>
              </a:ext>
            </a:extLst>
          </p:cNvPr>
          <p:cNvSpPr txBox="1"/>
          <p:nvPr/>
        </p:nvSpPr>
        <p:spPr>
          <a:xfrm>
            <a:off x="2540794" y="4890485"/>
            <a:ext cx="1962150" cy="461665"/>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Relocation</a:t>
            </a:r>
          </a:p>
        </p:txBody>
      </p:sp>
      <p:cxnSp>
        <p:nvCxnSpPr>
          <p:cNvPr id="39" name="Straight Arrow Connector 38">
            <a:extLst>
              <a:ext uri="{FF2B5EF4-FFF2-40B4-BE49-F238E27FC236}">
                <a16:creationId xmlns:a16="http://schemas.microsoft.com/office/drawing/2014/main" id="{C51E36DD-45F7-260F-071F-9455E95C68C1}"/>
              </a:ext>
            </a:extLst>
          </p:cNvPr>
          <p:cNvCxnSpPr>
            <a:cxnSpLocks/>
          </p:cNvCxnSpPr>
          <p:nvPr/>
        </p:nvCxnSpPr>
        <p:spPr>
          <a:xfrm flipV="1">
            <a:off x="5264944" y="4058130"/>
            <a:ext cx="1288256" cy="1235826"/>
          </a:xfrm>
          <a:prstGeom prst="straightConnector1">
            <a:avLst/>
          </a:prstGeom>
          <a:ln w="57150">
            <a:solidFill>
              <a:schemeClr val="tx1"/>
            </a:solidFill>
            <a:headEnd type="triangle"/>
            <a:tailEnd type="triangle"/>
          </a:ln>
        </p:spPr>
        <p:style>
          <a:lnRef idx="2">
            <a:schemeClr val="dk1"/>
          </a:lnRef>
          <a:fillRef idx="0">
            <a:schemeClr val="dk1"/>
          </a:fillRef>
          <a:effectRef idx="1">
            <a:schemeClr val="dk1"/>
          </a:effectRef>
          <a:fontRef idx="minor">
            <a:schemeClr val="tx1"/>
          </a:fontRef>
        </p:style>
      </p:cxnSp>
      <p:cxnSp>
        <p:nvCxnSpPr>
          <p:cNvPr id="40" name="Straight Arrow Connector 39">
            <a:extLst>
              <a:ext uri="{FF2B5EF4-FFF2-40B4-BE49-F238E27FC236}">
                <a16:creationId xmlns:a16="http://schemas.microsoft.com/office/drawing/2014/main" id="{0D220BB8-3324-F0AE-73FF-75814A7084FC}"/>
              </a:ext>
            </a:extLst>
          </p:cNvPr>
          <p:cNvCxnSpPr>
            <a:cxnSpLocks/>
          </p:cNvCxnSpPr>
          <p:nvPr/>
        </p:nvCxnSpPr>
        <p:spPr>
          <a:xfrm flipV="1">
            <a:off x="5417344" y="4210530"/>
            <a:ext cx="1288256" cy="1235826"/>
          </a:xfrm>
          <a:prstGeom prst="straightConnector1">
            <a:avLst/>
          </a:prstGeom>
          <a:ln w="57150">
            <a:solidFill>
              <a:schemeClr val="tx1"/>
            </a:solidFill>
            <a:headEnd type="triangle"/>
            <a:tailEnd type="triangle"/>
          </a:ln>
        </p:spPr>
        <p:style>
          <a:lnRef idx="2">
            <a:schemeClr val="dk1"/>
          </a:lnRef>
          <a:fillRef idx="0">
            <a:schemeClr val="dk1"/>
          </a:fillRef>
          <a:effectRef idx="1">
            <a:schemeClr val="dk1"/>
          </a:effectRef>
          <a:fontRef idx="minor">
            <a:schemeClr val="tx1"/>
          </a:fontRef>
        </p:style>
      </p:cxnSp>
      <p:sp>
        <p:nvSpPr>
          <p:cNvPr id="66" name="Oval 65">
            <a:extLst>
              <a:ext uri="{FF2B5EF4-FFF2-40B4-BE49-F238E27FC236}">
                <a16:creationId xmlns:a16="http://schemas.microsoft.com/office/drawing/2014/main" id="{1DA3CBDB-50AF-2ED6-BF2D-1B44539BFE4A}"/>
              </a:ext>
            </a:extLst>
          </p:cNvPr>
          <p:cNvSpPr/>
          <p:nvPr/>
        </p:nvSpPr>
        <p:spPr>
          <a:xfrm>
            <a:off x="7584776" y="1261976"/>
            <a:ext cx="2390775" cy="723325"/>
          </a:xfrm>
          <a:prstGeom prst="ellipse">
            <a:avLst/>
          </a:prstGeom>
          <a:solidFill>
            <a:schemeClr val="accent4">
              <a:lumMod val="40000"/>
              <a:lumOff val="6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Visioning </a:t>
            </a:r>
          </a:p>
        </p:txBody>
      </p:sp>
      <p:sp>
        <p:nvSpPr>
          <p:cNvPr id="11" name="Oval 10">
            <a:extLst>
              <a:ext uri="{FF2B5EF4-FFF2-40B4-BE49-F238E27FC236}">
                <a16:creationId xmlns:a16="http://schemas.microsoft.com/office/drawing/2014/main" id="{185235C5-0DC0-6ED6-AC42-91C83C4830E3}"/>
              </a:ext>
            </a:extLst>
          </p:cNvPr>
          <p:cNvSpPr/>
          <p:nvPr/>
        </p:nvSpPr>
        <p:spPr>
          <a:xfrm>
            <a:off x="8192580" y="2324803"/>
            <a:ext cx="2390775" cy="723325"/>
          </a:xfrm>
          <a:prstGeom prst="ellipse">
            <a:avLst/>
          </a:prstGeom>
          <a:solidFill>
            <a:schemeClr val="tx2">
              <a:lumMod val="50000"/>
              <a:lumOff val="5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TeleCenters</a:t>
            </a:r>
          </a:p>
        </p:txBody>
      </p:sp>
      <p:cxnSp>
        <p:nvCxnSpPr>
          <p:cNvPr id="48" name="Straight Arrow Connector 47">
            <a:extLst>
              <a:ext uri="{FF2B5EF4-FFF2-40B4-BE49-F238E27FC236}">
                <a16:creationId xmlns:a16="http://schemas.microsoft.com/office/drawing/2014/main" id="{D3442C44-F144-729A-6736-06396B410B5B}"/>
              </a:ext>
            </a:extLst>
          </p:cNvPr>
          <p:cNvCxnSpPr>
            <a:cxnSpLocks/>
          </p:cNvCxnSpPr>
          <p:nvPr/>
        </p:nvCxnSpPr>
        <p:spPr>
          <a:xfrm flipH="1" flipV="1">
            <a:off x="4181478" y="1716958"/>
            <a:ext cx="1304132" cy="908941"/>
          </a:xfrm>
          <a:prstGeom prst="straightConnector1">
            <a:avLst/>
          </a:prstGeom>
          <a:ln w="76200">
            <a:solidFill>
              <a:schemeClr val="bg1"/>
            </a:solidFill>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45" name="Straight Arrow Connector 44">
            <a:extLst>
              <a:ext uri="{FF2B5EF4-FFF2-40B4-BE49-F238E27FC236}">
                <a16:creationId xmlns:a16="http://schemas.microsoft.com/office/drawing/2014/main" id="{EBE62629-D66E-6FD5-2832-020DAA869A03}"/>
              </a:ext>
            </a:extLst>
          </p:cNvPr>
          <p:cNvCxnSpPr>
            <a:cxnSpLocks/>
          </p:cNvCxnSpPr>
          <p:nvPr/>
        </p:nvCxnSpPr>
        <p:spPr>
          <a:xfrm>
            <a:off x="3521869" y="2794680"/>
            <a:ext cx="1659375" cy="139370"/>
          </a:xfrm>
          <a:prstGeom prst="straightConnector1">
            <a:avLst/>
          </a:prstGeom>
          <a:ln w="76200">
            <a:solidFill>
              <a:schemeClr val="bg1"/>
            </a:solidFill>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49" name="Straight Arrow Connector 48">
            <a:extLst>
              <a:ext uri="{FF2B5EF4-FFF2-40B4-BE49-F238E27FC236}">
                <a16:creationId xmlns:a16="http://schemas.microsoft.com/office/drawing/2014/main" id="{74E3CF02-98CD-D279-6A72-CFA82029FF16}"/>
              </a:ext>
            </a:extLst>
          </p:cNvPr>
          <p:cNvCxnSpPr>
            <a:cxnSpLocks/>
          </p:cNvCxnSpPr>
          <p:nvPr/>
        </p:nvCxnSpPr>
        <p:spPr>
          <a:xfrm flipV="1">
            <a:off x="3886601" y="3230839"/>
            <a:ext cx="1378343" cy="606165"/>
          </a:xfrm>
          <a:prstGeom prst="straightConnector1">
            <a:avLst/>
          </a:prstGeom>
          <a:ln w="76200">
            <a:solidFill>
              <a:schemeClr val="bg1"/>
            </a:solidFill>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47" name="Straight Arrow Connector 46">
            <a:extLst>
              <a:ext uri="{FF2B5EF4-FFF2-40B4-BE49-F238E27FC236}">
                <a16:creationId xmlns:a16="http://schemas.microsoft.com/office/drawing/2014/main" id="{B2D7CBA2-AEAB-65A5-B7C7-AC6D62A90074}"/>
              </a:ext>
            </a:extLst>
          </p:cNvPr>
          <p:cNvCxnSpPr>
            <a:cxnSpLocks/>
          </p:cNvCxnSpPr>
          <p:nvPr/>
        </p:nvCxnSpPr>
        <p:spPr>
          <a:xfrm flipV="1">
            <a:off x="4667639" y="3236936"/>
            <a:ext cx="1237858" cy="1285198"/>
          </a:xfrm>
          <a:prstGeom prst="straightConnector1">
            <a:avLst/>
          </a:prstGeom>
          <a:ln w="76200">
            <a:solidFill>
              <a:schemeClr val="bg1"/>
            </a:solidFill>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61" name="Straight Arrow Connector 60">
            <a:extLst>
              <a:ext uri="{FF2B5EF4-FFF2-40B4-BE49-F238E27FC236}">
                <a16:creationId xmlns:a16="http://schemas.microsoft.com/office/drawing/2014/main" id="{83D05E74-46DF-A1B4-01B4-09F93748B4C0}"/>
              </a:ext>
            </a:extLst>
          </p:cNvPr>
          <p:cNvCxnSpPr>
            <a:cxnSpLocks/>
          </p:cNvCxnSpPr>
          <p:nvPr/>
        </p:nvCxnSpPr>
        <p:spPr>
          <a:xfrm flipV="1">
            <a:off x="6863182" y="2659369"/>
            <a:ext cx="1712918" cy="253596"/>
          </a:xfrm>
          <a:prstGeom prst="straightConnector1">
            <a:avLst/>
          </a:prstGeom>
          <a:ln w="76200">
            <a:solidFill>
              <a:schemeClr val="bg1"/>
            </a:solidFill>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46" name="Straight Arrow Connector 45">
            <a:extLst>
              <a:ext uri="{FF2B5EF4-FFF2-40B4-BE49-F238E27FC236}">
                <a16:creationId xmlns:a16="http://schemas.microsoft.com/office/drawing/2014/main" id="{E6FB4EF8-555C-116D-7FC4-858029C66673}"/>
              </a:ext>
            </a:extLst>
          </p:cNvPr>
          <p:cNvCxnSpPr>
            <a:cxnSpLocks/>
          </p:cNvCxnSpPr>
          <p:nvPr/>
        </p:nvCxnSpPr>
        <p:spPr>
          <a:xfrm flipH="1" flipV="1">
            <a:off x="6246422" y="3232793"/>
            <a:ext cx="925544" cy="1327741"/>
          </a:xfrm>
          <a:prstGeom prst="straightConnector1">
            <a:avLst/>
          </a:prstGeom>
          <a:ln w="76200">
            <a:solidFill>
              <a:schemeClr val="bg1"/>
            </a:solidFill>
            <a:headEnd type="triangle"/>
            <a:tailEnd type="triangle"/>
          </a:ln>
        </p:spPr>
        <p:style>
          <a:lnRef idx="2">
            <a:schemeClr val="accent2"/>
          </a:lnRef>
          <a:fillRef idx="0">
            <a:schemeClr val="accent2"/>
          </a:fillRef>
          <a:effectRef idx="1">
            <a:schemeClr val="accent2"/>
          </a:effectRef>
          <a:fontRef idx="minor">
            <a:schemeClr val="tx1"/>
          </a:fontRef>
        </p:style>
      </p:cxnSp>
      <p:sp>
        <p:nvSpPr>
          <p:cNvPr id="12" name="Oval 11">
            <a:extLst>
              <a:ext uri="{FF2B5EF4-FFF2-40B4-BE49-F238E27FC236}">
                <a16:creationId xmlns:a16="http://schemas.microsoft.com/office/drawing/2014/main" id="{39C45FD1-C200-1FF9-02D7-3DE2591984DD}"/>
              </a:ext>
            </a:extLst>
          </p:cNvPr>
          <p:cNvSpPr/>
          <p:nvPr/>
        </p:nvSpPr>
        <p:spPr>
          <a:xfrm>
            <a:off x="7920034" y="3298779"/>
            <a:ext cx="2390775" cy="723325"/>
          </a:xfrm>
          <a:prstGeom prst="ellipse">
            <a:avLst/>
          </a:prstGeom>
          <a:solidFill>
            <a:schemeClr val="tx2">
              <a:lumMod val="50000"/>
              <a:lumOff val="5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Transit</a:t>
            </a:r>
          </a:p>
        </p:txBody>
      </p:sp>
      <p:cxnSp>
        <p:nvCxnSpPr>
          <p:cNvPr id="50" name="Straight Arrow Connector 49">
            <a:extLst>
              <a:ext uri="{FF2B5EF4-FFF2-40B4-BE49-F238E27FC236}">
                <a16:creationId xmlns:a16="http://schemas.microsoft.com/office/drawing/2014/main" id="{895BF73F-157B-08E6-3F74-0BB462DF837A}"/>
              </a:ext>
            </a:extLst>
          </p:cNvPr>
          <p:cNvCxnSpPr>
            <a:cxnSpLocks/>
          </p:cNvCxnSpPr>
          <p:nvPr/>
        </p:nvCxnSpPr>
        <p:spPr>
          <a:xfrm>
            <a:off x="6705600" y="3195387"/>
            <a:ext cx="1691477" cy="530811"/>
          </a:xfrm>
          <a:prstGeom prst="straightConnector1">
            <a:avLst/>
          </a:prstGeom>
          <a:ln w="76200">
            <a:solidFill>
              <a:schemeClr val="bg1"/>
            </a:solidFill>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51" name="Straight Arrow Connector 50">
            <a:extLst>
              <a:ext uri="{FF2B5EF4-FFF2-40B4-BE49-F238E27FC236}">
                <a16:creationId xmlns:a16="http://schemas.microsoft.com/office/drawing/2014/main" id="{546F10E5-1984-03A3-D218-71254FA5C56E}"/>
              </a:ext>
            </a:extLst>
          </p:cNvPr>
          <p:cNvCxnSpPr>
            <a:cxnSpLocks/>
          </p:cNvCxnSpPr>
          <p:nvPr/>
        </p:nvCxnSpPr>
        <p:spPr>
          <a:xfrm flipV="1">
            <a:off x="6016243" y="1411644"/>
            <a:ext cx="3371" cy="1276435"/>
          </a:xfrm>
          <a:prstGeom prst="straightConnector1">
            <a:avLst/>
          </a:prstGeom>
          <a:ln w="76200">
            <a:solidFill>
              <a:schemeClr val="bg1"/>
            </a:solidFill>
            <a:headEnd type="triangle"/>
            <a:tailEnd type="triangle"/>
          </a:ln>
        </p:spPr>
        <p:style>
          <a:lnRef idx="2">
            <a:schemeClr val="accent2"/>
          </a:lnRef>
          <a:fillRef idx="0">
            <a:schemeClr val="accent2"/>
          </a:fillRef>
          <a:effectRef idx="1">
            <a:schemeClr val="accent2"/>
          </a:effectRef>
          <a:fontRef idx="minor">
            <a:schemeClr val="tx1"/>
          </a:fontRef>
        </p:style>
      </p:cxnSp>
      <p:sp>
        <p:nvSpPr>
          <p:cNvPr id="14" name="Oval 13">
            <a:extLst>
              <a:ext uri="{FF2B5EF4-FFF2-40B4-BE49-F238E27FC236}">
                <a16:creationId xmlns:a16="http://schemas.microsoft.com/office/drawing/2014/main" id="{436253B4-478F-FE8A-361C-3E7475425908}"/>
              </a:ext>
            </a:extLst>
          </p:cNvPr>
          <p:cNvSpPr/>
          <p:nvPr/>
        </p:nvSpPr>
        <p:spPr>
          <a:xfrm>
            <a:off x="7612548" y="1261976"/>
            <a:ext cx="2390775" cy="723325"/>
          </a:xfrm>
          <a:prstGeom prst="ellipse">
            <a:avLst/>
          </a:prstGeom>
          <a:solidFill>
            <a:schemeClr val="tx2">
              <a:lumMod val="50000"/>
              <a:lumOff val="5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Visioning </a:t>
            </a:r>
          </a:p>
        </p:txBody>
      </p:sp>
      <p:cxnSp>
        <p:nvCxnSpPr>
          <p:cNvPr id="41" name="Straight Arrow Connector 40">
            <a:extLst>
              <a:ext uri="{FF2B5EF4-FFF2-40B4-BE49-F238E27FC236}">
                <a16:creationId xmlns:a16="http://schemas.microsoft.com/office/drawing/2014/main" id="{FB422F64-D517-0BFB-8B87-52DE6B46274F}"/>
              </a:ext>
            </a:extLst>
          </p:cNvPr>
          <p:cNvCxnSpPr>
            <a:cxnSpLocks/>
          </p:cNvCxnSpPr>
          <p:nvPr/>
        </p:nvCxnSpPr>
        <p:spPr>
          <a:xfrm flipV="1">
            <a:off x="6573594" y="1631225"/>
            <a:ext cx="1513672" cy="1080406"/>
          </a:xfrm>
          <a:prstGeom prst="straightConnector1">
            <a:avLst/>
          </a:prstGeom>
          <a:ln w="76200">
            <a:solidFill>
              <a:schemeClr val="bg1"/>
            </a:solidFill>
            <a:headEnd type="triangle"/>
            <a:tailEnd type="triangle"/>
          </a:ln>
        </p:spPr>
        <p:style>
          <a:lnRef idx="2">
            <a:schemeClr val="accent2"/>
          </a:lnRef>
          <a:fillRef idx="0">
            <a:schemeClr val="accent2"/>
          </a:fillRef>
          <a:effectRef idx="1">
            <a:schemeClr val="accent2"/>
          </a:effectRef>
          <a:fontRef idx="minor">
            <a:schemeClr val="tx1"/>
          </a:fontRef>
        </p:style>
      </p:cxnSp>
      <p:sp>
        <p:nvSpPr>
          <p:cNvPr id="31" name="Explosion: 14 Points 30">
            <a:extLst>
              <a:ext uri="{FF2B5EF4-FFF2-40B4-BE49-F238E27FC236}">
                <a16:creationId xmlns:a16="http://schemas.microsoft.com/office/drawing/2014/main" id="{F2404BE8-598E-B8C0-BBEA-3696E1B0E476}"/>
              </a:ext>
            </a:extLst>
          </p:cNvPr>
          <p:cNvSpPr/>
          <p:nvPr/>
        </p:nvSpPr>
        <p:spPr>
          <a:xfrm>
            <a:off x="4143378" y="1766276"/>
            <a:ext cx="4000497" cy="2279468"/>
          </a:xfrm>
          <a:prstGeom prst="irregularSeal2">
            <a:avLst/>
          </a:prstGeom>
          <a:solidFill>
            <a:schemeClr val="accent4">
              <a:lumMod val="75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bg1"/>
                </a:solidFill>
                <a:latin typeface="Times New Roman" panose="02020603050405020304" pitchFamily="18" charset="0"/>
                <a:cs typeface="Times New Roman" panose="02020603050405020304" pitchFamily="18" charset="0"/>
              </a:rPr>
              <a:t>THE IAC</a:t>
            </a:r>
          </a:p>
        </p:txBody>
      </p:sp>
    </p:spTree>
    <p:extLst>
      <p:ext uri="{BB962C8B-B14F-4D97-AF65-F5344CB8AC3E}">
        <p14:creationId xmlns:p14="http://schemas.microsoft.com/office/powerpoint/2010/main" val="424875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par>
                          <p:cTn id="8" fill="hold">
                            <p:stCondLst>
                              <p:cond delay="2000"/>
                            </p:stCondLst>
                            <p:childTnLst>
                              <p:par>
                                <p:cTn id="9" presetID="10" presetClass="entr" presetSubtype="0" fill="hold" grpId="0" nodeType="afterEffect">
                                  <p:stCondLst>
                                    <p:cond delay="15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500"/>
                                        <p:tgtEl>
                                          <p:spTgt spid="24"/>
                                        </p:tgtEl>
                                      </p:cBhvr>
                                    </p:animEffect>
                                  </p:childTnLst>
                                </p:cTn>
                              </p:par>
                            </p:childTnLst>
                          </p:cTn>
                        </p:par>
                        <p:par>
                          <p:cTn id="12" fill="hold">
                            <p:stCondLst>
                              <p:cond delay="4000"/>
                            </p:stCondLst>
                            <p:childTnLst>
                              <p:par>
                                <p:cTn id="13" presetID="10" presetClass="entr" presetSubtype="0" fill="hold" grpId="0" nodeType="afterEffect">
                                  <p:stCondLst>
                                    <p:cond delay="150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par>
                          <p:cTn id="16" fill="hold">
                            <p:stCondLst>
                              <p:cond delay="6000"/>
                            </p:stCondLst>
                            <p:childTnLst>
                              <p:par>
                                <p:cTn id="17" presetID="10" presetClass="entr" presetSubtype="0" fill="hold" grpId="0" nodeType="afterEffect">
                                  <p:stCondLst>
                                    <p:cond delay="15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500"/>
                                        <p:tgtEl>
                                          <p:spTgt spid="22"/>
                                        </p:tgtEl>
                                      </p:cBhvr>
                                    </p:animEffect>
                                  </p:childTnLst>
                                </p:cTn>
                              </p:par>
                            </p:childTnLst>
                          </p:cTn>
                        </p:par>
                        <p:par>
                          <p:cTn id="20" fill="hold">
                            <p:stCondLst>
                              <p:cond delay="8000"/>
                            </p:stCondLst>
                            <p:childTnLst>
                              <p:par>
                                <p:cTn id="21" presetID="10" presetClass="entr" presetSubtype="0" fill="hold" grpId="0" nodeType="afterEffect">
                                  <p:stCondLst>
                                    <p:cond delay="150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500"/>
                                        <p:tgtEl>
                                          <p:spTgt spid="29"/>
                                        </p:tgtEl>
                                      </p:cBhvr>
                                    </p:animEffect>
                                  </p:childTnLst>
                                </p:cTn>
                              </p:par>
                            </p:childTnLst>
                          </p:cTn>
                        </p:par>
                        <p:par>
                          <p:cTn id="24" fill="hold">
                            <p:stCondLst>
                              <p:cond delay="10000"/>
                            </p:stCondLst>
                            <p:childTnLst>
                              <p:par>
                                <p:cTn id="25" presetID="10" presetClass="entr" presetSubtype="0" fill="hold" grpId="0" nodeType="afterEffect">
                                  <p:stCondLst>
                                    <p:cond delay="175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00"/>
                                        <p:tgtEl>
                                          <p:spTgt spid="30"/>
                                        </p:tgtEl>
                                      </p:cBhvr>
                                    </p:animEffect>
                                  </p:childTnLst>
                                </p:cTn>
                              </p:par>
                            </p:childTnLst>
                          </p:cTn>
                        </p:par>
                        <p:par>
                          <p:cTn id="28" fill="hold">
                            <p:stCondLst>
                              <p:cond delay="12250"/>
                            </p:stCondLst>
                            <p:childTnLst>
                              <p:par>
                                <p:cTn id="29" presetID="10" presetClass="entr" presetSubtype="0" fill="hold" grpId="0" nodeType="afterEffect">
                                  <p:stCondLst>
                                    <p:cond delay="150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00"/>
                                        <p:tgtEl>
                                          <p:spTgt spid="26"/>
                                        </p:tgtEl>
                                      </p:cBhvr>
                                    </p:animEffect>
                                  </p:childTnLst>
                                </p:cTn>
                              </p:par>
                            </p:childTnLst>
                          </p:cTn>
                        </p:par>
                        <p:par>
                          <p:cTn id="32" fill="hold">
                            <p:stCondLst>
                              <p:cond delay="14250"/>
                            </p:stCondLst>
                            <p:childTnLst>
                              <p:par>
                                <p:cTn id="33" presetID="10" presetClass="entr" presetSubtype="0" fill="hold" grpId="0" nodeType="afterEffect">
                                  <p:stCondLst>
                                    <p:cond delay="150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00"/>
                                        <p:tgtEl>
                                          <p:spTgt spid="27"/>
                                        </p:tgtEl>
                                      </p:cBhvr>
                                    </p:animEffect>
                                  </p:childTnLst>
                                </p:cTn>
                              </p:par>
                            </p:childTnLst>
                          </p:cTn>
                        </p:par>
                        <p:par>
                          <p:cTn id="36" fill="hold">
                            <p:stCondLst>
                              <p:cond delay="16250"/>
                            </p:stCondLst>
                            <p:childTnLst>
                              <p:par>
                                <p:cTn id="37" presetID="10" presetClass="entr" presetSubtype="0" fill="hold" grpId="0" nodeType="afterEffect">
                                  <p:stCondLst>
                                    <p:cond delay="150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childTnLst>
                                </p:cTn>
                              </p:par>
                            </p:childTnLst>
                          </p:cTn>
                        </p:par>
                        <p:par>
                          <p:cTn id="40" fill="hold">
                            <p:stCondLst>
                              <p:cond delay="18250"/>
                            </p:stCondLst>
                            <p:childTnLst>
                              <p:par>
                                <p:cTn id="41" presetID="10" presetClass="entr" presetSubtype="0" fill="hold" nodeType="afterEffect">
                                  <p:stCondLst>
                                    <p:cond delay="2500"/>
                                  </p:stCondLst>
                                  <p:childTnLst>
                                    <p:set>
                                      <p:cBhvr>
                                        <p:cTn id="42" dur="1" fill="hold">
                                          <p:stCondLst>
                                            <p:cond delay="0"/>
                                          </p:stCondLst>
                                        </p:cTn>
                                        <p:tgtEl>
                                          <p:spTgt spid="51"/>
                                        </p:tgtEl>
                                        <p:attrNameLst>
                                          <p:attrName>style.visibility</p:attrName>
                                        </p:attrNameLst>
                                      </p:cBhvr>
                                      <p:to>
                                        <p:strVal val="visible"/>
                                      </p:to>
                                    </p:set>
                                    <p:animEffect transition="in" filter="fade">
                                      <p:cBhvr>
                                        <p:cTn id="43" dur="500"/>
                                        <p:tgtEl>
                                          <p:spTgt spid="51"/>
                                        </p:tgtEl>
                                      </p:cBhvr>
                                    </p:animEffect>
                                  </p:childTnLst>
                                </p:cTn>
                              </p:par>
                            </p:childTnLst>
                          </p:cTn>
                        </p:par>
                        <p:par>
                          <p:cTn id="44" fill="hold">
                            <p:stCondLst>
                              <p:cond delay="21250"/>
                            </p:stCondLst>
                            <p:childTnLst>
                              <p:par>
                                <p:cTn id="45" presetID="10" presetClass="entr" presetSubtype="0" fill="hold" nodeType="afterEffect">
                                  <p:stCondLst>
                                    <p:cond delay="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500"/>
                                        <p:tgtEl>
                                          <p:spTgt spid="41"/>
                                        </p:tgtEl>
                                      </p:cBhvr>
                                    </p:animEffect>
                                  </p:childTnLst>
                                </p:cTn>
                              </p:par>
                            </p:childTnLst>
                          </p:cTn>
                        </p:par>
                        <p:par>
                          <p:cTn id="48" fill="hold">
                            <p:stCondLst>
                              <p:cond delay="21750"/>
                            </p:stCondLst>
                            <p:childTnLst>
                              <p:par>
                                <p:cTn id="49" presetID="10" presetClass="entr" presetSubtype="0" fill="hold" nodeType="after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500"/>
                                        <p:tgtEl>
                                          <p:spTgt spid="61"/>
                                        </p:tgtEl>
                                      </p:cBhvr>
                                    </p:animEffect>
                                  </p:childTnLst>
                                </p:cTn>
                              </p:par>
                            </p:childTnLst>
                          </p:cTn>
                        </p:par>
                        <p:par>
                          <p:cTn id="52" fill="hold">
                            <p:stCondLst>
                              <p:cond delay="22250"/>
                            </p:stCondLst>
                            <p:childTnLst>
                              <p:par>
                                <p:cTn id="53" presetID="10" presetClass="entr" presetSubtype="0" fill="hold" nodeType="afterEffect">
                                  <p:stCondLst>
                                    <p:cond delay="0"/>
                                  </p:stCondLst>
                                  <p:childTnLst>
                                    <p:set>
                                      <p:cBhvr>
                                        <p:cTn id="54" dur="1" fill="hold">
                                          <p:stCondLst>
                                            <p:cond delay="0"/>
                                          </p:stCondLst>
                                        </p:cTn>
                                        <p:tgtEl>
                                          <p:spTgt spid="50"/>
                                        </p:tgtEl>
                                        <p:attrNameLst>
                                          <p:attrName>style.visibility</p:attrName>
                                        </p:attrNameLst>
                                      </p:cBhvr>
                                      <p:to>
                                        <p:strVal val="visible"/>
                                      </p:to>
                                    </p:set>
                                    <p:animEffect transition="in" filter="fade">
                                      <p:cBhvr>
                                        <p:cTn id="55" dur="500"/>
                                        <p:tgtEl>
                                          <p:spTgt spid="50"/>
                                        </p:tgtEl>
                                      </p:cBhvr>
                                    </p:animEffect>
                                  </p:childTnLst>
                                </p:cTn>
                              </p:par>
                            </p:childTnLst>
                          </p:cTn>
                        </p:par>
                        <p:par>
                          <p:cTn id="56" fill="hold">
                            <p:stCondLst>
                              <p:cond delay="22750"/>
                            </p:stCondLst>
                            <p:childTnLst>
                              <p:par>
                                <p:cTn id="57" presetID="10" presetClass="entr" presetSubtype="0" fill="hold" nodeType="afterEffect">
                                  <p:stCondLst>
                                    <p:cond delay="0"/>
                                  </p:stCondLst>
                                  <p:childTnLst>
                                    <p:set>
                                      <p:cBhvr>
                                        <p:cTn id="58" dur="1" fill="hold">
                                          <p:stCondLst>
                                            <p:cond delay="0"/>
                                          </p:stCondLst>
                                        </p:cTn>
                                        <p:tgtEl>
                                          <p:spTgt spid="46"/>
                                        </p:tgtEl>
                                        <p:attrNameLst>
                                          <p:attrName>style.visibility</p:attrName>
                                        </p:attrNameLst>
                                      </p:cBhvr>
                                      <p:to>
                                        <p:strVal val="visible"/>
                                      </p:to>
                                    </p:set>
                                    <p:animEffect transition="in" filter="fade">
                                      <p:cBhvr>
                                        <p:cTn id="59" dur="500"/>
                                        <p:tgtEl>
                                          <p:spTgt spid="46"/>
                                        </p:tgtEl>
                                      </p:cBhvr>
                                    </p:animEffect>
                                  </p:childTnLst>
                                </p:cTn>
                              </p:par>
                            </p:childTnLst>
                          </p:cTn>
                        </p:par>
                        <p:par>
                          <p:cTn id="60" fill="hold">
                            <p:stCondLst>
                              <p:cond delay="23250"/>
                            </p:stCondLst>
                            <p:childTnLst>
                              <p:par>
                                <p:cTn id="61" presetID="10" presetClass="entr" presetSubtype="0" fill="hold" nodeType="afterEffect">
                                  <p:stCondLst>
                                    <p:cond delay="0"/>
                                  </p:stCondLst>
                                  <p:childTnLst>
                                    <p:set>
                                      <p:cBhvr>
                                        <p:cTn id="62" dur="1" fill="hold">
                                          <p:stCondLst>
                                            <p:cond delay="0"/>
                                          </p:stCondLst>
                                        </p:cTn>
                                        <p:tgtEl>
                                          <p:spTgt spid="47"/>
                                        </p:tgtEl>
                                        <p:attrNameLst>
                                          <p:attrName>style.visibility</p:attrName>
                                        </p:attrNameLst>
                                      </p:cBhvr>
                                      <p:to>
                                        <p:strVal val="visible"/>
                                      </p:to>
                                    </p:set>
                                    <p:animEffect transition="in" filter="fade">
                                      <p:cBhvr>
                                        <p:cTn id="63" dur="500"/>
                                        <p:tgtEl>
                                          <p:spTgt spid="47"/>
                                        </p:tgtEl>
                                      </p:cBhvr>
                                    </p:animEffect>
                                  </p:childTnLst>
                                </p:cTn>
                              </p:par>
                            </p:childTnLst>
                          </p:cTn>
                        </p:par>
                        <p:par>
                          <p:cTn id="64" fill="hold">
                            <p:stCondLst>
                              <p:cond delay="23750"/>
                            </p:stCondLst>
                            <p:childTnLst>
                              <p:par>
                                <p:cTn id="65" presetID="10" presetClass="entr" presetSubtype="0" fill="hold" nodeType="after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500"/>
                                        <p:tgtEl>
                                          <p:spTgt spid="49"/>
                                        </p:tgtEl>
                                      </p:cBhvr>
                                    </p:animEffect>
                                  </p:childTnLst>
                                </p:cTn>
                              </p:par>
                            </p:childTnLst>
                          </p:cTn>
                        </p:par>
                        <p:par>
                          <p:cTn id="68" fill="hold">
                            <p:stCondLst>
                              <p:cond delay="24250"/>
                            </p:stCondLst>
                            <p:childTnLst>
                              <p:par>
                                <p:cTn id="69" presetID="10" presetClass="entr" presetSubtype="0" fill="hold" nodeType="afterEffect">
                                  <p:stCondLst>
                                    <p:cond delay="0"/>
                                  </p:stCondLst>
                                  <p:childTnLst>
                                    <p:set>
                                      <p:cBhvr>
                                        <p:cTn id="70" dur="1" fill="hold">
                                          <p:stCondLst>
                                            <p:cond delay="0"/>
                                          </p:stCondLst>
                                        </p:cTn>
                                        <p:tgtEl>
                                          <p:spTgt spid="45"/>
                                        </p:tgtEl>
                                        <p:attrNameLst>
                                          <p:attrName>style.visibility</p:attrName>
                                        </p:attrNameLst>
                                      </p:cBhvr>
                                      <p:to>
                                        <p:strVal val="visible"/>
                                      </p:to>
                                    </p:set>
                                    <p:animEffect transition="in" filter="fade">
                                      <p:cBhvr>
                                        <p:cTn id="71" dur="500"/>
                                        <p:tgtEl>
                                          <p:spTgt spid="45"/>
                                        </p:tgtEl>
                                      </p:cBhvr>
                                    </p:animEffect>
                                  </p:childTnLst>
                                </p:cTn>
                              </p:par>
                            </p:childTnLst>
                          </p:cTn>
                        </p:par>
                        <p:par>
                          <p:cTn id="72" fill="hold">
                            <p:stCondLst>
                              <p:cond delay="24750"/>
                            </p:stCondLst>
                            <p:childTnLst>
                              <p:par>
                                <p:cTn id="73" presetID="10" presetClass="entr" presetSubtype="0" fill="hold" nodeType="after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500"/>
                                        <p:tgtEl>
                                          <p:spTgt spid="48"/>
                                        </p:tgtEl>
                                      </p:cBhvr>
                                    </p:animEffect>
                                  </p:childTnLst>
                                </p:cTn>
                              </p:par>
                            </p:childTnLst>
                          </p:cTn>
                        </p:par>
                        <p:par>
                          <p:cTn id="76" fill="hold">
                            <p:stCondLst>
                              <p:cond delay="25250"/>
                            </p:stCondLst>
                            <p:childTnLst>
                              <p:par>
                                <p:cTn id="77" presetID="27" presetClass="emph" presetSubtype="0" fill="remove" grpId="0" nodeType="afterEffect">
                                  <p:stCondLst>
                                    <p:cond delay="1000"/>
                                  </p:stCondLst>
                                  <p:childTnLst>
                                    <p:animClr clrSpc="rgb" dir="cw">
                                      <p:cBhvr override="childStyle">
                                        <p:cTn id="78" dur="1000" autoRev="1" fill="remove"/>
                                        <p:tgtEl>
                                          <p:spTgt spid="31"/>
                                        </p:tgtEl>
                                        <p:attrNameLst>
                                          <p:attrName>style.color</p:attrName>
                                        </p:attrNameLst>
                                      </p:cBhvr>
                                      <p:to>
                                        <a:schemeClr val="bg1"/>
                                      </p:to>
                                    </p:animClr>
                                    <p:animClr clrSpc="rgb" dir="cw">
                                      <p:cBhvr>
                                        <p:cTn id="79" dur="1000" autoRev="1" fill="remove"/>
                                        <p:tgtEl>
                                          <p:spTgt spid="31"/>
                                        </p:tgtEl>
                                        <p:attrNameLst>
                                          <p:attrName>fillcolor</p:attrName>
                                        </p:attrNameLst>
                                      </p:cBhvr>
                                      <p:to>
                                        <a:schemeClr val="bg1"/>
                                      </p:to>
                                    </p:animClr>
                                    <p:set>
                                      <p:cBhvr>
                                        <p:cTn id="80" dur="1000" autoRev="1" fill="remove"/>
                                        <p:tgtEl>
                                          <p:spTgt spid="31"/>
                                        </p:tgtEl>
                                        <p:attrNameLst>
                                          <p:attrName>fill.type</p:attrName>
                                        </p:attrNameLst>
                                      </p:cBhvr>
                                      <p:to>
                                        <p:strVal val="solid"/>
                                      </p:to>
                                    </p:set>
                                    <p:set>
                                      <p:cBhvr>
                                        <p:cTn id="81" dur="1000" autoRev="1" fill="remove"/>
                                        <p:tgtEl>
                                          <p:spTgt spid="31"/>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p:bldP spid="25" grpId="0"/>
      <p:bldP spid="26" grpId="0"/>
      <p:bldP spid="27" grpId="0"/>
      <p:bldP spid="28" grpId="0"/>
      <p:bldP spid="29" grpId="0"/>
      <p:bldP spid="30" grpId="0"/>
      <p:bldP spid="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168746"/>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A. REFINING THE COMMUNITY HIERARCHY</a:t>
            </a:r>
          </a:p>
        </p:txBody>
      </p:sp>
      <p:cxnSp>
        <p:nvCxnSpPr>
          <p:cNvPr id="2" name="Straight Connector 1">
            <a:extLst>
              <a:ext uri="{FF2B5EF4-FFF2-40B4-BE49-F238E27FC236}">
                <a16:creationId xmlns:a16="http://schemas.microsoft.com/office/drawing/2014/main" id="{C09D7837-4CC7-E61D-3CC5-03BDE3276A6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40E73FEB-5C94-B44B-8820-01379D363F87}"/>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19" name="Action Button: Go Forward or Next 18">
            <a:hlinkClick r:id="" action="ppaction://hlinkshowjump?jump=nextslide" highlightClick="1"/>
            <a:extLst>
              <a:ext uri="{FF2B5EF4-FFF2-40B4-BE49-F238E27FC236}">
                <a16:creationId xmlns:a16="http://schemas.microsoft.com/office/drawing/2014/main" id="{F3A67E53-D552-3C5E-8213-6B9FB3B2A023}"/>
              </a:ext>
            </a:extLst>
          </p:cNvPr>
          <p:cNvSpPr/>
          <p:nvPr/>
        </p:nvSpPr>
        <p:spPr>
          <a:xfrm>
            <a:off x="12493451" y="6124575"/>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F6C5374D-3F42-0FF2-13A1-60EEF17C2B66}"/>
              </a:ext>
            </a:extLst>
          </p:cNvPr>
          <p:cNvSpPr/>
          <p:nvPr/>
        </p:nvSpPr>
        <p:spPr>
          <a:xfrm>
            <a:off x="8398104" y="3461539"/>
            <a:ext cx="2806372" cy="792869"/>
          </a:xfrm>
          <a:prstGeom prst="ellipse">
            <a:avLst/>
          </a:prstGeom>
          <a:solidFill>
            <a:schemeClr val="tx2">
              <a:lumMod val="75000"/>
              <a:lumOff val="25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atin typeface="Times New Roman" panose="02020603050405020304" pitchFamily="18" charset="0"/>
                <a:cs typeface="Times New Roman" panose="02020603050405020304" pitchFamily="18" charset="0"/>
              </a:rPr>
              <a:t>Service Center</a:t>
            </a:r>
          </a:p>
        </p:txBody>
      </p:sp>
      <p:sp>
        <p:nvSpPr>
          <p:cNvPr id="22" name="Oval 21">
            <a:extLst>
              <a:ext uri="{FF2B5EF4-FFF2-40B4-BE49-F238E27FC236}">
                <a16:creationId xmlns:a16="http://schemas.microsoft.com/office/drawing/2014/main" id="{8662CA6C-CA79-CA40-8486-762287F4E51D}"/>
              </a:ext>
            </a:extLst>
          </p:cNvPr>
          <p:cNvSpPr/>
          <p:nvPr/>
        </p:nvSpPr>
        <p:spPr>
          <a:xfrm>
            <a:off x="4917439" y="4464684"/>
            <a:ext cx="2649443" cy="793868"/>
          </a:xfrm>
          <a:prstGeom prst="ellipse">
            <a:avLst/>
          </a:prstGeom>
          <a:solidFill>
            <a:schemeClr val="tx2">
              <a:lumMod val="75000"/>
              <a:lumOff val="25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atin typeface="Times New Roman" panose="02020603050405020304" pitchFamily="18" charset="0"/>
                <a:cs typeface="Times New Roman" panose="02020603050405020304" pitchFamily="18" charset="0"/>
              </a:rPr>
              <a:t>COMMUNITY</a:t>
            </a:r>
          </a:p>
        </p:txBody>
      </p:sp>
      <p:sp>
        <p:nvSpPr>
          <p:cNvPr id="24" name="Oval 23">
            <a:extLst>
              <a:ext uri="{FF2B5EF4-FFF2-40B4-BE49-F238E27FC236}">
                <a16:creationId xmlns:a16="http://schemas.microsoft.com/office/drawing/2014/main" id="{CBF9F5CD-F110-039F-8047-D3BA0F630EE9}"/>
              </a:ext>
            </a:extLst>
          </p:cNvPr>
          <p:cNvSpPr/>
          <p:nvPr/>
        </p:nvSpPr>
        <p:spPr>
          <a:xfrm>
            <a:off x="4763596" y="2756958"/>
            <a:ext cx="2806372" cy="792869"/>
          </a:xfrm>
          <a:prstGeom prst="ellipse">
            <a:avLst/>
          </a:prstGeom>
          <a:solidFill>
            <a:schemeClr val="tx2">
              <a:lumMod val="75000"/>
              <a:lumOff val="25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atin typeface="Times New Roman" panose="02020603050405020304" pitchFamily="18" charset="0"/>
                <a:cs typeface="Times New Roman" panose="02020603050405020304" pitchFamily="18" charset="0"/>
              </a:rPr>
              <a:t>GLOBAL </a:t>
            </a:r>
          </a:p>
          <a:p>
            <a:pPr algn="ctr"/>
            <a:r>
              <a:rPr lang="en-US" b="1" dirty="0">
                <a:latin typeface="Times New Roman" panose="02020603050405020304" pitchFamily="18" charset="0"/>
                <a:cs typeface="Times New Roman" panose="02020603050405020304" pitchFamily="18" charset="0"/>
              </a:rPr>
              <a:t>Service Center</a:t>
            </a:r>
          </a:p>
        </p:txBody>
      </p:sp>
      <p:sp>
        <p:nvSpPr>
          <p:cNvPr id="26" name="TextBox 25">
            <a:extLst>
              <a:ext uri="{FF2B5EF4-FFF2-40B4-BE49-F238E27FC236}">
                <a16:creationId xmlns:a16="http://schemas.microsoft.com/office/drawing/2014/main" id="{8E8336F0-D367-7539-06CB-1FA9B80FC498}"/>
              </a:ext>
            </a:extLst>
          </p:cNvPr>
          <p:cNvSpPr txBox="1"/>
          <p:nvPr/>
        </p:nvSpPr>
        <p:spPr>
          <a:xfrm>
            <a:off x="125377" y="888348"/>
            <a:ext cx="11941246" cy="1384995"/>
          </a:xfrm>
          <a:prstGeom prst="rect">
            <a:avLst/>
          </a:prstGeom>
          <a:noFill/>
        </p:spPr>
        <p:txBody>
          <a:bodyPr wrap="square" rtlCol="0">
            <a:spAutoFit/>
          </a:bodyPr>
          <a:lstStyle/>
          <a:p>
            <a:pPr algn="ctr"/>
            <a:r>
              <a:rPr lang="en-US" sz="2800" dirty="0">
                <a:solidFill>
                  <a:schemeClr val="bg1"/>
                </a:solidFill>
                <a:latin typeface="Times New Roman" panose="02020603050405020304" pitchFamily="18" charset="0"/>
                <a:cs typeface="Times New Roman" panose="02020603050405020304" pitchFamily="18" charset="0"/>
              </a:rPr>
              <a:t>Virtually or Physically, the Communities must have access to equitable services. Every Community has a TeleCenter / Lens to supplement the local with the virtual service. </a:t>
            </a:r>
          </a:p>
        </p:txBody>
      </p:sp>
      <p:sp>
        <p:nvSpPr>
          <p:cNvPr id="27" name="Oval 26">
            <a:extLst>
              <a:ext uri="{FF2B5EF4-FFF2-40B4-BE49-F238E27FC236}">
                <a16:creationId xmlns:a16="http://schemas.microsoft.com/office/drawing/2014/main" id="{503EB2AD-076C-9436-5676-9B8E15E8E153}"/>
              </a:ext>
            </a:extLst>
          </p:cNvPr>
          <p:cNvSpPr/>
          <p:nvPr/>
        </p:nvSpPr>
        <p:spPr>
          <a:xfrm>
            <a:off x="1458642" y="3657029"/>
            <a:ext cx="2488799" cy="820815"/>
          </a:xfrm>
          <a:prstGeom prst="ellipse">
            <a:avLst/>
          </a:prstGeom>
          <a:solidFill>
            <a:schemeClr val="tx2">
              <a:lumMod val="75000"/>
              <a:lumOff val="25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atin typeface="Times New Roman" panose="02020603050405020304" pitchFamily="18" charset="0"/>
                <a:cs typeface="Times New Roman" panose="02020603050405020304" pitchFamily="18" charset="0"/>
              </a:rPr>
              <a:t>THE IAC</a:t>
            </a:r>
          </a:p>
        </p:txBody>
      </p:sp>
      <p:sp>
        <p:nvSpPr>
          <p:cNvPr id="29" name="Rectangle: Rounded Corners 28">
            <a:extLst>
              <a:ext uri="{FF2B5EF4-FFF2-40B4-BE49-F238E27FC236}">
                <a16:creationId xmlns:a16="http://schemas.microsoft.com/office/drawing/2014/main" id="{96200C8D-2DB7-78A3-39AF-1779403E9808}"/>
              </a:ext>
            </a:extLst>
          </p:cNvPr>
          <p:cNvSpPr/>
          <p:nvPr/>
        </p:nvSpPr>
        <p:spPr>
          <a:xfrm>
            <a:off x="9391971" y="6153150"/>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2" action="ppaction://hlinksldjump">
                  <a:extLst>
                    <a:ext uri="{A12FA001-AC4F-418D-AE19-62706E023703}">
                      <ahyp:hlinkClr xmlns:ahyp="http://schemas.microsoft.com/office/drawing/2018/hyperlinkcolor" val="tx"/>
                    </a:ext>
                  </a:extLst>
                </a:hlinkClick>
              </a:rPr>
              <a:t>Back To Presentation</a:t>
            </a:r>
            <a:endParaRPr lang="en-US" dirty="0">
              <a:solidFill>
                <a:schemeClr val="bg1"/>
              </a:solidFill>
              <a:latin typeface="Times New Roman" panose="02020603050405020304" pitchFamily="18" charset="0"/>
              <a:cs typeface="Times New Roman" panose="02020603050405020304" pitchFamily="18" charset="0"/>
            </a:endParaRPr>
          </a:p>
        </p:txBody>
      </p:sp>
      <p:cxnSp>
        <p:nvCxnSpPr>
          <p:cNvPr id="5" name="Straight Connector 4">
            <a:extLst>
              <a:ext uri="{FF2B5EF4-FFF2-40B4-BE49-F238E27FC236}">
                <a16:creationId xmlns:a16="http://schemas.microsoft.com/office/drawing/2014/main" id="{1BE0B4E7-98D7-6A40-5A5F-C7287E8A9AED}"/>
              </a:ext>
            </a:extLst>
          </p:cNvPr>
          <p:cNvCxnSpPr>
            <a:cxnSpLocks/>
            <a:stCxn id="27" idx="7"/>
            <a:endCxn id="24" idx="2"/>
          </p:cNvCxnSpPr>
          <p:nvPr/>
        </p:nvCxnSpPr>
        <p:spPr>
          <a:xfrm flipV="1">
            <a:off x="3582965" y="3153393"/>
            <a:ext cx="1180631" cy="623842"/>
          </a:xfrm>
          <a:prstGeom prst="line">
            <a:avLst/>
          </a:prstGeom>
          <a:ln w="76200">
            <a:solidFill>
              <a:schemeClr val="bg1"/>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AD46AC89-C8A7-D83A-4E80-33C95CAB5D55}"/>
              </a:ext>
            </a:extLst>
          </p:cNvPr>
          <p:cNvSpPr txBox="1"/>
          <p:nvPr/>
        </p:nvSpPr>
        <p:spPr>
          <a:xfrm>
            <a:off x="2247901" y="2626548"/>
            <a:ext cx="2890218" cy="646331"/>
          </a:xfrm>
          <a:prstGeom prst="rect">
            <a:avLst/>
          </a:prstGeom>
          <a:noFill/>
        </p:spPr>
        <p:txBody>
          <a:bodyPr wrap="square" rtlCol="0">
            <a:spAutoFit/>
          </a:bodyPr>
          <a:lstStyle/>
          <a:p>
            <a:r>
              <a:rPr lang="en-US" b="1" dirty="0">
                <a:solidFill>
                  <a:schemeClr val="bg1"/>
                </a:solidFill>
                <a:latin typeface="Times New Roman" panose="02020603050405020304" pitchFamily="18" charset="0"/>
                <a:cs typeface="Times New Roman" panose="02020603050405020304" pitchFamily="18" charset="0"/>
              </a:rPr>
              <a:t>SERVICE NEGOTIATION</a:t>
            </a:r>
          </a:p>
        </p:txBody>
      </p:sp>
      <p:sp>
        <p:nvSpPr>
          <p:cNvPr id="42" name="TextBox 41">
            <a:extLst>
              <a:ext uri="{FF2B5EF4-FFF2-40B4-BE49-F238E27FC236}">
                <a16:creationId xmlns:a16="http://schemas.microsoft.com/office/drawing/2014/main" id="{FBE74F65-3375-AC6C-04A3-C004D4E84658}"/>
              </a:ext>
            </a:extLst>
          </p:cNvPr>
          <p:cNvSpPr txBox="1"/>
          <p:nvPr/>
        </p:nvSpPr>
        <p:spPr>
          <a:xfrm>
            <a:off x="2918794" y="6884766"/>
            <a:ext cx="1188534" cy="646331"/>
          </a:xfrm>
          <a:prstGeom prst="rect">
            <a:avLst/>
          </a:prstGeom>
          <a:noFill/>
        </p:spPr>
        <p:txBody>
          <a:bodyPr wrap="square" rtlCol="0">
            <a:spAutoFit/>
          </a:bodyPr>
          <a:lstStyle/>
          <a:p>
            <a:r>
              <a:rPr lang="en-US" sz="900">
                <a:hlinkClick r:id="rId3" tooltip="https://toxifier.blogspot.com/2014/02/computer-maintenance-part-1-few-general.html"/>
              </a:rPr>
              <a:t>This Photo</a:t>
            </a:r>
            <a:r>
              <a:rPr lang="en-US" sz="900"/>
              <a:t> by Unknown Author is licensed under </a:t>
            </a:r>
            <a:r>
              <a:rPr lang="en-US" sz="900">
                <a:hlinkClick r:id="rId4" tooltip="https://creativecommons.org/licenses/by-nc-nd/3.0/"/>
              </a:rPr>
              <a:t>CC BY-NC-ND</a:t>
            </a:r>
            <a:endParaRPr lang="en-US" sz="900"/>
          </a:p>
        </p:txBody>
      </p:sp>
      <p:cxnSp>
        <p:nvCxnSpPr>
          <p:cNvPr id="44" name="Straight Arrow Connector 43">
            <a:extLst>
              <a:ext uri="{FF2B5EF4-FFF2-40B4-BE49-F238E27FC236}">
                <a16:creationId xmlns:a16="http://schemas.microsoft.com/office/drawing/2014/main" id="{3AF0378B-557B-E3F2-F18B-E1334A97907A}"/>
              </a:ext>
            </a:extLst>
          </p:cNvPr>
          <p:cNvCxnSpPr>
            <a:stCxn id="22" idx="6"/>
          </p:cNvCxnSpPr>
          <p:nvPr/>
        </p:nvCxnSpPr>
        <p:spPr>
          <a:xfrm flipV="1">
            <a:off x="7566882" y="4129438"/>
            <a:ext cx="1358043" cy="732180"/>
          </a:xfrm>
          <a:prstGeom prst="straightConnector1">
            <a:avLst/>
          </a:prstGeom>
          <a:ln w="57150">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0E3802CF-9648-CD5D-AB68-FDBE7FF0FEE9}"/>
              </a:ext>
            </a:extLst>
          </p:cNvPr>
          <p:cNvCxnSpPr>
            <a:cxnSpLocks/>
            <a:stCxn id="22" idx="2"/>
            <a:endCxn id="27" idx="5"/>
          </p:cNvCxnSpPr>
          <p:nvPr/>
        </p:nvCxnSpPr>
        <p:spPr>
          <a:xfrm flipH="1" flipV="1">
            <a:off x="3582965" y="4357638"/>
            <a:ext cx="1334474" cy="503980"/>
          </a:xfrm>
          <a:prstGeom prst="straightConnector1">
            <a:avLst/>
          </a:prstGeom>
          <a:ln w="57150">
            <a:solidFill>
              <a:schemeClr val="bg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2782655E-E9D7-27DA-98B4-DC8C687AED16}"/>
              </a:ext>
            </a:extLst>
          </p:cNvPr>
          <p:cNvCxnSpPr>
            <a:cxnSpLocks/>
            <a:stCxn id="20" idx="1"/>
            <a:endCxn id="24" idx="6"/>
          </p:cNvCxnSpPr>
          <p:nvPr/>
        </p:nvCxnSpPr>
        <p:spPr>
          <a:xfrm flipH="1" flipV="1">
            <a:off x="7569968" y="3153393"/>
            <a:ext cx="1239120" cy="424259"/>
          </a:xfrm>
          <a:prstGeom prst="straightConnector1">
            <a:avLst/>
          </a:prstGeom>
          <a:ln w="57150">
            <a:solidFill>
              <a:schemeClr val="bg1"/>
            </a:solidFill>
            <a:tailEnd type="triangle"/>
          </a:ln>
        </p:spPr>
        <p:style>
          <a:lnRef idx="2">
            <a:schemeClr val="accent1"/>
          </a:lnRef>
          <a:fillRef idx="0">
            <a:schemeClr val="accent1"/>
          </a:fillRef>
          <a:effectRef idx="1">
            <a:schemeClr val="accent1"/>
          </a:effectRef>
          <a:fontRef idx="minor">
            <a:schemeClr val="tx1"/>
          </a:fontRef>
        </p:style>
      </p:cxnSp>
      <p:pic>
        <p:nvPicPr>
          <p:cNvPr id="41" name="Picture 40">
            <a:extLst>
              <a:ext uri="{FF2B5EF4-FFF2-40B4-BE49-F238E27FC236}">
                <a16:creationId xmlns:a16="http://schemas.microsoft.com/office/drawing/2014/main" id="{D7D1874E-9EF8-7393-787B-65010F3F9402}"/>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4002305" y="4270198"/>
            <a:ext cx="696812" cy="696812"/>
          </a:xfrm>
          <a:prstGeom prst="rect">
            <a:avLst/>
          </a:prstGeom>
        </p:spPr>
      </p:pic>
      <p:pic>
        <p:nvPicPr>
          <p:cNvPr id="33" name="Picture 32">
            <a:extLst>
              <a:ext uri="{FF2B5EF4-FFF2-40B4-BE49-F238E27FC236}">
                <a16:creationId xmlns:a16="http://schemas.microsoft.com/office/drawing/2014/main" id="{C9EE9EA0-484C-460A-6B30-4877D7F74ED0}"/>
              </a:ext>
            </a:extLst>
          </p:cNvPr>
          <p:cNvPicPr>
            <a:picLocks noChangeAspect="1"/>
          </p:cNvPicPr>
          <p:nvPr/>
        </p:nvPicPr>
        <p:blipFill>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tretch>
            <a:fillRect/>
          </a:stretch>
        </p:blipFill>
        <p:spPr>
          <a:xfrm>
            <a:off x="7774146" y="4205301"/>
            <a:ext cx="860931" cy="576274"/>
          </a:xfrm>
          <a:prstGeom prst="rect">
            <a:avLst/>
          </a:prstGeom>
        </p:spPr>
      </p:pic>
      <p:pic>
        <p:nvPicPr>
          <p:cNvPr id="36" name="Picture 35">
            <a:extLst>
              <a:ext uri="{FF2B5EF4-FFF2-40B4-BE49-F238E27FC236}">
                <a16:creationId xmlns:a16="http://schemas.microsoft.com/office/drawing/2014/main" id="{D5E21CFD-10C7-DD08-F1CC-14EC3045B9F1}"/>
              </a:ext>
            </a:extLst>
          </p:cNvPr>
          <p:cNvPicPr>
            <a:picLocks noChangeAspect="1"/>
          </p:cNvPicPr>
          <p:nvPr/>
        </p:nvPicPr>
        <p:blipFill>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tretch>
            <a:fillRect/>
          </a:stretch>
        </p:blipFill>
        <p:spPr>
          <a:xfrm flipH="1">
            <a:off x="7774145" y="3221132"/>
            <a:ext cx="741147" cy="471475"/>
          </a:xfrm>
          <a:prstGeom prst="rect">
            <a:avLst/>
          </a:prstGeom>
        </p:spPr>
      </p:pic>
      <p:pic>
        <p:nvPicPr>
          <p:cNvPr id="55" name="Picture 54">
            <a:extLst>
              <a:ext uri="{FF2B5EF4-FFF2-40B4-BE49-F238E27FC236}">
                <a16:creationId xmlns:a16="http://schemas.microsoft.com/office/drawing/2014/main" id="{DCF93A81-7694-7B47-5508-2BF2013785DD}"/>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3842020" y="3156622"/>
            <a:ext cx="696812" cy="696812"/>
          </a:xfrm>
          <a:prstGeom prst="rect">
            <a:avLst/>
          </a:prstGeom>
        </p:spPr>
      </p:pic>
    </p:spTree>
    <p:extLst>
      <p:ext uri="{BB962C8B-B14F-4D97-AF65-F5344CB8AC3E}">
        <p14:creationId xmlns:p14="http://schemas.microsoft.com/office/powerpoint/2010/main" val="27813661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E38AA7B2-8855-7CC7-ED98-DDCDE0C5617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043331" y="554093"/>
            <a:ext cx="7772432" cy="5330031"/>
          </a:xfrm>
          <a:prstGeom prst="rect">
            <a:avLst/>
          </a:prstGeom>
        </p:spPr>
      </p:pic>
      <p:sp>
        <p:nvSpPr>
          <p:cNvPr id="5" name="Rectangle: Rounded Corners 4">
            <a:extLst>
              <a:ext uri="{FF2B5EF4-FFF2-40B4-BE49-F238E27FC236}">
                <a16:creationId xmlns:a16="http://schemas.microsoft.com/office/drawing/2014/main" id="{9E5763B1-957D-94B2-2AD7-B93834D85E58}"/>
              </a:ext>
            </a:extLst>
          </p:cNvPr>
          <p:cNvSpPr/>
          <p:nvPr/>
        </p:nvSpPr>
        <p:spPr>
          <a:xfrm>
            <a:off x="447675" y="1057276"/>
            <a:ext cx="3067050" cy="4733924"/>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Action Button: Go to End 5">
            <a:hlinkClick r:id="" action="ppaction://hlinkshowjump?jump=nextslide" highlightClick="1"/>
            <a:extLst>
              <a:ext uri="{FF2B5EF4-FFF2-40B4-BE49-F238E27FC236}">
                <a16:creationId xmlns:a16="http://schemas.microsoft.com/office/drawing/2014/main" id="{EDB2670B-20F7-03FE-E264-5F3EA0E68D58}"/>
              </a:ext>
            </a:extLst>
          </p:cNvPr>
          <p:cNvSpPr/>
          <p:nvPr/>
        </p:nvSpPr>
        <p:spPr>
          <a:xfrm>
            <a:off x="12556332" y="54292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64676787-F62C-7BC1-69AC-D220D0C1E9D2}"/>
              </a:ext>
            </a:extLst>
          </p:cNvPr>
          <p:cNvSpPr txBox="1"/>
          <p:nvPr/>
        </p:nvSpPr>
        <p:spPr>
          <a:xfrm>
            <a:off x="0" y="57834"/>
            <a:ext cx="12192000" cy="1200329"/>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A. HYBRID SOLUTION- PLAN &amp; IMPLEMENT Implement</a:t>
            </a:r>
          </a:p>
        </p:txBody>
      </p:sp>
      <p:cxnSp>
        <p:nvCxnSpPr>
          <p:cNvPr id="8" name="Straight Connector 7">
            <a:extLst>
              <a:ext uri="{FF2B5EF4-FFF2-40B4-BE49-F238E27FC236}">
                <a16:creationId xmlns:a16="http://schemas.microsoft.com/office/drawing/2014/main" id="{708810DC-5036-C445-A0A2-B50A5DB98EC2}"/>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90B7E1D-8435-2646-B338-9D4A16BFB2A2}"/>
              </a:ext>
            </a:extLst>
          </p:cNvPr>
          <p:cNvSpPr txBox="1"/>
          <p:nvPr/>
        </p:nvSpPr>
        <p:spPr>
          <a:xfrm>
            <a:off x="561975" y="1485900"/>
            <a:ext cx="2781300" cy="3477875"/>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All Sectors rely on silos, but TCR believes they are inefficient, ineffective and counterproductive.  Accordingly, the WVP integrates ALL organizational stakeholders/departments to maximize fiscal and operational outcomes</a:t>
            </a:r>
          </a:p>
        </p:txBody>
      </p:sp>
      <p:sp>
        <p:nvSpPr>
          <p:cNvPr id="2" name="Action Button: Go Forward or Next 1">
            <a:hlinkClick r:id="" action="ppaction://hlinkshowjump?jump=nextslide" highlightClick="1"/>
            <a:extLst>
              <a:ext uri="{FF2B5EF4-FFF2-40B4-BE49-F238E27FC236}">
                <a16:creationId xmlns:a16="http://schemas.microsoft.com/office/drawing/2014/main" id="{C65FCC8D-E3BA-C5DD-95CE-50D301D34382}"/>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CF070B77-2198-069E-3747-C52F1F5D9C40}"/>
              </a:ext>
            </a:extLst>
          </p:cNvPr>
          <p:cNvCxnSpPr>
            <a:cxnSpLocks/>
          </p:cNvCxnSpPr>
          <p:nvPr/>
        </p:nvCxnSpPr>
        <p:spPr>
          <a:xfrm>
            <a:off x="-117753" y="6029325"/>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2EB06B7-216B-4614-4BB1-61F523F454AB}"/>
              </a:ext>
            </a:extLst>
          </p:cNvPr>
          <p:cNvSpPr txBox="1"/>
          <p:nvPr/>
        </p:nvSpPr>
        <p:spPr>
          <a:xfrm>
            <a:off x="114300" y="6134785"/>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Tree>
    <p:extLst>
      <p:ext uri="{BB962C8B-B14F-4D97-AF65-F5344CB8AC3E}">
        <p14:creationId xmlns:p14="http://schemas.microsoft.com/office/powerpoint/2010/main" val="15477454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E5763B1-957D-94B2-2AD7-B93834D85E58}"/>
              </a:ext>
            </a:extLst>
          </p:cNvPr>
          <p:cNvSpPr/>
          <p:nvPr/>
        </p:nvSpPr>
        <p:spPr>
          <a:xfrm>
            <a:off x="210208" y="1057276"/>
            <a:ext cx="4361792" cy="4733924"/>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Action Button: Go to End 5">
            <a:hlinkClick r:id="" action="ppaction://hlinkshowjump?jump=nextslide" highlightClick="1"/>
            <a:extLst>
              <a:ext uri="{FF2B5EF4-FFF2-40B4-BE49-F238E27FC236}">
                <a16:creationId xmlns:a16="http://schemas.microsoft.com/office/drawing/2014/main" id="{EDB2670B-20F7-03FE-E264-5F3EA0E68D58}"/>
              </a:ext>
            </a:extLst>
          </p:cNvPr>
          <p:cNvSpPr/>
          <p:nvPr/>
        </p:nvSpPr>
        <p:spPr>
          <a:xfrm>
            <a:off x="12556332" y="54292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64676787-F62C-7BC1-69AC-D220D0C1E9D2}"/>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B. STRATEGIC-  NOT AD HOC</a:t>
            </a:r>
          </a:p>
        </p:txBody>
      </p:sp>
      <p:cxnSp>
        <p:nvCxnSpPr>
          <p:cNvPr id="8" name="Straight Connector 7">
            <a:extLst>
              <a:ext uri="{FF2B5EF4-FFF2-40B4-BE49-F238E27FC236}">
                <a16:creationId xmlns:a16="http://schemas.microsoft.com/office/drawing/2014/main" id="{708810DC-5036-C445-A0A2-B50A5DB98EC2}"/>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90B7E1D-8435-2646-B338-9D4A16BFB2A2}"/>
              </a:ext>
            </a:extLst>
          </p:cNvPr>
          <p:cNvSpPr txBox="1"/>
          <p:nvPr/>
        </p:nvSpPr>
        <p:spPr>
          <a:xfrm>
            <a:off x="290678" y="1223635"/>
            <a:ext cx="4200852" cy="4401205"/>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After fifty years of telework, we still have no standards, no policy database no nothing.</a:t>
            </a:r>
          </a:p>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Employers retain their legacy investments, fail to adequately develop a virtual culture or to create a comprehensive evaluation process. </a:t>
            </a:r>
          </a:p>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THE WVP is designed to right-size facilities, enhance fiscal and operational performance while supporting MPO and Community Needs</a:t>
            </a:r>
          </a:p>
        </p:txBody>
      </p:sp>
      <p:sp>
        <p:nvSpPr>
          <p:cNvPr id="2" name="Action Button: Go Forward or Next 1">
            <a:hlinkClick r:id="" action="ppaction://hlinkshowjump?jump=nextslide" highlightClick="1"/>
            <a:extLst>
              <a:ext uri="{FF2B5EF4-FFF2-40B4-BE49-F238E27FC236}">
                <a16:creationId xmlns:a16="http://schemas.microsoft.com/office/drawing/2014/main" id="{C65FCC8D-E3BA-C5DD-95CE-50D301D34382}"/>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CF070B77-2198-069E-3747-C52F1F5D9C40}"/>
              </a:ext>
            </a:extLst>
          </p:cNvPr>
          <p:cNvCxnSpPr>
            <a:cxnSpLocks/>
          </p:cNvCxnSpPr>
          <p:nvPr/>
        </p:nvCxnSpPr>
        <p:spPr>
          <a:xfrm>
            <a:off x="-117753" y="6029325"/>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2EB06B7-216B-4614-4BB1-61F523F454AB}"/>
              </a:ext>
            </a:extLst>
          </p:cNvPr>
          <p:cNvSpPr txBox="1"/>
          <p:nvPr/>
        </p:nvSpPr>
        <p:spPr>
          <a:xfrm>
            <a:off x="114300" y="6134785"/>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pic>
        <p:nvPicPr>
          <p:cNvPr id="14" name="Picture 13">
            <a:extLst>
              <a:ext uri="{FF2B5EF4-FFF2-40B4-BE49-F238E27FC236}">
                <a16:creationId xmlns:a16="http://schemas.microsoft.com/office/drawing/2014/main" id="{08EAB66C-3375-3D79-66A1-A6AF1E1F42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93531" y="996294"/>
            <a:ext cx="6855445" cy="4804431"/>
          </a:xfrm>
          <a:prstGeom prst="rect">
            <a:avLst/>
          </a:prstGeom>
        </p:spPr>
      </p:pic>
    </p:spTree>
    <p:extLst>
      <p:ext uri="{BB962C8B-B14F-4D97-AF65-F5344CB8AC3E}">
        <p14:creationId xmlns:p14="http://schemas.microsoft.com/office/powerpoint/2010/main" val="2275559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B09EC931-3941-10E1-BE55-196CCD542A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27335" y="1019340"/>
            <a:ext cx="4118253" cy="4694808"/>
          </a:xfrm>
          <a:prstGeom prst="rect">
            <a:avLst/>
          </a:prstGeom>
        </p:spPr>
      </p:pic>
      <p:sp>
        <p:nvSpPr>
          <p:cNvPr id="6" name="Rectangle: Rounded Corners 5">
            <a:extLst>
              <a:ext uri="{FF2B5EF4-FFF2-40B4-BE49-F238E27FC236}">
                <a16:creationId xmlns:a16="http://schemas.microsoft.com/office/drawing/2014/main" id="{630FF639-4327-0340-54F8-4651AAF1909C}"/>
              </a:ext>
            </a:extLst>
          </p:cNvPr>
          <p:cNvSpPr/>
          <p:nvPr/>
        </p:nvSpPr>
        <p:spPr>
          <a:xfrm>
            <a:off x="447674" y="1057275"/>
            <a:ext cx="6131802" cy="479107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Action Button: Go to End 7">
            <a:hlinkClick r:id="" action="ppaction://hlinkshowjump?jump=nextslide" highlightClick="1"/>
            <a:extLst>
              <a:ext uri="{FF2B5EF4-FFF2-40B4-BE49-F238E27FC236}">
                <a16:creationId xmlns:a16="http://schemas.microsoft.com/office/drawing/2014/main" id="{48506DAE-69C5-D742-72BA-5384B19AE734}"/>
              </a:ext>
            </a:extLst>
          </p:cNvPr>
          <p:cNvSpPr/>
          <p:nvPr/>
        </p:nvSpPr>
        <p:spPr>
          <a:xfrm>
            <a:off x="12832557" y="518160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7E65F459-F500-90C8-872F-F00FA91C06D5}"/>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C. CONTINUITY &amp; DISASTER RECOVERY BASED ROI</a:t>
            </a:r>
          </a:p>
        </p:txBody>
      </p:sp>
      <p:cxnSp>
        <p:nvCxnSpPr>
          <p:cNvPr id="12" name="Straight Connector 11">
            <a:extLst>
              <a:ext uri="{FF2B5EF4-FFF2-40B4-BE49-F238E27FC236}">
                <a16:creationId xmlns:a16="http://schemas.microsoft.com/office/drawing/2014/main" id="{D3D058C2-7FB4-4638-DFFF-A73E6FFB7496}"/>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80109BA1-2984-66C2-8BDE-5CF749785384}"/>
              </a:ext>
            </a:extLst>
          </p:cNvPr>
          <p:cNvSpPr txBox="1"/>
          <p:nvPr/>
        </p:nvSpPr>
        <p:spPr>
          <a:xfrm>
            <a:off x="713142" y="1320030"/>
            <a:ext cx="5600865" cy="4093428"/>
          </a:xfrm>
          <a:prstGeom prst="rect">
            <a:avLst/>
          </a:prstGeom>
          <a:noFill/>
        </p:spPr>
        <p:txBody>
          <a:bodyPr wrap="square" rtlCol="0">
            <a:spAutoFit/>
          </a:bodyPr>
          <a:lstStyle/>
          <a:p>
            <a:pPr marL="284163" indent="-284163">
              <a:buFont typeface="+mj-lt"/>
              <a:buAutoNum type="arabicPeriod"/>
            </a:pPr>
            <a:r>
              <a:rPr lang="en-US" sz="2000" dirty="0">
                <a:solidFill>
                  <a:schemeClr val="bg1"/>
                </a:solidFill>
                <a:latin typeface="Times New Roman" panose="02020603050405020304" pitchFamily="18" charset="0"/>
                <a:cs typeface="Times New Roman" panose="02020603050405020304" pitchFamily="18" charset="0"/>
              </a:rPr>
              <a:t>TCR’s Vulnerability Audit provides support to ensure your continuity workers are outside of the same threat area as their facility</a:t>
            </a:r>
          </a:p>
          <a:p>
            <a:pPr marL="284163" indent="-284163">
              <a:buFont typeface="+mj-lt"/>
              <a:buAutoNum type="arabicPeriod"/>
            </a:pPr>
            <a:r>
              <a:rPr lang="en-US" sz="2000" dirty="0">
                <a:solidFill>
                  <a:schemeClr val="bg1"/>
                </a:solidFill>
                <a:latin typeface="Times New Roman" panose="02020603050405020304" pitchFamily="18" charset="0"/>
                <a:cs typeface="Times New Roman" panose="02020603050405020304" pitchFamily="18" charset="0"/>
              </a:rPr>
              <a:t>The system is exercised daily</a:t>
            </a:r>
          </a:p>
          <a:p>
            <a:pPr marL="284163" indent="-284163">
              <a:buFont typeface="+mj-lt"/>
              <a:buAutoNum type="arabicPeriod"/>
            </a:pPr>
            <a:r>
              <a:rPr lang="en-US" sz="2000" dirty="0">
                <a:solidFill>
                  <a:schemeClr val="bg1"/>
                </a:solidFill>
                <a:latin typeface="Times New Roman" panose="02020603050405020304" pitchFamily="18" charset="0"/>
                <a:cs typeface="Times New Roman" panose="02020603050405020304" pitchFamily="18" charset="0"/>
              </a:rPr>
              <a:t>It saves money!, and</a:t>
            </a:r>
          </a:p>
          <a:p>
            <a:pPr marL="284163" indent="-284163">
              <a:buFont typeface="+mj-lt"/>
              <a:buAutoNum type="arabicPeriod"/>
            </a:pPr>
            <a:r>
              <a:rPr lang="en-US" sz="2000" dirty="0">
                <a:solidFill>
                  <a:schemeClr val="bg1"/>
                </a:solidFill>
                <a:latin typeface="Times New Roman" panose="02020603050405020304" pitchFamily="18" charset="0"/>
                <a:cs typeface="Times New Roman" panose="02020603050405020304" pitchFamily="18" charset="0"/>
              </a:rPr>
              <a:t>It allows continuity workers et.al. to relocate if that is their choice.</a:t>
            </a:r>
          </a:p>
          <a:p>
            <a:pPr marL="284163" indent="-284163">
              <a:buFont typeface="+mj-lt"/>
              <a:buAutoNum type="arabicPeriod"/>
            </a:pP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TCR’s Feasibility Assessment examines your staff’s awareness of their continuity roles, the requisite recovery environment and how much time they have to recover their activities before the challenge becomes a full-fledged crisis.</a:t>
            </a:r>
          </a:p>
        </p:txBody>
      </p:sp>
      <p:sp>
        <p:nvSpPr>
          <p:cNvPr id="2" name="Action Button: Go Forward or Next 1">
            <a:hlinkClick r:id="" action="ppaction://hlinkshowjump?jump=nextslide" highlightClick="1"/>
            <a:extLst>
              <a:ext uri="{FF2B5EF4-FFF2-40B4-BE49-F238E27FC236}">
                <a16:creationId xmlns:a16="http://schemas.microsoft.com/office/drawing/2014/main" id="{4F606FCA-94F2-416F-6E38-81F792689A7F}"/>
              </a:ext>
            </a:extLst>
          </p:cNvPr>
          <p:cNvSpPr/>
          <p:nvPr/>
        </p:nvSpPr>
        <p:spPr>
          <a:xfrm>
            <a:off x="12944475" y="4139625"/>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A155DA0C-B82D-005D-18B0-CCF48DF8BDEE}"/>
              </a:ext>
            </a:extLst>
          </p:cNvPr>
          <p:cNvCxnSpPr>
            <a:cxnSpLocks/>
          </p:cNvCxnSpPr>
          <p:nvPr/>
        </p:nvCxnSpPr>
        <p:spPr>
          <a:xfrm>
            <a:off x="-117753" y="6029325"/>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17D1FAE4-17F1-2706-75B4-FFC1731EECD0}"/>
              </a:ext>
            </a:extLst>
          </p:cNvPr>
          <p:cNvSpPr txBox="1"/>
          <p:nvPr/>
        </p:nvSpPr>
        <p:spPr>
          <a:xfrm>
            <a:off x="114300" y="6134785"/>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5" name="Action Button: Go Forward or Next 4">
            <a:hlinkClick r:id="" action="ppaction://hlinkshowjump?jump=nextslide" highlightClick="1"/>
            <a:extLst>
              <a:ext uri="{FF2B5EF4-FFF2-40B4-BE49-F238E27FC236}">
                <a16:creationId xmlns:a16="http://schemas.microsoft.com/office/drawing/2014/main" id="{3B778F3C-8D69-EC9E-37DE-E786C3CBA3B3}"/>
              </a:ext>
            </a:extLst>
          </p:cNvPr>
          <p:cNvSpPr/>
          <p:nvPr/>
        </p:nvSpPr>
        <p:spPr>
          <a:xfrm>
            <a:off x="12432507" y="6282750"/>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Rounded Corners 6">
            <a:extLst>
              <a:ext uri="{FF2B5EF4-FFF2-40B4-BE49-F238E27FC236}">
                <a16:creationId xmlns:a16="http://schemas.microsoft.com/office/drawing/2014/main" id="{0DA68B15-5E59-73BE-ED68-0B8763C99E3B}"/>
              </a:ext>
            </a:extLst>
          </p:cNvPr>
          <p:cNvSpPr/>
          <p:nvPr/>
        </p:nvSpPr>
        <p:spPr>
          <a:xfrm>
            <a:off x="10175496" y="6157518"/>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3" action="ppaction://hlinksldjump">
                  <a:extLst>
                    <a:ext uri="{A12FA001-AC4F-418D-AE19-62706E023703}">
                      <ahyp:hlinkClr xmlns:ahyp="http://schemas.microsoft.com/office/drawing/2018/hyperlinkcolor" val="tx"/>
                    </a:ext>
                  </a:extLst>
                </a:hlinkClick>
              </a:rPr>
              <a:t>Back To Presentation</a:t>
            </a:r>
            <a:endParaRPr lang="en-US"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05741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95818"/>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A. THE COMMUNITY WELLNESS AUDIT</a:t>
            </a:r>
          </a:p>
        </p:txBody>
      </p:sp>
      <p:pic>
        <p:nvPicPr>
          <p:cNvPr id="8" name="Picture 7">
            <a:extLst>
              <a:ext uri="{FF2B5EF4-FFF2-40B4-BE49-F238E27FC236}">
                <a16:creationId xmlns:a16="http://schemas.microsoft.com/office/drawing/2014/main" id="{71A098EA-DC20-DAFE-F140-A7A55345B2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5382" y="978894"/>
            <a:ext cx="10061236" cy="3143007"/>
          </a:xfrm>
          <a:prstGeom prst="rect">
            <a:avLst/>
          </a:prstGeom>
        </p:spPr>
      </p:pic>
      <p:sp>
        <p:nvSpPr>
          <p:cNvPr id="6" name="TextBox 5">
            <a:extLst>
              <a:ext uri="{FF2B5EF4-FFF2-40B4-BE49-F238E27FC236}">
                <a16:creationId xmlns:a16="http://schemas.microsoft.com/office/drawing/2014/main" id="{4E919691-2440-B702-D8E2-C140AE9EC8C4}"/>
              </a:ext>
            </a:extLst>
          </p:cNvPr>
          <p:cNvSpPr txBox="1"/>
          <p:nvPr/>
        </p:nvSpPr>
        <p:spPr>
          <a:xfrm>
            <a:off x="523875" y="4377464"/>
            <a:ext cx="11344478" cy="1200329"/>
          </a:xfrm>
          <a:prstGeom prst="rect">
            <a:avLst/>
          </a:prstGeom>
          <a:noFill/>
        </p:spPr>
        <p:txBody>
          <a:bodyPr wrap="square" rtlCol="0">
            <a:spAutoFit/>
          </a:bodyPr>
          <a:lstStyle/>
          <a:p>
            <a:r>
              <a:rPr lang="en-US" sz="18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Most importantly, the calculator allows the IAC to research common challenges, develop a solution to that condition and distribute it to all affected communities.  This approach eliminates the agency / foundation approach of requiring each affected entity to compete for the funds to address a solution exclusively for their entity.</a:t>
            </a:r>
          </a:p>
          <a:p>
            <a:endParaRPr lang="en-US" dirty="0"/>
          </a:p>
        </p:txBody>
      </p:sp>
      <p:cxnSp>
        <p:nvCxnSpPr>
          <p:cNvPr id="4" name="Straight Connector 3">
            <a:extLst>
              <a:ext uri="{FF2B5EF4-FFF2-40B4-BE49-F238E27FC236}">
                <a16:creationId xmlns:a16="http://schemas.microsoft.com/office/drawing/2014/main" id="{4BF1AE48-A82F-570C-F2F9-92D5607B2089}"/>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81AAA52D-F7B9-65AE-C0AE-EE64D90B97F8}"/>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2" name="Action Button: Go Forward or Next 1">
            <a:hlinkClick r:id="" action="ppaction://hlinkshowjump?jump=nextslide" highlightClick="1"/>
            <a:extLst>
              <a:ext uri="{FF2B5EF4-FFF2-40B4-BE49-F238E27FC236}">
                <a16:creationId xmlns:a16="http://schemas.microsoft.com/office/drawing/2014/main" id="{DCE8E018-6805-DD7E-1EAA-411912B95330}"/>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4577215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2433637" y="158175"/>
            <a:ext cx="7124700" cy="707886"/>
          </a:xfrm>
          <a:prstGeom prst="rect">
            <a:avLst/>
          </a:prstGeom>
          <a:noFill/>
        </p:spPr>
        <p:txBody>
          <a:bodyPr wrap="square" rtlCol="0">
            <a:spAutoFit/>
          </a:bodyPr>
          <a:lstStyle/>
          <a:p>
            <a:pPr algn="ctr"/>
            <a:r>
              <a:rPr lang="en-US" sz="4000" b="1" dirty="0">
                <a:solidFill>
                  <a:schemeClr val="bg1"/>
                </a:solidFill>
                <a:latin typeface="Times New Roman" panose="02020603050405020304" pitchFamily="18" charset="0"/>
                <a:cs typeface="Times New Roman" panose="02020603050405020304" pitchFamily="18" charset="0"/>
              </a:rPr>
              <a:t>B. STRATEGIC ANALYSIS</a:t>
            </a:r>
          </a:p>
        </p:txBody>
      </p:sp>
      <p:pic>
        <p:nvPicPr>
          <p:cNvPr id="2" name="Picture 1">
            <a:extLst>
              <a:ext uri="{FF2B5EF4-FFF2-40B4-BE49-F238E27FC236}">
                <a16:creationId xmlns:a16="http://schemas.microsoft.com/office/drawing/2014/main" id="{79D5419B-62AD-95B7-9C90-16D832B1B6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0026" y="1148906"/>
            <a:ext cx="5565000" cy="3710000"/>
          </a:xfrm>
          <a:prstGeom prst="rect">
            <a:avLst/>
          </a:prstGeom>
        </p:spPr>
      </p:pic>
      <p:sp>
        <p:nvSpPr>
          <p:cNvPr id="3" name="Rectangle: Rounded Corners 2">
            <a:extLst>
              <a:ext uri="{FF2B5EF4-FFF2-40B4-BE49-F238E27FC236}">
                <a16:creationId xmlns:a16="http://schemas.microsoft.com/office/drawing/2014/main" id="{0D54F317-2761-F64B-2B60-03E87B8127BC}"/>
              </a:ext>
            </a:extLst>
          </p:cNvPr>
          <p:cNvSpPr/>
          <p:nvPr/>
        </p:nvSpPr>
        <p:spPr>
          <a:xfrm>
            <a:off x="12766296" y="4986340"/>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cs typeface="Times New Roman" panose="02020603050405020304" pitchFamily="18" charset="0"/>
              </a:rPr>
              <a:t>Explore the Viability Index</a:t>
            </a:r>
          </a:p>
        </p:txBody>
      </p:sp>
      <p:sp>
        <p:nvSpPr>
          <p:cNvPr id="4" name="TextBox 3">
            <a:extLst>
              <a:ext uri="{FF2B5EF4-FFF2-40B4-BE49-F238E27FC236}">
                <a16:creationId xmlns:a16="http://schemas.microsoft.com/office/drawing/2014/main" id="{DC580539-A762-4433-D0AE-0FFDC08AA8F6}"/>
              </a:ext>
            </a:extLst>
          </p:cNvPr>
          <p:cNvSpPr txBox="1"/>
          <p:nvPr/>
        </p:nvSpPr>
        <p:spPr>
          <a:xfrm>
            <a:off x="6096000" y="1059120"/>
            <a:ext cx="5986462" cy="2369880"/>
          </a:xfrm>
          <a:prstGeom prst="rect">
            <a:avLst/>
          </a:prstGeom>
          <a:noFill/>
        </p:spPr>
        <p:txBody>
          <a:bodyPr wrap="square" rtlCol="0">
            <a:spAutoFit/>
          </a:bodyPr>
          <a:lstStyle/>
          <a:p>
            <a:pPr algn="ctr"/>
            <a:r>
              <a:rPr lang="en-US" sz="2800" b="1" dirty="0">
                <a:solidFill>
                  <a:schemeClr val="bg1"/>
                </a:solidFill>
                <a:latin typeface="Times New Roman" panose="02020603050405020304" pitchFamily="18" charset="0"/>
                <a:cs typeface="Times New Roman" panose="02020603050405020304" pitchFamily="18" charset="0"/>
              </a:rPr>
              <a:t>THE CALCULATOR</a:t>
            </a:r>
          </a:p>
          <a:p>
            <a:pPr marL="342900" indent="-342900">
              <a:buFont typeface="Arial" panose="020B0604020202020204" pitchFamily="34" charset="0"/>
              <a:buChar char="•"/>
            </a:pPr>
            <a:r>
              <a:rPr lang="en-US" sz="2400" b="1" dirty="0">
                <a:solidFill>
                  <a:schemeClr val="bg1"/>
                </a:solidFill>
                <a:latin typeface="Times New Roman" panose="02020603050405020304" pitchFamily="18" charset="0"/>
                <a:cs typeface="Times New Roman" panose="02020603050405020304" pitchFamily="18" charset="0"/>
              </a:rPr>
              <a:t>Weighting System- built by e-Consensus, </a:t>
            </a:r>
          </a:p>
          <a:p>
            <a:pPr marL="342900" indent="-342900">
              <a:buFont typeface="Arial" panose="020B0604020202020204" pitchFamily="34" charset="0"/>
              <a:buChar char="•"/>
            </a:pPr>
            <a:r>
              <a:rPr lang="en-US" sz="2400" b="1" dirty="0">
                <a:solidFill>
                  <a:schemeClr val="bg1"/>
                </a:solidFill>
                <a:latin typeface="Times New Roman" panose="02020603050405020304" pitchFamily="18" charset="0"/>
                <a:cs typeface="Times New Roman" panose="02020603050405020304" pitchFamily="18" charset="0"/>
              </a:rPr>
              <a:t>Values- Researched by Viability Index,</a:t>
            </a:r>
          </a:p>
          <a:p>
            <a:pPr marL="342900" indent="-342900">
              <a:buFont typeface="Arial" panose="020B0604020202020204" pitchFamily="34" charset="0"/>
              <a:buChar char="•"/>
            </a:pPr>
            <a:r>
              <a:rPr lang="en-US" sz="2400" b="1" dirty="0">
                <a:solidFill>
                  <a:schemeClr val="bg1"/>
                </a:solidFill>
                <a:latin typeface="Times New Roman" panose="02020603050405020304" pitchFamily="18" charset="0"/>
                <a:cs typeface="Times New Roman" panose="02020603050405020304" pitchFamily="18" charset="0"/>
              </a:rPr>
              <a:t>Profiles- Developed by The Lens</a:t>
            </a:r>
          </a:p>
          <a:p>
            <a:pPr marL="342900" indent="-342900">
              <a:buFont typeface="Arial" panose="020B0604020202020204" pitchFamily="34" charset="0"/>
              <a:buChar char="•"/>
            </a:pPr>
            <a:r>
              <a:rPr lang="en-US" sz="2400" b="1" dirty="0">
                <a:solidFill>
                  <a:schemeClr val="bg1"/>
                </a:solidFill>
                <a:latin typeface="Times New Roman" panose="02020603050405020304" pitchFamily="18" charset="0"/>
                <a:cs typeface="Times New Roman" panose="02020603050405020304" pitchFamily="18" charset="0"/>
              </a:rPr>
              <a:t>Visualization- by Geo-Mapping</a:t>
            </a:r>
          </a:p>
          <a:p>
            <a:pPr marL="342900" indent="-342900">
              <a:buFont typeface="Arial" panose="020B0604020202020204" pitchFamily="34" charset="0"/>
              <a:buChar char="•"/>
            </a:pPr>
            <a:endParaRPr lang="en-US" sz="2400" b="1" dirty="0">
              <a:solidFill>
                <a:schemeClr val="bg1"/>
              </a:solidFill>
              <a:latin typeface="Times New Roman" panose="02020603050405020304" pitchFamily="18" charset="0"/>
              <a:cs typeface="Times New Roman" panose="02020603050405020304" pitchFamily="18" charset="0"/>
            </a:endParaRPr>
          </a:p>
        </p:txBody>
      </p:sp>
      <p:sp>
        <p:nvSpPr>
          <p:cNvPr id="6" name="Action Button: Go Forward or Next 5">
            <a:hlinkClick r:id="" action="ppaction://hlinkshowjump?jump=nextslide" highlightClick="1"/>
            <a:extLst>
              <a:ext uri="{FF2B5EF4-FFF2-40B4-BE49-F238E27FC236}">
                <a16:creationId xmlns:a16="http://schemas.microsoft.com/office/drawing/2014/main" id="{DFF5FCBB-4F50-45D7-7960-3A3CD20C7F7C}"/>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178415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76200" y="247650"/>
            <a:ext cx="12192000" cy="723331"/>
          </a:xfrm>
        </p:spPr>
        <p:txBody>
          <a:bodyPr>
            <a:noAutofit/>
          </a:bodyPr>
          <a:lstStyle/>
          <a:p>
            <a:r>
              <a:rPr lang="en-US" sz="4000" b="1" dirty="0">
                <a:solidFill>
                  <a:schemeClr val="bg1"/>
                </a:solidFill>
                <a:latin typeface="Times New Roman" panose="02020603050405020304" pitchFamily="18" charset="0"/>
                <a:cs typeface="Times New Roman" panose="02020603050405020304" pitchFamily="18" charset="0"/>
              </a:rPr>
              <a:t>C. DISCOVERING ‘unknown’ PATTERNS</a:t>
            </a:r>
          </a:p>
        </p:txBody>
      </p:sp>
      <p:cxnSp>
        <p:nvCxnSpPr>
          <p:cNvPr id="6" name="Straight Connector 5">
            <a:extLst>
              <a:ext uri="{FF2B5EF4-FFF2-40B4-BE49-F238E27FC236}">
                <a16:creationId xmlns:a16="http://schemas.microsoft.com/office/drawing/2014/main" id="{9718E94E-7269-07A1-8974-05AE8972705D}"/>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385D9EE6-A229-EB3B-E1FC-6B41AE0D0DFF}"/>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2" name="Rectangle: Rounded Corners 1">
            <a:extLst>
              <a:ext uri="{FF2B5EF4-FFF2-40B4-BE49-F238E27FC236}">
                <a16:creationId xmlns:a16="http://schemas.microsoft.com/office/drawing/2014/main" id="{149B732B-C0AD-D256-FAF2-39B2A4F61AC8}"/>
              </a:ext>
            </a:extLst>
          </p:cNvPr>
          <p:cNvSpPr/>
          <p:nvPr/>
        </p:nvSpPr>
        <p:spPr>
          <a:xfrm>
            <a:off x="10175496" y="6157518"/>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2" action="ppaction://hlinksldjump">
                  <a:extLst>
                    <a:ext uri="{A12FA001-AC4F-418D-AE19-62706E023703}">
                      <ahyp:hlinkClr xmlns:ahyp="http://schemas.microsoft.com/office/drawing/2018/hyperlinkcolor" val="tx"/>
                    </a:ext>
                  </a:extLst>
                </a:hlinkClick>
              </a:rPr>
              <a:t>Back To Presentation</a:t>
            </a:r>
            <a:endParaRPr lang="en-US" dirty="0">
              <a:solidFill>
                <a:schemeClr val="bg1"/>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54DEF71F-E465-17E3-4DA6-E8D060EAC6B2}"/>
              </a:ext>
            </a:extLst>
          </p:cNvPr>
          <p:cNvPicPr>
            <a:picLocks noChangeAspect="1"/>
          </p:cNvPicPr>
          <p:nvPr/>
        </p:nvPicPr>
        <p:blipFill>
          <a:blip r:embed="rId3">
            <a:extLst>
              <a:ext uri="{28A0092B-C50C-407E-A947-70E740481C1C}">
                <a14:useLocalDpi xmlns:a14="http://schemas.microsoft.com/office/drawing/2010/main" val="0"/>
              </a:ext>
            </a:extLst>
          </a:blip>
          <a:srcRect t="5455" b="4722"/>
          <a:stretch/>
        </p:blipFill>
        <p:spPr>
          <a:xfrm>
            <a:off x="6871343" y="862186"/>
            <a:ext cx="4552124" cy="5100465"/>
          </a:xfrm>
          <a:prstGeom prst="rect">
            <a:avLst/>
          </a:prstGeom>
        </p:spPr>
      </p:pic>
      <p:sp>
        <p:nvSpPr>
          <p:cNvPr id="11" name="Arrow: Up 10">
            <a:extLst>
              <a:ext uri="{FF2B5EF4-FFF2-40B4-BE49-F238E27FC236}">
                <a16:creationId xmlns:a16="http://schemas.microsoft.com/office/drawing/2014/main" id="{0A6E035E-1790-8B65-61F8-7265268F1AF0}"/>
              </a:ext>
            </a:extLst>
          </p:cNvPr>
          <p:cNvSpPr/>
          <p:nvPr/>
        </p:nvSpPr>
        <p:spPr>
          <a:xfrm>
            <a:off x="8260530" y="1237968"/>
            <a:ext cx="460054" cy="4457696"/>
          </a:xfrm>
          <a:prstGeom prst="up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Arrow: Up 11">
            <a:extLst>
              <a:ext uri="{FF2B5EF4-FFF2-40B4-BE49-F238E27FC236}">
                <a16:creationId xmlns:a16="http://schemas.microsoft.com/office/drawing/2014/main" id="{33FCE7A6-68E5-2B3D-2119-B9CA03661505}"/>
              </a:ext>
            </a:extLst>
          </p:cNvPr>
          <p:cNvSpPr/>
          <p:nvPr/>
        </p:nvSpPr>
        <p:spPr>
          <a:xfrm>
            <a:off x="9157552" y="1219204"/>
            <a:ext cx="460054" cy="4457696"/>
          </a:xfrm>
          <a:prstGeom prst="upArrow">
            <a:avLst/>
          </a:prstGeom>
          <a:gradFill flip="none" rotWithShape="1">
            <a:gsLst>
              <a:gs pos="0">
                <a:schemeClr val="accent3">
                  <a:lumMod val="60000"/>
                  <a:lumOff val="40000"/>
                  <a:tint val="66000"/>
                  <a:satMod val="160000"/>
                </a:schemeClr>
              </a:gs>
              <a:gs pos="50000">
                <a:schemeClr val="accent3">
                  <a:lumMod val="60000"/>
                  <a:lumOff val="40000"/>
                  <a:tint val="44500"/>
                  <a:satMod val="160000"/>
                </a:schemeClr>
              </a:gs>
              <a:gs pos="100000">
                <a:schemeClr val="accent3">
                  <a:lumMod val="60000"/>
                  <a:lumOff val="40000"/>
                  <a:tint val="23500"/>
                  <a:satMod val="160000"/>
                </a:schemeClr>
              </a:gs>
            </a:gsLst>
            <a:lin ang="27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Arrow: Up 14">
            <a:extLst>
              <a:ext uri="{FF2B5EF4-FFF2-40B4-BE49-F238E27FC236}">
                <a16:creationId xmlns:a16="http://schemas.microsoft.com/office/drawing/2014/main" id="{02450D3E-0D1A-F072-89AE-89018474D22A}"/>
              </a:ext>
            </a:extLst>
          </p:cNvPr>
          <p:cNvSpPr/>
          <p:nvPr/>
        </p:nvSpPr>
        <p:spPr>
          <a:xfrm>
            <a:off x="10257480" y="1237968"/>
            <a:ext cx="460054" cy="4457696"/>
          </a:xfrm>
          <a:prstGeom prst="up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ECC58164-1C0C-1F07-4E18-7218AA055A05}"/>
              </a:ext>
            </a:extLst>
          </p:cNvPr>
          <p:cNvSpPr txBox="1"/>
          <p:nvPr/>
        </p:nvSpPr>
        <p:spPr>
          <a:xfrm>
            <a:off x="666397" y="1135035"/>
            <a:ext cx="5986462" cy="3724096"/>
          </a:xfrm>
          <a:prstGeom prst="rect">
            <a:avLst/>
          </a:prstGeom>
          <a:noFill/>
        </p:spPr>
        <p:txBody>
          <a:bodyPr wrap="square" rtlCol="0">
            <a:spAutoFit/>
          </a:bodyPr>
          <a:lstStyle/>
          <a:p>
            <a:pPr algn="ctr"/>
            <a:r>
              <a:rPr lang="en-US" sz="2800" b="1" dirty="0">
                <a:solidFill>
                  <a:schemeClr val="bg1"/>
                </a:solidFill>
                <a:latin typeface="Times New Roman" panose="02020603050405020304" pitchFamily="18" charset="0"/>
                <a:cs typeface="Times New Roman" panose="02020603050405020304" pitchFamily="18" charset="0"/>
              </a:rPr>
              <a:t>THE MORE AG LAND:</a:t>
            </a:r>
          </a:p>
          <a:p>
            <a:pPr algn="ctr"/>
            <a:endParaRPr lang="en-US" sz="2800" b="1" dirty="0">
              <a:solidFill>
                <a:schemeClr val="bg1"/>
              </a:solidFill>
              <a:latin typeface="Times New Roman" panose="02020603050405020304" pitchFamily="18" charset="0"/>
              <a:cs typeface="Times New Roman" panose="02020603050405020304" pitchFamily="18" charset="0"/>
            </a:endParaRPr>
          </a:p>
          <a:p>
            <a:r>
              <a:rPr lang="en-US" sz="2400" b="1" dirty="0">
                <a:solidFill>
                  <a:schemeClr val="bg1"/>
                </a:solidFill>
                <a:latin typeface="Times New Roman" panose="02020603050405020304" pitchFamily="18" charset="0"/>
                <a:cs typeface="Times New Roman" panose="02020603050405020304" pitchFamily="18" charset="0"/>
              </a:rPr>
              <a:t>The Higher the Rate of  Population Loss</a:t>
            </a:r>
          </a:p>
          <a:p>
            <a:endParaRPr lang="en-US" sz="2400" b="1" dirty="0">
              <a:solidFill>
                <a:schemeClr val="bg1"/>
              </a:solidFill>
              <a:latin typeface="Times New Roman" panose="02020603050405020304" pitchFamily="18" charset="0"/>
              <a:cs typeface="Times New Roman" panose="02020603050405020304" pitchFamily="18" charset="0"/>
            </a:endParaRPr>
          </a:p>
          <a:p>
            <a:pPr algn="ctr"/>
            <a:r>
              <a:rPr lang="en-US" sz="2800" b="1" dirty="0">
                <a:solidFill>
                  <a:schemeClr val="bg1"/>
                </a:solidFill>
                <a:latin typeface="Times New Roman" panose="02020603050405020304" pitchFamily="18" charset="0"/>
                <a:cs typeface="Times New Roman" panose="02020603050405020304" pitchFamily="18" charset="0"/>
              </a:rPr>
              <a:t>BUT</a:t>
            </a:r>
          </a:p>
          <a:p>
            <a:pPr algn="ctr"/>
            <a:endParaRPr lang="en-US" sz="2800" b="1" dirty="0">
              <a:solidFill>
                <a:schemeClr val="bg1"/>
              </a:solidFill>
              <a:latin typeface="Times New Roman" panose="02020603050405020304" pitchFamily="18" charset="0"/>
              <a:cs typeface="Times New Roman" panose="02020603050405020304" pitchFamily="18" charset="0"/>
            </a:endParaRPr>
          </a:p>
          <a:p>
            <a:r>
              <a:rPr lang="en-US" sz="2400" b="1" dirty="0">
                <a:solidFill>
                  <a:schemeClr val="bg1"/>
                </a:solidFill>
                <a:latin typeface="Times New Roman" panose="02020603050405020304" pitchFamily="18" charset="0"/>
                <a:cs typeface="Times New Roman" panose="02020603050405020304" pitchFamily="18" charset="0"/>
              </a:rPr>
              <a:t>The Lower the Unemployment Rate, and Maybe the Poverty Rate too</a:t>
            </a:r>
          </a:p>
          <a:p>
            <a:pPr marL="342900" indent="-342900">
              <a:buFont typeface="Arial" panose="020B0604020202020204" pitchFamily="34" charset="0"/>
              <a:buChar char="•"/>
            </a:pPr>
            <a:endParaRPr lang="en-US" sz="28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515435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2696285" y="82125"/>
            <a:ext cx="7245945"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E. AN AI PROJECT REVIEW</a:t>
            </a:r>
          </a:p>
        </p:txBody>
      </p:sp>
      <p:sp>
        <p:nvSpPr>
          <p:cNvPr id="9" name="Rectangle: Rounded Corners 8">
            <a:extLst>
              <a:ext uri="{FF2B5EF4-FFF2-40B4-BE49-F238E27FC236}">
                <a16:creationId xmlns:a16="http://schemas.microsoft.com/office/drawing/2014/main" id="{A164F422-0C19-9765-E339-514C1C205E47}"/>
              </a:ext>
            </a:extLst>
          </p:cNvPr>
          <p:cNvSpPr/>
          <p:nvPr/>
        </p:nvSpPr>
        <p:spPr>
          <a:xfrm>
            <a:off x="11190189" y="-841113"/>
            <a:ext cx="7105650" cy="8763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Shows where the community stands across Infrastructure, Services, Environment, Economy, Demographics, and Governance.</a:t>
            </a:r>
            <a:endParaRPr lang="en-US" sz="24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graphicFrame>
        <p:nvGraphicFramePr>
          <p:cNvPr id="2" name="Table 1">
            <a:extLst>
              <a:ext uri="{FF2B5EF4-FFF2-40B4-BE49-F238E27FC236}">
                <a16:creationId xmlns:a16="http://schemas.microsoft.com/office/drawing/2014/main" id="{0EBDB4BB-C3CE-B47C-EFCE-DEFA38E565D7}"/>
              </a:ext>
            </a:extLst>
          </p:cNvPr>
          <p:cNvGraphicFramePr>
            <a:graphicFrameLocks noGrp="1"/>
          </p:cNvGraphicFramePr>
          <p:nvPr>
            <p:extLst>
              <p:ext uri="{D42A27DB-BD31-4B8C-83A1-F6EECF244321}">
                <p14:modId xmlns:p14="http://schemas.microsoft.com/office/powerpoint/2010/main" val="1319936276"/>
              </p:ext>
            </p:extLst>
          </p:nvPr>
        </p:nvGraphicFramePr>
        <p:xfrm>
          <a:off x="12184653" y="-419514"/>
          <a:ext cx="5863151" cy="1929922"/>
        </p:xfrm>
        <a:graphic>
          <a:graphicData uri="http://schemas.openxmlformats.org/drawingml/2006/table">
            <a:tbl>
              <a:tblPr firstRow="1" firstCol="1" bandRow="1">
                <a:tableStyleId>{5C22544A-7EE6-4342-B048-85BDC9FD1C3A}</a:tableStyleId>
              </a:tblPr>
              <a:tblGrid>
                <a:gridCol w="1628653">
                  <a:extLst>
                    <a:ext uri="{9D8B030D-6E8A-4147-A177-3AD203B41FA5}">
                      <a16:colId xmlns:a16="http://schemas.microsoft.com/office/drawing/2014/main" val="3975155602"/>
                    </a:ext>
                  </a:extLst>
                </a:gridCol>
                <a:gridCol w="4234498">
                  <a:extLst>
                    <a:ext uri="{9D8B030D-6E8A-4147-A177-3AD203B41FA5}">
                      <a16:colId xmlns:a16="http://schemas.microsoft.com/office/drawing/2014/main" val="516088291"/>
                    </a:ext>
                  </a:extLst>
                </a:gridCol>
              </a:tblGrid>
              <a:tr h="134135">
                <a:tc>
                  <a:txBody>
                    <a:bodyPr/>
                    <a:lstStyle/>
                    <a:p>
                      <a:pPr marL="0" marR="0">
                        <a:lnSpc>
                          <a:spcPct val="115000"/>
                        </a:lnSpc>
                        <a:spcBef>
                          <a:spcPts val="0"/>
                        </a:spcBef>
                        <a:spcAft>
                          <a:spcPts val="0"/>
                        </a:spcAft>
                      </a:pPr>
                      <a:r>
                        <a:rPr lang="en-US" sz="850" dirty="0">
                          <a:effectLst/>
                        </a:rPr>
                        <a:t>Summary Element</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850" dirty="0">
                          <a:effectLst/>
                        </a:rPr>
                        <a:t>Purpose</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18145429"/>
                  </a:ext>
                </a:extLst>
              </a:tr>
              <a:tr h="0">
                <a:tc>
                  <a:txBody>
                    <a:bodyPr/>
                    <a:lstStyle/>
                    <a:p>
                      <a:pPr marL="0" marR="0">
                        <a:lnSpc>
                          <a:spcPct val="115000"/>
                        </a:lnSpc>
                        <a:spcBef>
                          <a:spcPts val="0"/>
                        </a:spcBef>
                        <a:spcAft>
                          <a:spcPts val="0"/>
                        </a:spcAft>
                      </a:pPr>
                      <a:r>
                        <a:rPr lang="en-US" sz="850" dirty="0">
                          <a:effectLst/>
                        </a:rPr>
                        <a:t>Condition Summary</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850" dirty="0">
                          <a:effectLst/>
                        </a:rPr>
                        <a:t>Shows where the community stands across Infrastructure, Services, Environment, Economy, Demographics, and Governance.</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358037837"/>
                  </a:ext>
                </a:extLst>
              </a:tr>
              <a:tr h="0">
                <a:tc>
                  <a:txBody>
                    <a:bodyPr/>
                    <a:lstStyle/>
                    <a:p>
                      <a:pPr marL="0" marR="0">
                        <a:lnSpc>
                          <a:spcPct val="115000"/>
                        </a:lnSpc>
                        <a:spcBef>
                          <a:spcPts val="0"/>
                        </a:spcBef>
                        <a:spcAft>
                          <a:spcPts val="0"/>
                        </a:spcAft>
                      </a:pPr>
                      <a:r>
                        <a:rPr lang="en-US" sz="850" dirty="0">
                          <a:effectLst/>
                        </a:rPr>
                        <a:t>Strengths and Weaknesses</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850" dirty="0">
                          <a:effectLst/>
                        </a:rPr>
                        <a:t>Identifies the strongest assets and weakest conditions, both locally and across the IAC market area.</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881716276"/>
                  </a:ext>
                </a:extLst>
              </a:tr>
              <a:tr h="0">
                <a:tc>
                  <a:txBody>
                    <a:bodyPr/>
                    <a:lstStyle/>
                    <a:p>
                      <a:pPr marL="0" marR="0">
                        <a:lnSpc>
                          <a:spcPct val="115000"/>
                        </a:lnSpc>
                        <a:spcBef>
                          <a:spcPts val="0"/>
                        </a:spcBef>
                        <a:spcAft>
                          <a:spcPts val="0"/>
                        </a:spcAft>
                      </a:pPr>
                      <a:r>
                        <a:rPr lang="en-US" sz="850" dirty="0">
                          <a:effectLst/>
                        </a:rPr>
                        <a:t>Common Opportunities / Problems</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850" dirty="0">
                          <a:effectLst/>
                        </a:rPr>
                        <a:t>Finds patterns shared by multiple ZIPs, Communities, Service Centers, or Major Trade Centers.</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698667120"/>
                  </a:ext>
                </a:extLst>
              </a:tr>
              <a:tr h="173573">
                <a:tc>
                  <a:txBody>
                    <a:bodyPr/>
                    <a:lstStyle/>
                    <a:p>
                      <a:pPr marL="0" marR="0">
                        <a:lnSpc>
                          <a:spcPct val="115000"/>
                        </a:lnSpc>
                        <a:spcBef>
                          <a:spcPts val="0"/>
                        </a:spcBef>
                        <a:spcAft>
                          <a:spcPts val="0"/>
                        </a:spcAft>
                      </a:pPr>
                      <a:r>
                        <a:rPr lang="en-US" sz="850" dirty="0">
                          <a:effectLst/>
                        </a:rPr>
                        <a:t>Vision Alignment</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850" dirty="0">
                          <a:effectLst/>
                        </a:rPr>
                        <a:t>Tests whether a proposal advances the values, priorities, and long-term direction established through visioning and e-Consensus.</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218084947"/>
                  </a:ext>
                </a:extLst>
              </a:tr>
              <a:tr h="341149">
                <a:tc>
                  <a:txBody>
                    <a:bodyPr/>
                    <a:lstStyle/>
                    <a:p>
                      <a:pPr marL="0" marR="0">
                        <a:lnSpc>
                          <a:spcPct val="115000"/>
                        </a:lnSpc>
                        <a:spcBef>
                          <a:spcPts val="0"/>
                        </a:spcBef>
                        <a:spcAft>
                          <a:spcPts val="0"/>
                        </a:spcAft>
                      </a:pPr>
                      <a:r>
                        <a:rPr lang="en-US" sz="850" dirty="0">
                          <a:effectLst/>
                        </a:rPr>
                        <a:t>Strategic Fit</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850" dirty="0">
                          <a:effectLst/>
                        </a:rPr>
                        <a:t>Shows whether an investment should be local, Service Center scale, Major Trade Center scale, or IAC-wide.</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209607047"/>
                  </a:ext>
                </a:extLst>
              </a:tr>
              <a:tr h="0">
                <a:tc>
                  <a:txBody>
                    <a:bodyPr/>
                    <a:lstStyle/>
                    <a:p>
                      <a:pPr marL="0" marR="0">
                        <a:lnSpc>
                          <a:spcPct val="115000"/>
                        </a:lnSpc>
                        <a:spcBef>
                          <a:spcPts val="0"/>
                        </a:spcBef>
                        <a:spcAft>
                          <a:spcPts val="0"/>
                        </a:spcAft>
                      </a:pPr>
                      <a:r>
                        <a:rPr lang="en-US" sz="850" dirty="0">
                          <a:effectLst/>
                        </a:rPr>
                        <a:t>Action Readiness</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850" dirty="0">
                          <a:effectLst/>
                        </a:rPr>
                        <a:t>Combines facts, confidence, partners, funding potential, and governance readiness to show whether a proposal can move forward.</a:t>
                      </a:r>
                      <a:endParaRPr lang="en-US" sz="105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655689339"/>
                  </a:ext>
                </a:extLst>
              </a:tr>
            </a:tbl>
          </a:graphicData>
        </a:graphic>
      </p:graphicFrame>
      <p:sp>
        <p:nvSpPr>
          <p:cNvPr id="20" name="Rectangle: Rounded Corners 19">
            <a:extLst>
              <a:ext uri="{FF2B5EF4-FFF2-40B4-BE49-F238E27FC236}">
                <a16:creationId xmlns:a16="http://schemas.microsoft.com/office/drawing/2014/main" id="{66598410-8724-F762-CAE4-DAF862310DB9}"/>
              </a:ext>
            </a:extLst>
          </p:cNvPr>
          <p:cNvSpPr/>
          <p:nvPr/>
        </p:nvSpPr>
        <p:spPr>
          <a:xfrm>
            <a:off x="12299170" y="4953641"/>
            <a:ext cx="3400425" cy="723331"/>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u="sng" strike="noStrike"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Make Sure Nothing is Missing-</a:t>
            </a:r>
            <a:endParaRPr lang="en-US" dirty="0"/>
          </a:p>
        </p:txBody>
      </p:sp>
      <p:sp>
        <p:nvSpPr>
          <p:cNvPr id="6" name="Rectangle: Rounded Corners 5">
            <a:extLst>
              <a:ext uri="{FF2B5EF4-FFF2-40B4-BE49-F238E27FC236}">
                <a16:creationId xmlns:a16="http://schemas.microsoft.com/office/drawing/2014/main" id="{47AA2084-D376-5787-9D61-FB69D33212E5}"/>
              </a:ext>
            </a:extLst>
          </p:cNvPr>
          <p:cNvSpPr/>
          <p:nvPr/>
        </p:nvSpPr>
        <p:spPr>
          <a:xfrm>
            <a:off x="455106" y="1386530"/>
            <a:ext cx="2265291"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Submit Project Profile Form</a:t>
            </a: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8" name="Rectangle: Rounded Corners 7">
            <a:extLst>
              <a:ext uri="{FF2B5EF4-FFF2-40B4-BE49-F238E27FC236}">
                <a16:creationId xmlns:a16="http://schemas.microsoft.com/office/drawing/2014/main" id="{B9824FF1-BA2A-D3A2-6CDA-B2A55C3A63B8}"/>
              </a:ext>
            </a:extLst>
          </p:cNvPr>
          <p:cNvSpPr/>
          <p:nvPr/>
        </p:nvSpPr>
        <p:spPr>
          <a:xfrm>
            <a:off x="2834774" y="1386530"/>
            <a:ext cx="6661462" cy="64861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none" strike="noStrike"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Pulls known facts and puts them in context. Indicator Selection; ZIP Retrieval; Published Indicator; Benchmark; Trend; Map/Service Area; Identity/Context</a:t>
            </a:r>
            <a:endParaRPr lang="en-US" sz="1600" dirty="0">
              <a:solidFill>
                <a:schemeClr val="bg1"/>
              </a:solidFill>
              <a:latin typeface="Times New Roman" panose="02020603050405020304" pitchFamily="18" charset="0"/>
              <a:cs typeface="Times New Roman" panose="02020603050405020304" pitchFamily="18" charset="0"/>
            </a:endParaRPr>
          </a:p>
        </p:txBody>
      </p:sp>
      <p:sp>
        <p:nvSpPr>
          <p:cNvPr id="10" name="Rectangle: Rounded Corners 9">
            <a:extLst>
              <a:ext uri="{FF2B5EF4-FFF2-40B4-BE49-F238E27FC236}">
                <a16:creationId xmlns:a16="http://schemas.microsoft.com/office/drawing/2014/main" id="{F79F4580-CD7C-8683-F6B9-B63BC14CB61C}"/>
              </a:ext>
            </a:extLst>
          </p:cNvPr>
          <p:cNvSpPr/>
          <p:nvPr/>
        </p:nvSpPr>
        <p:spPr>
          <a:xfrm>
            <a:off x="2834774" y="3642907"/>
            <a:ext cx="6661462" cy="6307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a:lnSpc>
                <a:spcPct val="115000"/>
              </a:lnSpc>
              <a:spcBef>
                <a:spcPts val="0"/>
              </a:spcBef>
              <a:spcAft>
                <a:spcPts val="0"/>
              </a:spcAft>
            </a:pPr>
            <a:r>
              <a:rPr lang="en-US" sz="1600" dirty="0">
                <a:effectLst/>
                <a:latin typeface="Times New Roman" panose="02020603050405020304" pitchFamily="18" charset="0"/>
                <a:cs typeface="Times New Roman" panose="02020603050405020304" pitchFamily="18" charset="0"/>
              </a:rPr>
              <a:t>Identifies the strongest assets and weakest conditions, both locally and across the IAC market area.</a:t>
            </a:r>
            <a:endParaRPr lang="en-US" sz="16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11" name="Rectangle: Rounded Corners 10">
            <a:extLst>
              <a:ext uri="{FF2B5EF4-FFF2-40B4-BE49-F238E27FC236}">
                <a16:creationId xmlns:a16="http://schemas.microsoft.com/office/drawing/2014/main" id="{83AB39CE-2CFE-5062-A880-A39845FDD7EE}"/>
              </a:ext>
            </a:extLst>
          </p:cNvPr>
          <p:cNvSpPr/>
          <p:nvPr/>
        </p:nvSpPr>
        <p:spPr>
          <a:xfrm>
            <a:off x="2834774" y="2150565"/>
            <a:ext cx="6661462" cy="6307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effectLst/>
                <a:latin typeface="Times New Roman" panose="02020603050405020304" pitchFamily="18" charset="0"/>
                <a:cs typeface="Times New Roman" panose="02020603050405020304" pitchFamily="18" charset="0"/>
              </a:rPr>
              <a:t>Finds patterns shared by multiple ZIPs, Communities, Service Centers, or Major Trade Centers</a:t>
            </a:r>
            <a:endParaRPr lang="en-US" sz="1600" dirty="0">
              <a:solidFill>
                <a:schemeClr val="bg1"/>
              </a:solidFill>
              <a:latin typeface="Times New Roman" panose="02020603050405020304" pitchFamily="18" charset="0"/>
              <a:cs typeface="Times New Roman" panose="02020603050405020304" pitchFamily="18" charset="0"/>
            </a:endParaRPr>
          </a:p>
        </p:txBody>
      </p:sp>
      <p:sp>
        <p:nvSpPr>
          <p:cNvPr id="12" name="Rectangle: Rounded Corners 11">
            <a:extLst>
              <a:ext uri="{FF2B5EF4-FFF2-40B4-BE49-F238E27FC236}">
                <a16:creationId xmlns:a16="http://schemas.microsoft.com/office/drawing/2014/main" id="{5829A77B-303D-4138-95F9-E2744951167A}"/>
              </a:ext>
            </a:extLst>
          </p:cNvPr>
          <p:cNvSpPr/>
          <p:nvPr/>
        </p:nvSpPr>
        <p:spPr>
          <a:xfrm>
            <a:off x="2834774" y="2896736"/>
            <a:ext cx="6661462" cy="6307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a:lnSpc>
                <a:spcPct val="115000"/>
              </a:lnSpc>
              <a:spcBef>
                <a:spcPts val="0"/>
              </a:spcBef>
              <a:spcAft>
                <a:spcPts val="0"/>
              </a:spcAft>
            </a:pPr>
            <a:r>
              <a:rPr lang="en-US" sz="1600" dirty="0">
                <a:effectLst/>
                <a:latin typeface="Times New Roman" panose="02020603050405020304" pitchFamily="18" charset="0"/>
                <a:cs typeface="Times New Roman" panose="02020603050405020304" pitchFamily="18" charset="0"/>
              </a:rPr>
              <a:t>Tests whether a proposal advances the values, priorities, and long-term direction established through visioning and e-Consensus.</a:t>
            </a:r>
            <a:endParaRPr lang="en-US" sz="16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13" name="Rectangle: Rounded Corners 12">
            <a:extLst>
              <a:ext uri="{FF2B5EF4-FFF2-40B4-BE49-F238E27FC236}">
                <a16:creationId xmlns:a16="http://schemas.microsoft.com/office/drawing/2014/main" id="{9A439018-E9AA-AA85-B1B2-4C27E000D7C0}"/>
              </a:ext>
            </a:extLst>
          </p:cNvPr>
          <p:cNvSpPr/>
          <p:nvPr/>
        </p:nvSpPr>
        <p:spPr>
          <a:xfrm>
            <a:off x="2834774" y="5135251"/>
            <a:ext cx="6661462" cy="6307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a:lnSpc>
                <a:spcPct val="115000"/>
              </a:lnSpc>
              <a:spcBef>
                <a:spcPts val="0"/>
              </a:spcBef>
              <a:spcAft>
                <a:spcPts val="0"/>
              </a:spcAft>
            </a:pPr>
            <a:r>
              <a:rPr lang="en-US" sz="1600" dirty="0">
                <a:effectLst/>
                <a:latin typeface="Times New Roman" panose="02020603050405020304" pitchFamily="18" charset="0"/>
                <a:cs typeface="Times New Roman" panose="02020603050405020304" pitchFamily="18" charset="0"/>
              </a:rPr>
              <a:t>Shows whether an investment should be local, Service Center scale, Major Trade Center scale, or IAC-wide.</a:t>
            </a:r>
            <a:endParaRPr lang="en-US" sz="16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14" name="Rectangle: Rounded Corners 13">
            <a:extLst>
              <a:ext uri="{FF2B5EF4-FFF2-40B4-BE49-F238E27FC236}">
                <a16:creationId xmlns:a16="http://schemas.microsoft.com/office/drawing/2014/main" id="{976F41BF-A590-E49A-6831-51CA98B52F36}"/>
              </a:ext>
            </a:extLst>
          </p:cNvPr>
          <p:cNvSpPr/>
          <p:nvPr/>
        </p:nvSpPr>
        <p:spPr>
          <a:xfrm>
            <a:off x="2834774" y="4389079"/>
            <a:ext cx="6661462" cy="6307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a:lnSpc>
                <a:spcPct val="115000"/>
              </a:lnSpc>
              <a:spcBef>
                <a:spcPts val="0"/>
              </a:spcBef>
              <a:spcAft>
                <a:spcPts val="0"/>
              </a:spcAft>
            </a:pPr>
            <a:r>
              <a:rPr lang="en-US" sz="1600" dirty="0">
                <a:effectLst/>
                <a:latin typeface="Times New Roman" panose="02020603050405020304" pitchFamily="18" charset="0"/>
                <a:cs typeface="Times New Roman" panose="02020603050405020304" pitchFamily="18" charset="0"/>
              </a:rPr>
              <a:t>Combines facts, confidence, partners, funding potential, and governance readiness to show whether a proposal can move forward.</a:t>
            </a:r>
            <a:endParaRPr lang="en-US" sz="16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15" name="Rectangle: Rounded Corners 14">
            <a:extLst>
              <a:ext uri="{FF2B5EF4-FFF2-40B4-BE49-F238E27FC236}">
                <a16:creationId xmlns:a16="http://schemas.microsoft.com/office/drawing/2014/main" id="{7CBBE8B6-7F99-4FBE-8319-402CB6AE962E}"/>
              </a:ext>
            </a:extLst>
          </p:cNvPr>
          <p:cNvSpPr/>
          <p:nvPr/>
        </p:nvSpPr>
        <p:spPr>
          <a:xfrm>
            <a:off x="455106" y="2132122"/>
            <a:ext cx="2265291"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Identify Synergistic Partners</a:t>
            </a: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16" name="Rectangle: Rounded Corners 15">
            <a:extLst>
              <a:ext uri="{FF2B5EF4-FFF2-40B4-BE49-F238E27FC236}">
                <a16:creationId xmlns:a16="http://schemas.microsoft.com/office/drawing/2014/main" id="{ED71D101-82BA-DE1A-A569-FC7FB7EC4D14}"/>
              </a:ext>
            </a:extLst>
          </p:cNvPr>
          <p:cNvSpPr/>
          <p:nvPr/>
        </p:nvSpPr>
        <p:spPr>
          <a:xfrm>
            <a:off x="455106" y="2886020"/>
            <a:ext cx="2265291"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Define Alternative Scenarios</a:t>
            </a: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17" name="Rectangle: Rounded Corners 16">
            <a:extLst>
              <a:ext uri="{FF2B5EF4-FFF2-40B4-BE49-F238E27FC236}">
                <a16:creationId xmlns:a16="http://schemas.microsoft.com/office/drawing/2014/main" id="{8596807D-4971-D133-EB3F-76C38FA00B08}"/>
              </a:ext>
            </a:extLst>
          </p:cNvPr>
          <p:cNvSpPr/>
          <p:nvPr/>
        </p:nvSpPr>
        <p:spPr>
          <a:xfrm>
            <a:off x="455106" y="3639918"/>
            <a:ext cx="2265291"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Convene Stakeholders</a:t>
            </a:r>
            <a:endParaRPr lang="en-US" sz="1600" u="sng" dirty="0">
              <a:solidFill>
                <a:schemeClr val="tx1"/>
              </a:solidFill>
              <a:latin typeface="Times New Roman" panose="02020603050405020304" pitchFamily="18" charset="0"/>
              <a:cs typeface="Times New Roman" panose="02020603050405020304" pitchFamily="18" charset="0"/>
            </a:endParaRPr>
          </a:p>
        </p:txBody>
      </p:sp>
      <p:sp>
        <p:nvSpPr>
          <p:cNvPr id="18" name="Rectangle: Rounded Corners 17">
            <a:extLst>
              <a:ext uri="{FF2B5EF4-FFF2-40B4-BE49-F238E27FC236}">
                <a16:creationId xmlns:a16="http://schemas.microsoft.com/office/drawing/2014/main" id="{20994F3B-A16D-C43F-184F-A5CF6561C9F1}"/>
              </a:ext>
            </a:extLst>
          </p:cNvPr>
          <p:cNvSpPr/>
          <p:nvPr/>
        </p:nvSpPr>
        <p:spPr>
          <a:xfrm>
            <a:off x="455106" y="4393816"/>
            <a:ext cx="2265291"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Finalize Proposal</a:t>
            </a:r>
            <a:endParaRPr lang="en-US" sz="1600" u="sng" dirty="0">
              <a:solidFill>
                <a:schemeClr val="tx1"/>
              </a:solidFill>
              <a:latin typeface="Times New Roman" panose="02020603050405020304" pitchFamily="18" charset="0"/>
              <a:cs typeface="Times New Roman" panose="02020603050405020304" pitchFamily="18" charset="0"/>
            </a:endParaRPr>
          </a:p>
        </p:txBody>
      </p:sp>
      <p:sp>
        <p:nvSpPr>
          <p:cNvPr id="19" name="Rectangle: Rounded Corners 18">
            <a:extLst>
              <a:ext uri="{FF2B5EF4-FFF2-40B4-BE49-F238E27FC236}">
                <a16:creationId xmlns:a16="http://schemas.microsoft.com/office/drawing/2014/main" id="{2C7C6B98-FD0B-F7E8-0D14-8A5CEEFE6A1B}"/>
              </a:ext>
            </a:extLst>
          </p:cNvPr>
          <p:cNvSpPr/>
          <p:nvPr/>
        </p:nvSpPr>
        <p:spPr>
          <a:xfrm>
            <a:off x="455106" y="5147716"/>
            <a:ext cx="2265291"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Project Approval and Funding</a:t>
            </a: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21" name="TextBox 20">
            <a:extLst>
              <a:ext uri="{FF2B5EF4-FFF2-40B4-BE49-F238E27FC236}">
                <a16:creationId xmlns:a16="http://schemas.microsoft.com/office/drawing/2014/main" id="{39DE0BEE-9F3B-B145-F8F7-D7515506697F}"/>
              </a:ext>
            </a:extLst>
          </p:cNvPr>
          <p:cNvSpPr txBox="1"/>
          <p:nvPr/>
        </p:nvSpPr>
        <p:spPr>
          <a:xfrm>
            <a:off x="455106" y="894945"/>
            <a:ext cx="11281788" cy="461665"/>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  LEADERSHIP                     AI ENGINE FUNCTIONS                               RESULT</a:t>
            </a:r>
          </a:p>
        </p:txBody>
      </p:sp>
      <p:sp>
        <p:nvSpPr>
          <p:cNvPr id="23" name="Rectangle: Rounded Corners 22">
            <a:extLst>
              <a:ext uri="{FF2B5EF4-FFF2-40B4-BE49-F238E27FC236}">
                <a16:creationId xmlns:a16="http://schemas.microsoft.com/office/drawing/2014/main" id="{7EB18ED5-EDC0-C8F8-00BE-0B219D000D95}"/>
              </a:ext>
            </a:extLst>
          </p:cNvPr>
          <p:cNvSpPr/>
          <p:nvPr/>
        </p:nvSpPr>
        <p:spPr>
          <a:xfrm>
            <a:off x="9620875" y="1399445"/>
            <a:ext cx="1978213"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Who Else Might it Benefit</a:t>
            </a: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24" name="Rectangle: Rounded Corners 23">
            <a:extLst>
              <a:ext uri="{FF2B5EF4-FFF2-40B4-BE49-F238E27FC236}">
                <a16:creationId xmlns:a16="http://schemas.microsoft.com/office/drawing/2014/main" id="{F70C23F3-FE78-AC04-BA4D-6D391D964AD6}"/>
              </a:ext>
            </a:extLst>
          </p:cNvPr>
          <p:cNvSpPr/>
          <p:nvPr/>
        </p:nvSpPr>
        <p:spPr>
          <a:xfrm>
            <a:off x="9601921" y="2123036"/>
            <a:ext cx="1978213"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Opportunities</a:t>
            </a:r>
            <a:endParaRPr lang="en-US" sz="1600" dirty="0">
              <a:solidFill>
                <a:schemeClr val="tx1"/>
              </a:solidFill>
              <a:latin typeface="Times New Roman" panose="02020603050405020304" pitchFamily="18" charset="0"/>
              <a:cs typeface="Times New Roman" panose="02020603050405020304" pitchFamily="18" charset="0"/>
            </a:endParaRPr>
          </a:p>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for Leveraging</a:t>
            </a: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25" name="Rectangle: Rounded Corners 24">
            <a:extLst>
              <a:ext uri="{FF2B5EF4-FFF2-40B4-BE49-F238E27FC236}">
                <a16:creationId xmlns:a16="http://schemas.microsoft.com/office/drawing/2014/main" id="{4CD023DF-4764-3B4E-2BCF-5D5D46EC9B3C}"/>
              </a:ext>
            </a:extLst>
          </p:cNvPr>
          <p:cNvSpPr/>
          <p:nvPr/>
        </p:nvSpPr>
        <p:spPr>
          <a:xfrm>
            <a:off x="9627761" y="2907242"/>
            <a:ext cx="1978213"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Project Optimizing based upon CIA </a:t>
            </a: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26" name="Rectangle: Rounded Corners 25">
            <a:extLst>
              <a:ext uri="{FF2B5EF4-FFF2-40B4-BE49-F238E27FC236}">
                <a16:creationId xmlns:a16="http://schemas.microsoft.com/office/drawing/2014/main" id="{AD178CE9-9D29-2538-F107-8263EE601480}"/>
              </a:ext>
            </a:extLst>
          </p:cNvPr>
          <p:cNvSpPr/>
          <p:nvPr/>
        </p:nvSpPr>
        <p:spPr>
          <a:xfrm>
            <a:off x="9627761" y="3647597"/>
            <a:ext cx="1978213"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Engage Partners</a:t>
            </a: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27" name="Rectangle: Rounded Corners 26">
            <a:extLst>
              <a:ext uri="{FF2B5EF4-FFF2-40B4-BE49-F238E27FC236}">
                <a16:creationId xmlns:a16="http://schemas.microsoft.com/office/drawing/2014/main" id="{AE90C2AA-62D3-C460-18CB-1A13098EB252}"/>
              </a:ext>
            </a:extLst>
          </p:cNvPr>
          <p:cNvSpPr/>
          <p:nvPr/>
        </p:nvSpPr>
        <p:spPr>
          <a:xfrm>
            <a:off x="9610614" y="4380274"/>
            <a:ext cx="1978213"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strike="noStrik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Commit to Budget etc.</a:t>
            </a: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28" name="Rectangle: Rounded Corners 27">
            <a:extLst>
              <a:ext uri="{FF2B5EF4-FFF2-40B4-BE49-F238E27FC236}">
                <a16:creationId xmlns:a16="http://schemas.microsoft.com/office/drawing/2014/main" id="{8FE239D8-763A-9FBD-5BE1-9F85A3CA23D3}"/>
              </a:ext>
            </a:extLst>
          </p:cNvPr>
          <p:cNvSpPr/>
          <p:nvPr/>
        </p:nvSpPr>
        <p:spPr>
          <a:xfrm>
            <a:off x="9610614" y="5143924"/>
            <a:ext cx="1978213" cy="63075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u="sng" dirty="0">
                <a:solidFill>
                  <a:schemeClr val="tx1"/>
                </a:solidFill>
                <a:latin typeface="Times New Roman" panose="02020603050405020304" pitchFamily="18" charset="0"/>
                <a:cs typeface="Times New Roman" panose="02020603050405020304" pitchFamily="18" charset="0"/>
              </a:rPr>
              <a:t>Implement &amp; Monitor</a:t>
            </a:r>
            <a:endParaRPr lang="en-US" sz="1600" dirty="0">
              <a:solidFill>
                <a:schemeClr val="tx1"/>
              </a:solidFill>
              <a:latin typeface="Times New Roman" panose="02020603050405020304" pitchFamily="18"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A44F352C-BD04-DCDD-44B6-5375AE786558}"/>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FA043360-5A0D-E150-6660-8863511ED985}"/>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Tree>
    <p:extLst>
      <p:ext uri="{BB962C8B-B14F-4D97-AF65-F5344CB8AC3E}">
        <p14:creationId xmlns:p14="http://schemas.microsoft.com/office/powerpoint/2010/main" val="9574057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114811"/>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THE VIABILITY DATA STRUCTURE</a:t>
            </a:r>
          </a:p>
        </p:txBody>
      </p:sp>
      <p:grpSp>
        <p:nvGrpSpPr>
          <p:cNvPr id="8" name="Group 7">
            <a:extLst>
              <a:ext uri="{FF2B5EF4-FFF2-40B4-BE49-F238E27FC236}">
                <a16:creationId xmlns:a16="http://schemas.microsoft.com/office/drawing/2014/main" id="{19FA695B-8AB9-500C-8876-A6FD2AFA2818}"/>
              </a:ext>
            </a:extLst>
          </p:cNvPr>
          <p:cNvGrpSpPr/>
          <p:nvPr/>
        </p:nvGrpSpPr>
        <p:grpSpPr>
          <a:xfrm>
            <a:off x="123825" y="1077461"/>
            <a:ext cx="12277987" cy="4752517"/>
            <a:chOff x="123825" y="1077461"/>
            <a:chExt cx="12277987" cy="4752517"/>
          </a:xfrm>
        </p:grpSpPr>
        <p:sp>
          <p:nvSpPr>
            <p:cNvPr id="22" name="Subtitle 2">
              <a:extLst>
                <a:ext uri="{FF2B5EF4-FFF2-40B4-BE49-F238E27FC236}">
                  <a16:creationId xmlns:a16="http://schemas.microsoft.com/office/drawing/2014/main" id="{CEA3736A-F3B6-9453-EF81-F67AAC214C00}"/>
                </a:ext>
              </a:extLst>
            </p:cNvPr>
            <p:cNvSpPr txBox="1">
              <a:spLocks/>
            </p:cNvSpPr>
            <p:nvPr/>
          </p:nvSpPr>
          <p:spPr>
            <a:xfrm>
              <a:off x="7416551" y="5167031"/>
              <a:ext cx="2452704" cy="662947"/>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marR="0" lvl="0" indent="-285750" algn="l">
                <a:lnSpc>
                  <a:spcPct val="115000"/>
                </a:lnSpc>
                <a:spcBef>
                  <a:spcPts val="0"/>
                </a:spcBef>
                <a:spcAft>
                  <a:spcPts val="0"/>
                </a:spcAft>
                <a:buFont typeface="Arial" panose="020B0604020202020204" pitchFamily="34" charset="0"/>
                <a:buChar char="•"/>
              </a:pPr>
              <a:r>
                <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Coordinates</a:t>
              </a:r>
            </a:p>
            <a:p>
              <a:pPr marL="285750" marR="0" lvl="0" indent="-285750" algn="l">
                <a:lnSpc>
                  <a:spcPct val="115000"/>
                </a:lnSpc>
                <a:spcBef>
                  <a:spcPts val="0"/>
                </a:spcBef>
                <a:spcAft>
                  <a:spcPts val="0"/>
                </a:spcAft>
                <a:buFont typeface="Arial" panose="020B0604020202020204" pitchFamily="34" charset="0"/>
                <a:buChar char="•"/>
              </a:pPr>
              <a:r>
                <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Landform</a:t>
              </a:r>
            </a:p>
          </p:txBody>
        </p:sp>
        <p:grpSp>
          <p:nvGrpSpPr>
            <p:cNvPr id="5" name="Group 4">
              <a:extLst>
                <a:ext uri="{FF2B5EF4-FFF2-40B4-BE49-F238E27FC236}">
                  <a16:creationId xmlns:a16="http://schemas.microsoft.com/office/drawing/2014/main" id="{3290447A-9E1C-DCB8-8041-5987E5C84073}"/>
                </a:ext>
              </a:extLst>
            </p:cNvPr>
            <p:cNvGrpSpPr/>
            <p:nvPr/>
          </p:nvGrpSpPr>
          <p:grpSpPr>
            <a:xfrm>
              <a:off x="123825" y="1077461"/>
              <a:ext cx="12277987" cy="4452815"/>
              <a:chOff x="0" y="1250188"/>
              <a:chExt cx="12277987" cy="4452815"/>
            </a:xfrm>
          </p:grpSpPr>
          <p:cxnSp>
            <p:nvCxnSpPr>
              <p:cNvPr id="37" name="Straight Arrow Connector 36">
                <a:extLst>
                  <a:ext uri="{FF2B5EF4-FFF2-40B4-BE49-F238E27FC236}">
                    <a16:creationId xmlns:a16="http://schemas.microsoft.com/office/drawing/2014/main" id="{9B74DCCF-7E11-2838-5AE9-61138C918A9B}"/>
                  </a:ext>
                </a:extLst>
              </p:cNvPr>
              <p:cNvCxnSpPr>
                <a:cxnSpLocks/>
                <a:stCxn id="18" idx="1"/>
                <a:endCxn id="29" idx="5"/>
              </p:cNvCxnSpPr>
              <p:nvPr/>
            </p:nvCxnSpPr>
            <p:spPr>
              <a:xfrm flipH="1" flipV="1">
                <a:off x="1817713" y="3086152"/>
                <a:ext cx="5435736" cy="1604946"/>
              </a:xfrm>
              <a:prstGeom prst="straightConnector1">
                <a:avLst/>
              </a:prstGeom>
              <a:ln w="38100">
                <a:solidFill>
                  <a:schemeClr val="bg1"/>
                </a:solidFill>
                <a:tailEnd type="triangle"/>
              </a:ln>
            </p:spPr>
            <p:style>
              <a:lnRef idx="2">
                <a:schemeClr val="accent1"/>
              </a:lnRef>
              <a:fillRef idx="0">
                <a:schemeClr val="accent1"/>
              </a:fillRef>
              <a:effectRef idx="1">
                <a:schemeClr val="accent1"/>
              </a:effectRef>
              <a:fontRef idx="minor">
                <a:schemeClr val="tx1"/>
              </a:fontRef>
            </p:style>
          </p:cxnSp>
          <p:sp>
            <p:nvSpPr>
              <p:cNvPr id="17" name="Subtitle 2">
                <a:extLst>
                  <a:ext uri="{FF2B5EF4-FFF2-40B4-BE49-F238E27FC236}">
                    <a16:creationId xmlns:a16="http://schemas.microsoft.com/office/drawing/2014/main" id="{6B014F56-66AD-C2BE-564E-6C7732907784}"/>
                  </a:ext>
                </a:extLst>
              </p:cNvPr>
              <p:cNvSpPr txBox="1">
                <a:spLocks/>
              </p:cNvSpPr>
              <p:nvPr/>
            </p:nvSpPr>
            <p:spPr>
              <a:xfrm>
                <a:off x="4422220" y="4673873"/>
                <a:ext cx="2452704" cy="102913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marR="0" lvl="0" indent="-2857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Profile Data</a:t>
                </a:r>
              </a:p>
              <a:p>
                <a:pPr marL="285750" marR="0" lvl="0" indent="-2857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Institutional Profile</a:t>
                </a:r>
              </a:p>
              <a:p>
                <a:pPr marL="285750" marR="0" lvl="0" indent="-285750" algn="l">
                  <a:lnSpc>
                    <a:spcPct val="115000"/>
                  </a:lnSpc>
                  <a:spcBef>
                    <a:spcPts val="0"/>
                  </a:spcBef>
                  <a:spcAft>
                    <a:spcPts val="0"/>
                  </a:spcAft>
                  <a:buFont typeface="Arial" panose="020B0604020202020204" pitchFamily="34" charset="0"/>
                  <a:buChar char="•"/>
                </a:pPr>
                <a:r>
                  <a:rPr lang="en-US" sz="1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Vision Statements etc</a:t>
                </a:r>
                <a:endPar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285750" marR="0" lvl="0" indent="-285750" algn="l">
                  <a:lnSpc>
                    <a:spcPct val="115000"/>
                  </a:lnSpc>
                  <a:spcBef>
                    <a:spcPts val="0"/>
                  </a:spcBef>
                  <a:spcAft>
                    <a:spcPts val="0"/>
                  </a:spcAft>
                  <a:buFont typeface="Arial" panose="020B0604020202020204" pitchFamily="34" charset="0"/>
                  <a:buChar char="•"/>
                </a:pPr>
                <a:endPar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285750" marR="0" lvl="0" indent="-285750" algn="l">
                  <a:lnSpc>
                    <a:spcPct val="115000"/>
                  </a:lnSpc>
                  <a:spcBef>
                    <a:spcPts val="0"/>
                  </a:spcBef>
                  <a:spcAft>
                    <a:spcPts val="0"/>
                  </a:spcAft>
                  <a:buFont typeface="Arial" panose="020B0604020202020204" pitchFamily="34" charset="0"/>
                  <a:buChar char="•"/>
                </a:pPr>
                <a:endPar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6441D1A3-BE25-50DA-8D57-DCA5885BB8A8}"/>
                  </a:ext>
                </a:extLst>
              </p:cNvPr>
              <p:cNvSpPr/>
              <p:nvPr/>
            </p:nvSpPr>
            <p:spPr>
              <a:xfrm>
                <a:off x="6941743" y="4585169"/>
                <a:ext cx="2128464" cy="7233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Times New Roman" panose="02020603050405020304" pitchFamily="18" charset="0"/>
                    <a:cs typeface="Times New Roman" panose="02020603050405020304" pitchFamily="18" charset="0"/>
                  </a:rPr>
                  <a:t>ZIP CODE MASTER</a:t>
                </a:r>
              </a:p>
            </p:txBody>
          </p:sp>
          <p:sp>
            <p:nvSpPr>
              <p:cNvPr id="19" name="Oval 18">
                <a:extLst>
                  <a:ext uri="{FF2B5EF4-FFF2-40B4-BE49-F238E27FC236}">
                    <a16:creationId xmlns:a16="http://schemas.microsoft.com/office/drawing/2014/main" id="{03C2D45A-3220-5B23-8E0F-0A40E4DCD7F3}"/>
                  </a:ext>
                </a:extLst>
              </p:cNvPr>
              <p:cNvSpPr/>
              <p:nvPr/>
            </p:nvSpPr>
            <p:spPr>
              <a:xfrm>
                <a:off x="6999796" y="2530915"/>
                <a:ext cx="2000250" cy="7233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Times New Roman" panose="02020603050405020304" pitchFamily="18" charset="0"/>
                    <a:cs typeface="Times New Roman" panose="02020603050405020304" pitchFamily="18" charset="0"/>
                  </a:rPr>
                  <a:t>INDICATOR MASTER</a:t>
                </a:r>
              </a:p>
            </p:txBody>
          </p:sp>
          <p:sp>
            <p:nvSpPr>
              <p:cNvPr id="20" name="Oval 19">
                <a:extLst>
                  <a:ext uri="{FF2B5EF4-FFF2-40B4-BE49-F238E27FC236}">
                    <a16:creationId xmlns:a16="http://schemas.microsoft.com/office/drawing/2014/main" id="{FCC8342C-E46C-99C6-5C2E-61F3B3682CD3}"/>
                  </a:ext>
                </a:extLst>
              </p:cNvPr>
              <p:cNvSpPr/>
              <p:nvPr/>
            </p:nvSpPr>
            <p:spPr>
              <a:xfrm>
                <a:off x="9014068" y="1250188"/>
                <a:ext cx="2218314" cy="7233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Times New Roman" panose="02020603050405020304" pitchFamily="18" charset="0"/>
                    <a:cs typeface="Times New Roman" panose="02020603050405020304" pitchFamily="18" charset="0"/>
                  </a:rPr>
                  <a:t>CALCULATOR</a:t>
                </a:r>
              </a:p>
            </p:txBody>
          </p:sp>
          <p:sp>
            <p:nvSpPr>
              <p:cNvPr id="21" name="Oval 20">
                <a:extLst>
                  <a:ext uri="{FF2B5EF4-FFF2-40B4-BE49-F238E27FC236}">
                    <a16:creationId xmlns:a16="http://schemas.microsoft.com/office/drawing/2014/main" id="{00DFE65D-C533-9DE7-E29B-32B5FE2020DC}"/>
                  </a:ext>
                </a:extLst>
              </p:cNvPr>
              <p:cNvSpPr/>
              <p:nvPr/>
            </p:nvSpPr>
            <p:spPr>
              <a:xfrm>
                <a:off x="4266546" y="3979384"/>
                <a:ext cx="2244451" cy="7233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Times New Roman" panose="02020603050405020304" pitchFamily="18" charset="0"/>
                    <a:cs typeface="Times New Roman" panose="02020603050405020304" pitchFamily="18" charset="0"/>
                  </a:rPr>
                  <a:t>JURISDICTION MASTER</a:t>
                </a:r>
              </a:p>
            </p:txBody>
          </p:sp>
          <p:sp>
            <p:nvSpPr>
              <p:cNvPr id="23" name="Subtitle 2">
                <a:extLst>
                  <a:ext uri="{FF2B5EF4-FFF2-40B4-BE49-F238E27FC236}">
                    <a16:creationId xmlns:a16="http://schemas.microsoft.com/office/drawing/2014/main" id="{5D1EFBC7-2B58-A08E-FEE6-8DCDE3082865}"/>
                  </a:ext>
                </a:extLst>
              </p:cNvPr>
              <p:cNvSpPr txBox="1">
                <a:spLocks/>
              </p:cNvSpPr>
              <p:nvPr/>
            </p:nvSpPr>
            <p:spPr>
              <a:xfrm>
                <a:off x="9251813" y="2024535"/>
                <a:ext cx="2452704" cy="103732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Searcher Criteria</a:t>
                </a:r>
              </a:p>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Weighting Value</a:t>
                </a:r>
              </a:p>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Analytic Results</a:t>
                </a:r>
                <a:endPar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24" name="Subtitle 2">
                <a:extLst>
                  <a:ext uri="{FF2B5EF4-FFF2-40B4-BE49-F238E27FC236}">
                    <a16:creationId xmlns:a16="http://schemas.microsoft.com/office/drawing/2014/main" id="{A121A461-C8AF-DA70-788B-BD31DFC4F481}"/>
                  </a:ext>
                </a:extLst>
              </p:cNvPr>
              <p:cNvSpPr txBox="1">
                <a:spLocks/>
              </p:cNvSpPr>
              <p:nvPr/>
            </p:nvSpPr>
            <p:spPr>
              <a:xfrm>
                <a:off x="9185765" y="3986102"/>
                <a:ext cx="3092222" cy="103732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R="0" lvl="0" algn="l">
                  <a:lnSpc>
                    <a:spcPct val="115000"/>
                  </a:lnSpc>
                  <a:spcBef>
                    <a:spcPts val="0"/>
                  </a:spcBef>
                  <a:spcAft>
                    <a:spcPts val="0"/>
                  </a:spcAft>
                </a:pPr>
                <a:r>
                  <a:rPr lang="en-US" sz="18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INTERFACES / SUPPORTS</a:t>
                </a:r>
              </a:p>
              <a:p>
                <a:pPr marL="285750" marR="0" lvl="0" indent="-285750" algn="l">
                  <a:lnSpc>
                    <a:spcPct val="115000"/>
                  </a:lnSpc>
                  <a:spcBef>
                    <a:spcPts val="0"/>
                  </a:spcBef>
                  <a:spcAft>
                    <a:spcPts val="0"/>
                  </a:spcAft>
                  <a:buFont typeface="Arial" panose="020B0604020202020204" pitchFamily="34" charset="0"/>
                  <a:buChar char="•"/>
                </a:pPr>
                <a:r>
                  <a:rPr lang="en-US" sz="18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Lens Entity Database</a:t>
                </a:r>
              </a:p>
              <a:p>
                <a:pPr marL="285750" marR="0" lvl="0" indent="-285750" algn="l">
                  <a:lnSpc>
                    <a:spcPct val="115000"/>
                  </a:lnSpc>
                  <a:spcBef>
                    <a:spcPts val="0"/>
                  </a:spcBef>
                  <a:spcAft>
                    <a:spcPts val="0"/>
                  </a:spcAft>
                  <a:buFont typeface="Arial" panose="020B0604020202020204" pitchFamily="34" charset="0"/>
                  <a:buChar char="•"/>
                </a:pPr>
                <a:r>
                  <a:rPr lang="en-US" sz="18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Mapping Routines</a:t>
                </a:r>
              </a:p>
              <a:p>
                <a:pPr marR="0" lvl="0" algn="l">
                  <a:lnSpc>
                    <a:spcPct val="115000"/>
                  </a:lnSpc>
                  <a:spcBef>
                    <a:spcPts val="0"/>
                  </a:spcBef>
                  <a:spcAft>
                    <a:spcPts val="0"/>
                  </a:spcAft>
                </a:pPr>
                <a:endParaRPr lang="en-US" sz="18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R="0" lvl="0" algn="l">
                  <a:lnSpc>
                    <a:spcPct val="115000"/>
                  </a:lnSpc>
                  <a:spcBef>
                    <a:spcPts val="0"/>
                  </a:spcBef>
                  <a:spcAft>
                    <a:spcPts val="0"/>
                  </a:spcAft>
                </a:pPr>
                <a:endParaRPr lang="en-US" sz="18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25" name="Oval 24">
                <a:extLst>
                  <a:ext uri="{FF2B5EF4-FFF2-40B4-BE49-F238E27FC236}">
                    <a16:creationId xmlns:a16="http://schemas.microsoft.com/office/drawing/2014/main" id="{C20D2139-7DFB-3921-DC6C-684B467DD177}"/>
                  </a:ext>
                </a:extLst>
              </p:cNvPr>
              <p:cNvSpPr/>
              <p:nvPr/>
            </p:nvSpPr>
            <p:spPr>
              <a:xfrm>
                <a:off x="4580964" y="1300178"/>
                <a:ext cx="2129583" cy="7233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Times New Roman" panose="02020603050405020304" pitchFamily="18" charset="0"/>
                    <a:cs typeface="Times New Roman" panose="02020603050405020304" pitchFamily="18" charset="0"/>
                  </a:rPr>
                  <a:t>TRENDS MASTER</a:t>
                </a:r>
              </a:p>
            </p:txBody>
          </p:sp>
          <p:sp>
            <p:nvSpPr>
              <p:cNvPr id="26" name="Subtitle 2">
                <a:extLst>
                  <a:ext uri="{FF2B5EF4-FFF2-40B4-BE49-F238E27FC236}">
                    <a16:creationId xmlns:a16="http://schemas.microsoft.com/office/drawing/2014/main" id="{2832CC1E-0AFF-752A-E2F5-E4F3E70AB39F}"/>
                  </a:ext>
                </a:extLst>
              </p:cNvPr>
              <p:cNvSpPr txBox="1">
                <a:spLocks/>
              </p:cNvSpPr>
              <p:nvPr/>
            </p:nvSpPr>
            <p:spPr>
              <a:xfrm>
                <a:off x="2194773" y="3990323"/>
                <a:ext cx="2128464" cy="103732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Profile Data</a:t>
                </a:r>
              </a:p>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Institutional Profile</a:t>
                </a:r>
              </a:p>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Vision Statements etc</a:t>
                </a:r>
                <a:endPar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Arial" panose="020B0604020202020204" pitchFamily="34" charset="0"/>
                  <a:buChar char="•"/>
                </a:pPr>
                <a:endPar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27" name="Oval 26">
                <a:extLst>
                  <a:ext uri="{FF2B5EF4-FFF2-40B4-BE49-F238E27FC236}">
                    <a16:creationId xmlns:a16="http://schemas.microsoft.com/office/drawing/2014/main" id="{B4411FD4-66FC-695C-1EE7-55D5C5783741}"/>
                  </a:ext>
                </a:extLst>
              </p:cNvPr>
              <p:cNvSpPr/>
              <p:nvPr/>
            </p:nvSpPr>
            <p:spPr>
              <a:xfrm>
                <a:off x="2164871" y="3219194"/>
                <a:ext cx="2129583" cy="7233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Times New Roman" panose="02020603050405020304" pitchFamily="18" charset="0"/>
                    <a:cs typeface="Times New Roman" panose="02020603050405020304" pitchFamily="18" charset="0"/>
                  </a:rPr>
                  <a:t>COMMUNITY MASTER</a:t>
                </a:r>
              </a:p>
            </p:txBody>
          </p:sp>
          <p:sp>
            <p:nvSpPr>
              <p:cNvPr id="28" name="Subtitle 2">
                <a:extLst>
                  <a:ext uri="{FF2B5EF4-FFF2-40B4-BE49-F238E27FC236}">
                    <a16:creationId xmlns:a16="http://schemas.microsoft.com/office/drawing/2014/main" id="{0698F6D6-5DA2-A094-3C1F-9A62A7A8A949}"/>
                  </a:ext>
                </a:extLst>
              </p:cNvPr>
              <p:cNvSpPr txBox="1">
                <a:spLocks/>
              </p:cNvSpPr>
              <p:nvPr/>
            </p:nvSpPr>
            <p:spPr>
              <a:xfrm>
                <a:off x="166112" y="3209506"/>
                <a:ext cx="2219083" cy="103732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Profile Data</a:t>
                </a:r>
              </a:p>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Institutional Profile</a:t>
                </a:r>
              </a:p>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Vision Statements </a:t>
                </a: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etc</a:t>
                </a:r>
                <a:endPar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R="0" lvl="0" algn="l">
                  <a:lnSpc>
                    <a:spcPct val="115000"/>
                  </a:lnSpc>
                  <a:spcBef>
                    <a:spcPts val="0"/>
                  </a:spcBef>
                  <a:spcAft>
                    <a:spcPts val="0"/>
                  </a:spcAft>
                </a:pPr>
                <a:endPar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R="0" lvl="0" algn="l">
                  <a:lnSpc>
                    <a:spcPct val="115000"/>
                  </a:lnSpc>
                  <a:spcBef>
                    <a:spcPts val="0"/>
                  </a:spcBef>
                  <a:spcAft>
                    <a:spcPts val="0"/>
                  </a:spcAft>
                </a:pPr>
                <a:endPar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29" name="Oval 28">
                <a:extLst>
                  <a:ext uri="{FF2B5EF4-FFF2-40B4-BE49-F238E27FC236}">
                    <a16:creationId xmlns:a16="http://schemas.microsoft.com/office/drawing/2014/main" id="{505C9B88-641A-6543-5891-481F6867BCA2}"/>
                  </a:ext>
                </a:extLst>
              </p:cNvPr>
              <p:cNvSpPr/>
              <p:nvPr/>
            </p:nvSpPr>
            <p:spPr>
              <a:xfrm>
                <a:off x="0" y="2468750"/>
                <a:ext cx="2129583" cy="7233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Times New Roman" panose="02020603050405020304" pitchFamily="18" charset="0"/>
                    <a:cs typeface="Times New Roman" panose="02020603050405020304" pitchFamily="18" charset="0"/>
                  </a:rPr>
                  <a:t>IAC</a:t>
                </a:r>
              </a:p>
              <a:p>
                <a:pPr algn="ctr"/>
                <a:r>
                  <a:rPr lang="en-US" sz="1600" dirty="0">
                    <a:latin typeface="Times New Roman" panose="02020603050405020304" pitchFamily="18" charset="0"/>
                    <a:cs typeface="Times New Roman" panose="02020603050405020304" pitchFamily="18" charset="0"/>
                  </a:rPr>
                  <a:t> MASTER</a:t>
                </a:r>
              </a:p>
            </p:txBody>
          </p:sp>
          <p:sp>
            <p:nvSpPr>
              <p:cNvPr id="30" name="Subtitle 2">
                <a:extLst>
                  <a:ext uri="{FF2B5EF4-FFF2-40B4-BE49-F238E27FC236}">
                    <a16:creationId xmlns:a16="http://schemas.microsoft.com/office/drawing/2014/main" id="{5678BDA4-E457-D0A1-A2A3-D81CB724CAD5}"/>
                  </a:ext>
                </a:extLst>
              </p:cNvPr>
              <p:cNvSpPr txBox="1">
                <a:spLocks/>
              </p:cNvSpPr>
              <p:nvPr/>
            </p:nvSpPr>
            <p:spPr>
              <a:xfrm>
                <a:off x="6888337" y="3280619"/>
                <a:ext cx="2452704" cy="103732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Source Year</a:t>
                </a:r>
              </a:p>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Value</a:t>
                </a:r>
              </a:p>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Source &amp; Recurring Data</a:t>
                </a:r>
                <a:endPar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31" name="Subtitle 2">
                <a:extLst>
                  <a:ext uri="{FF2B5EF4-FFF2-40B4-BE49-F238E27FC236}">
                    <a16:creationId xmlns:a16="http://schemas.microsoft.com/office/drawing/2014/main" id="{58CBDEC6-A482-2A32-350A-ED5601A81A59}"/>
                  </a:ext>
                </a:extLst>
              </p:cNvPr>
              <p:cNvSpPr txBox="1">
                <a:spLocks/>
              </p:cNvSpPr>
              <p:nvPr/>
            </p:nvSpPr>
            <p:spPr>
              <a:xfrm>
                <a:off x="4695141" y="2072327"/>
                <a:ext cx="1417515" cy="103732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Zip Code</a:t>
                </a:r>
              </a:p>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Year</a:t>
                </a:r>
              </a:p>
              <a:p>
                <a:pPr marL="171450" marR="0" lvl="0" indent="-171450" algn="l">
                  <a:lnSpc>
                    <a:spcPct val="115000"/>
                  </a:lnSpc>
                  <a:spcBef>
                    <a:spcPts val="0"/>
                  </a:spcBef>
                  <a:spcAft>
                    <a:spcPts val="0"/>
                  </a:spcAft>
                  <a:buFont typeface="Arial" panose="020B0604020202020204" pitchFamily="34" charset="0"/>
                  <a:buChar char="•"/>
                </a:pPr>
                <a:r>
                  <a:rPr lang="en-US" sz="1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Value</a:t>
                </a:r>
              </a:p>
            </p:txBody>
          </p:sp>
          <p:cxnSp>
            <p:nvCxnSpPr>
              <p:cNvPr id="33" name="Straight Arrow Connector 32">
                <a:extLst>
                  <a:ext uri="{FF2B5EF4-FFF2-40B4-BE49-F238E27FC236}">
                    <a16:creationId xmlns:a16="http://schemas.microsoft.com/office/drawing/2014/main" id="{37486388-01FF-F767-EE80-34DF9AF76CF6}"/>
                  </a:ext>
                </a:extLst>
              </p:cNvPr>
              <p:cNvCxnSpPr>
                <a:cxnSpLocks/>
                <a:stCxn id="18" idx="0"/>
                <a:endCxn id="19" idx="4"/>
              </p:cNvCxnSpPr>
              <p:nvPr/>
            </p:nvCxnSpPr>
            <p:spPr>
              <a:xfrm flipH="1" flipV="1">
                <a:off x="7999921" y="3254246"/>
                <a:ext cx="6054" cy="1330923"/>
              </a:xfrm>
              <a:prstGeom prst="straightConnector1">
                <a:avLst/>
              </a:prstGeom>
              <a:ln w="38100">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848F80F4-38D4-1265-6357-E147B3297D49}"/>
                  </a:ext>
                </a:extLst>
              </p:cNvPr>
              <p:cNvCxnSpPr>
                <a:cxnSpLocks/>
                <a:stCxn id="19" idx="1"/>
                <a:endCxn id="25" idx="5"/>
              </p:cNvCxnSpPr>
              <p:nvPr/>
            </p:nvCxnSpPr>
            <p:spPr>
              <a:xfrm flipH="1" flipV="1">
                <a:off x="6398677" y="1917580"/>
                <a:ext cx="894049" cy="719264"/>
              </a:xfrm>
              <a:prstGeom prst="straightConnector1">
                <a:avLst/>
              </a:prstGeom>
              <a:ln w="38100">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D8C3421C-DA88-9EE5-1B9F-3976087BF38C}"/>
                  </a:ext>
                </a:extLst>
              </p:cNvPr>
              <p:cNvCxnSpPr>
                <a:cxnSpLocks/>
                <a:stCxn id="19" idx="7"/>
              </p:cNvCxnSpPr>
              <p:nvPr/>
            </p:nvCxnSpPr>
            <p:spPr>
              <a:xfrm flipV="1">
                <a:off x="8707116" y="1931982"/>
                <a:ext cx="691978" cy="704862"/>
              </a:xfrm>
              <a:prstGeom prst="straightConnector1">
                <a:avLst/>
              </a:prstGeom>
              <a:ln w="38100">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F7A7513F-C87B-647A-C58D-7E84D2F35A15}"/>
                  </a:ext>
                </a:extLst>
              </p:cNvPr>
              <p:cNvCxnSpPr>
                <a:cxnSpLocks/>
                <a:stCxn id="25" idx="6"/>
                <a:endCxn id="20" idx="2"/>
              </p:cNvCxnSpPr>
              <p:nvPr/>
            </p:nvCxnSpPr>
            <p:spPr>
              <a:xfrm flipV="1">
                <a:off x="6710547" y="1611854"/>
                <a:ext cx="2303521" cy="49990"/>
              </a:xfrm>
              <a:prstGeom prst="straightConnector1">
                <a:avLst/>
              </a:prstGeom>
              <a:ln w="38100">
                <a:solidFill>
                  <a:schemeClr val="bg1"/>
                </a:solidFill>
                <a:tailEnd type="triangle"/>
              </a:ln>
            </p:spPr>
            <p:style>
              <a:lnRef idx="2">
                <a:schemeClr val="accent1"/>
              </a:lnRef>
              <a:fillRef idx="0">
                <a:schemeClr val="accent1"/>
              </a:fillRef>
              <a:effectRef idx="1">
                <a:schemeClr val="accent1"/>
              </a:effectRef>
              <a:fontRef idx="minor">
                <a:schemeClr val="tx1"/>
              </a:fontRef>
            </p:style>
          </p:cxnSp>
          <p:sp>
            <p:nvSpPr>
              <p:cNvPr id="53" name="Subtitle 2">
                <a:extLst>
                  <a:ext uri="{FF2B5EF4-FFF2-40B4-BE49-F238E27FC236}">
                    <a16:creationId xmlns:a16="http://schemas.microsoft.com/office/drawing/2014/main" id="{5AA03866-03DB-DE7A-A37E-DF75B85A65B4}"/>
                  </a:ext>
                </a:extLst>
              </p:cNvPr>
              <p:cNvSpPr txBox="1">
                <a:spLocks/>
              </p:cNvSpPr>
              <p:nvPr/>
            </p:nvSpPr>
            <p:spPr>
              <a:xfrm>
                <a:off x="4955928" y="3057756"/>
                <a:ext cx="1864569" cy="343208"/>
              </a:xfrm>
              <a:prstGeom prst="rect">
                <a:avLst/>
              </a:prstGeom>
              <a:ln>
                <a:solidFill>
                  <a:schemeClr val="bg1"/>
                </a:solidFill>
              </a:ln>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R="0" lvl="0">
                  <a:lnSpc>
                    <a:spcPct val="115000"/>
                  </a:lnSpc>
                  <a:spcBef>
                    <a:spcPts val="0"/>
                  </a:spcBef>
                  <a:spcAft>
                    <a:spcPts val="0"/>
                  </a:spcAft>
                </a:pPr>
                <a:r>
                  <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RESEARCHERS</a:t>
                </a:r>
              </a:p>
            </p:txBody>
          </p:sp>
          <p:sp>
            <p:nvSpPr>
              <p:cNvPr id="2" name="Oval 1">
                <a:extLst>
                  <a:ext uri="{FF2B5EF4-FFF2-40B4-BE49-F238E27FC236}">
                    <a16:creationId xmlns:a16="http://schemas.microsoft.com/office/drawing/2014/main" id="{A1978ECD-09C0-3FC1-741A-11B67A53AE04}"/>
                  </a:ext>
                </a:extLst>
              </p:cNvPr>
              <p:cNvSpPr/>
              <p:nvPr/>
            </p:nvSpPr>
            <p:spPr>
              <a:xfrm>
                <a:off x="9014068" y="1259713"/>
                <a:ext cx="2218314" cy="7233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Times New Roman" panose="02020603050405020304" pitchFamily="18" charset="0"/>
                    <a:cs typeface="Times New Roman" panose="02020603050405020304" pitchFamily="18" charset="0"/>
                  </a:rPr>
                  <a:t>CALCULATOR</a:t>
                </a:r>
              </a:p>
            </p:txBody>
          </p:sp>
        </p:grpSp>
      </p:grpSp>
      <p:cxnSp>
        <p:nvCxnSpPr>
          <p:cNvPr id="6" name="Straight Connector 5">
            <a:extLst>
              <a:ext uri="{FF2B5EF4-FFF2-40B4-BE49-F238E27FC236}">
                <a16:creationId xmlns:a16="http://schemas.microsoft.com/office/drawing/2014/main" id="{63CEF5AD-AB4C-3357-C0B4-C1DB02DC7FAB}"/>
              </a:ext>
            </a:extLst>
          </p:cNvPr>
          <p:cNvCxnSpPr>
            <a:cxnSpLocks/>
          </p:cNvCxnSpPr>
          <p:nvPr/>
        </p:nvCxnSpPr>
        <p:spPr>
          <a:xfrm>
            <a:off x="0" y="61150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5CB1F0C9-712B-89E2-4174-62642595A45B}"/>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9" name="Rectangle: Rounded Corners 8">
            <a:extLst>
              <a:ext uri="{FF2B5EF4-FFF2-40B4-BE49-F238E27FC236}">
                <a16:creationId xmlns:a16="http://schemas.microsoft.com/office/drawing/2014/main" id="{FBB1301C-41B9-F9D4-E087-2FFD393853B7}"/>
              </a:ext>
            </a:extLst>
          </p:cNvPr>
          <p:cNvSpPr/>
          <p:nvPr/>
        </p:nvSpPr>
        <p:spPr>
          <a:xfrm>
            <a:off x="10175496" y="6157518"/>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2" action="ppaction://hlinksldjump">
                  <a:extLst>
                    <a:ext uri="{A12FA001-AC4F-418D-AE19-62706E023703}">
                      <ahyp:hlinkClr xmlns:ahyp="http://schemas.microsoft.com/office/drawing/2018/hyperlinkcolor" val="tx"/>
                    </a:ext>
                  </a:extLst>
                </a:hlinkClick>
              </a:rPr>
              <a:t>Back To Presentation</a:t>
            </a:r>
            <a:endParaRPr lang="en-US"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820870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3224B7-483B-A730-AC99-BFFE7D0388E9}"/>
              </a:ext>
            </a:extLst>
          </p:cNvPr>
          <p:cNvSpPr txBox="1"/>
          <p:nvPr/>
        </p:nvSpPr>
        <p:spPr>
          <a:xfrm rot="16200000">
            <a:off x="-4434930" y="3321315"/>
            <a:ext cx="6858002" cy="769441"/>
          </a:xfrm>
          <a:prstGeom prst="rect">
            <a:avLst/>
          </a:prstGeom>
          <a:solidFill>
            <a:schemeClr val="tx1"/>
          </a:solidFill>
        </p:spPr>
        <p:txBody>
          <a:bodyPr wrap="square" rtlCol="0">
            <a:spAutoFit/>
          </a:bodyPr>
          <a:lstStyle/>
          <a:p>
            <a:pPr algn="ctr"/>
            <a:r>
              <a:rPr lang="en-US" sz="4400" b="1" dirty="0">
                <a:solidFill>
                  <a:schemeClr val="bg1"/>
                </a:solidFill>
                <a:latin typeface="Stencil" panose="040409050D0802020404" pitchFamily="82" charset="0"/>
              </a:rPr>
              <a:t>3. e-Consensus FORUm</a:t>
            </a:r>
          </a:p>
        </p:txBody>
      </p:sp>
      <p:sp>
        <p:nvSpPr>
          <p:cNvPr id="8" name="TextBox 7">
            <a:extLst>
              <a:ext uri="{FF2B5EF4-FFF2-40B4-BE49-F238E27FC236}">
                <a16:creationId xmlns:a16="http://schemas.microsoft.com/office/drawing/2014/main" id="{D3C87BF5-944E-F546-7C00-851916A53BB8}"/>
              </a:ext>
            </a:extLst>
          </p:cNvPr>
          <p:cNvSpPr txBox="1"/>
          <p:nvPr/>
        </p:nvSpPr>
        <p:spPr>
          <a:xfrm>
            <a:off x="717346" y="276019"/>
            <a:ext cx="11321923" cy="707886"/>
          </a:xfrm>
          <a:prstGeom prst="rect">
            <a:avLst/>
          </a:prstGeom>
          <a:noFill/>
        </p:spPr>
        <p:txBody>
          <a:bodyPr wrap="square" rtlCol="0">
            <a:spAutoFit/>
          </a:bodyPr>
          <a:lstStyle/>
          <a:p>
            <a:pPr algn="ctr"/>
            <a:r>
              <a:rPr lang="en-US" sz="4000" b="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A. RESTORING THE COMMUNITY VOICE</a:t>
            </a:r>
            <a:endParaRPr lang="en-US" sz="4000" dirty="0">
              <a:solidFill>
                <a:schemeClr val="bg1"/>
              </a:solidFill>
              <a:latin typeface="Times New Roman" panose="02020603050405020304" pitchFamily="18" charset="0"/>
              <a:cs typeface="Times New Roman" panose="02020603050405020304" pitchFamily="18" charset="0"/>
            </a:endParaRPr>
          </a:p>
        </p:txBody>
      </p:sp>
      <p:pic>
        <p:nvPicPr>
          <p:cNvPr id="13" name="Picture 12" descr="A diagram of a structure&#10;&#10;AI-generated content may be incorrect.">
            <a:extLst>
              <a:ext uri="{FF2B5EF4-FFF2-40B4-BE49-F238E27FC236}">
                <a16:creationId xmlns:a16="http://schemas.microsoft.com/office/drawing/2014/main" id="{EBFD22E5-A82B-1C40-B90B-EA4D8E9822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8368" y="1190708"/>
            <a:ext cx="5996668" cy="4476583"/>
          </a:xfrm>
          <a:prstGeom prst="rect">
            <a:avLst/>
          </a:prstGeom>
        </p:spPr>
      </p:pic>
      <p:cxnSp>
        <p:nvCxnSpPr>
          <p:cNvPr id="6" name="Straight Connector 5">
            <a:extLst>
              <a:ext uri="{FF2B5EF4-FFF2-40B4-BE49-F238E27FC236}">
                <a16:creationId xmlns:a16="http://schemas.microsoft.com/office/drawing/2014/main" id="{C0E7D35F-7FD9-CB2F-FE22-4BBDA5178708}"/>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B0948BB3-AEA0-18C1-EDB3-69FF61121592}"/>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9" name="Action Button: Go Forward or Next 8">
            <a:hlinkClick r:id="" action="ppaction://hlinkshowjump?jump=nextslide" highlightClick="1"/>
            <a:extLst>
              <a:ext uri="{FF2B5EF4-FFF2-40B4-BE49-F238E27FC236}">
                <a16:creationId xmlns:a16="http://schemas.microsoft.com/office/drawing/2014/main" id="{133EB433-2433-EB3C-E999-7844FB4C11FA}"/>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13B10E61-B245-81A5-66EF-6E3DD70A530C}"/>
              </a:ext>
            </a:extLst>
          </p:cNvPr>
          <p:cNvSpPr txBox="1"/>
          <p:nvPr/>
        </p:nvSpPr>
        <p:spPr>
          <a:xfrm>
            <a:off x="965770" y="1520575"/>
            <a:ext cx="3638407" cy="2862322"/>
          </a:xfrm>
          <a:prstGeom prst="rect">
            <a:avLst/>
          </a:prstGeom>
          <a:noFill/>
        </p:spPr>
        <p:txBody>
          <a:bodyPr wrap="square" rtlCol="0">
            <a:spAutoFit/>
          </a:bodyPr>
          <a:lstStyle/>
          <a:p>
            <a:r>
              <a:rPr lang="en-US" sz="3600" dirty="0">
                <a:solidFill>
                  <a:schemeClr val="bg1"/>
                </a:solidFill>
                <a:latin typeface="Times New Roman" panose="02020603050405020304" pitchFamily="18" charset="0"/>
                <a:cs typeface="Times New Roman" panose="02020603050405020304" pitchFamily="18" charset="0"/>
              </a:rPr>
              <a:t>“What does your community need to be viable in the Information Age?”</a:t>
            </a:r>
          </a:p>
          <a:p>
            <a:r>
              <a:rPr lang="en-US" sz="3600" dirty="0">
                <a:solidFill>
                  <a:schemeClr val="bg1"/>
                </a:solidFill>
                <a:latin typeface="Times New Roman" panose="02020603050405020304" pitchFamily="18" charset="0"/>
                <a:cs typeface="Times New Roman" panose="02020603050405020304" pitchFamily="18" charset="0"/>
              </a:rPr>
              <a:t>    </a:t>
            </a:r>
            <a:r>
              <a:rPr lang="en-US" i="1" dirty="0">
                <a:solidFill>
                  <a:schemeClr val="bg1"/>
                </a:solidFill>
                <a:latin typeface="Times New Roman" panose="02020603050405020304" pitchFamily="18" charset="0"/>
                <a:cs typeface="Times New Roman" panose="02020603050405020304" pitchFamily="18" charset="0"/>
              </a:rPr>
              <a:t>Community Dialogue Process</a:t>
            </a:r>
          </a:p>
        </p:txBody>
      </p:sp>
    </p:spTree>
    <p:extLst>
      <p:ext uri="{BB962C8B-B14F-4D97-AF65-F5344CB8AC3E}">
        <p14:creationId xmlns:p14="http://schemas.microsoft.com/office/powerpoint/2010/main" val="24111753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3224B7-483B-A730-AC99-BFFE7D0388E9}"/>
              </a:ext>
            </a:extLst>
          </p:cNvPr>
          <p:cNvSpPr txBox="1"/>
          <p:nvPr/>
        </p:nvSpPr>
        <p:spPr>
          <a:xfrm rot="16200000">
            <a:off x="-4434930" y="3321315"/>
            <a:ext cx="6858002" cy="769441"/>
          </a:xfrm>
          <a:prstGeom prst="rect">
            <a:avLst/>
          </a:prstGeom>
          <a:solidFill>
            <a:schemeClr val="tx1"/>
          </a:solidFill>
        </p:spPr>
        <p:txBody>
          <a:bodyPr wrap="square" rtlCol="0">
            <a:spAutoFit/>
          </a:bodyPr>
          <a:lstStyle/>
          <a:p>
            <a:pPr algn="ctr"/>
            <a:r>
              <a:rPr lang="en-US" sz="4400" b="1" dirty="0">
                <a:solidFill>
                  <a:schemeClr val="bg1"/>
                </a:solidFill>
                <a:latin typeface="Stencil" panose="040409050D0802020404" pitchFamily="82" charset="0"/>
              </a:rPr>
              <a:t>3. e-Consensus FORUm</a:t>
            </a:r>
          </a:p>
        </p:txBody>
      </p:sp>
      <p:sp>
        <p:nvSpPr>
          <p:cNvPr id="8" name="TextBox 7">
            <a:extLst>
              <a:ext uri="{FF2B5EF4-FFF2-40B4-BE49-F238E27FC236}">
                <a16:creationId xmlns:a16="http://schemas.microsoft.com/office/drawing/2014/main" id="{D3C87BF5-944E-F546-7C00-851916A53BB8}"/>
              </a:ext>
            </a:extLst>
          </p:cNvPr>
          <p:cNvSpPr txBox="1"/>
          <p:nvPr/>
        </p:nvSpPr>
        <p:spPr>
          <a:xfrm>
            <a:off x="0" y="276019"/>
            <a:ext cx="12529226" cy="707886"/>
          </a:xfrm>
          <a:prstGeom prst="rect">
            <a:avLst/>
          </a:prstGeom>
          <a:noFill/>
        </p:spPr>
        <p:txBody>
          <a:bodyPr wrap="square" rtlCol="0">
            <a:spAutoFit/>
          </a:bodyPr>
          <a:lstStyle/>
          <a:p>
            <a:pPr algn="ctr"/>
            <a:r>
              <a:rPr lang="en-US" sz="4000" b="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B. DIALOGUE IN CONTEMPORARY SOCIETY</a:t>
            </a:r>
            <a:endParaRPr lang="en-US" sz="4000" dirty="0">
              <a:solidFill>
                <a:schemeClr val="bg1"/>
              </a:solidFill>
              <a:latin typeface="Times New Roman" panose="02020603050405020304" pitchFamily="18" charset="0"/>
              <a:cs typeface="Times New Roman" panose="02020603050405020304" pitchFamily="18" charset="0"/>
            </a:endParaRPr>
          </a:p>
        </p:txBody>
      </p:sp>
      <p:cxnSp>
        <p:nvCxnSpPr>
          <p:cNvPr id="6" name="Straight Connector 5">
            <a:extLst>
              <a:ext uri="{FF2B5EF4-FFF2-40B4-BE49-F238E27FC236}">
                <a16:creationId xmlns:a16="http://schemas.microsoft.com/office/drawing/2014/main" id="{C0E7D35F-7FD9-CB2F-FE22-4BBDA5178708}"/>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B0948BB3-AEA0-18C1-EDB3-69FF61121592}"/>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9" name="Action Button: Go Forward or Next 8">
            <a:hlinkClick r:id="" action="ppaction://hlinkshowjump?jump=nextslide" highlightClick="1"/>
            <a:extLst>
              <a:ext uri="{FF2B5EF4-FFF2-40B4-BE49-F238E27FC236}">
                <a16:creationId xmlns:a16="http://schemas.microsoft.com/office/drawing/2014/main" id="{133EB433-2433-EB3C-E999-7844FB4C11FA}"/>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FE88CB5A-914E-E32D-21D7-43C174506CE9}"/>
              </a:ext>
            </a:extLst>
          </p:cNvPr>
          <p:cNvSpPr txBox="1"/>
          <p:nvPr/>
        </p:nvSpPr>
        <p:spPr>
          <a:xfrm>
            <a:off x="74578" y="1939574"/>
            <a:ext cx="12117422" cy="584775"/>
          </a:xfrm>
          <a:prstGeom prst="rect">
            <a:avLst/>
          </a:prstGeom>
          <a:noFill/>
        </p:spPr>
        <p:txBody>
          <a:bodyPr wrap="square" rtlCol="0">
            <a:spAutoFit/>
          </a:bodyPr>
          <a:lstStyle/>
          <a:p>
            <a:pPr algn="ctr"/>
            <a:r>
              <a:rPr lang="en-US" sz="2400" b="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If I say </a:t>
            </a:r>
            <a:r>
              <a:rPr lang="en-US" sz="3200" b="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“A”              </a:t>
            </a:r>
            <a:r>
              <a:rPr lang="en-US" sz="2400" b="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They will say </a:t>
            </a:r>
            <a:r>
              <a:rPr lang="en-US" sz="3200" b="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“B”</a:t>
            </a:r>
            <a:endParaRPr lang="en-US" sz="3200" dirty="0">
              <a:solidFill>
                <a:schemeClr val="bg1"/>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F5F99D1-5FFB-36C2-F99B-2F1003A8E30E}"/>
              </a:ext>
            </a:extLst>
          </p:cNvPr>
          <p:cNvSpPr txBox="1"/>
          <p:nvPr/>
        </p:nvSpPr>
        <p:spPr>
          <a:xfrm>
            <a:off x="205902" y="2805633"/>
            <a:ext cx="12117422" cy="1692771"/>
          </a:xfrm>
          <a:prstGeom prst="rect">
            <a:avLst/>
          </a:prstGeom>
          <a:noFill/>
        </p:spPr>
        <p:txBody>
          <a:bodyPr wrap="square" rtlCol="0">
            <a:spAutoFit/>
          </a:bodyPr>
          <a:lstStyle/>
          <a:p>
            <a:pPr algn="ctr"/>
            <a:r>
              <a:rPr lang="en-US" sz="2400" b="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The e-Consensus Forum</a:t>
            </a:r>
          </a:p>
          <a:p>
            <a:pPr algn="ctr"/>
            <a:r>
              <a:rPr lang="en-US" sz="2400" b="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will find</a:t>
            </a:r>
          </a:p>
          <a:p>
            <a:pPr algn="ctr"/>
            <a:r>
              <a:rPr lang="en-US" sz="3200" b="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“C”</a:t>
            </a:r>
          </a:p>
          <a:p>
            <a:pPr algn="ctr"/>
            <a:r>
              <a:rPr lang="en-US" sz="2000" b="1" i="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(consensus)</a:t>
            </a:r>
            <a:endParaRPr lang="en-US" sz="2000" i="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599953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E21E230-5F8C-B7E3-7A0F-C0839E02FCB0}"/>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C. THE UBIQUITOUS e-CONSENSUS FORUM</a:t>
            </a:r>
          </a:p>
        </p:txBody>
      </p:sp>
      <p:cxnSp>
        <p:nvCxnSpPr>
          <p:cNvPr id="10" name="Straight Connector 9">
            <a:extLst>
              <a:ext uri="{FF2B5EF4-FFF2-40B4-BE49-F238E27FC236}">
                <a16:creationId xmlns:a16="http://schemas.microsoft.com/office/drawing/2014/main" id="{CF6D245D-0A94-44F9-2796-E28D086B08CF}"/>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2" name="Action Button: Go Forward or Next 1">
            <a:hlinkClick r:id="" action="ppaction://hlinkshowjump?jump=nextslide" highlightClick="1"/>
            <a:extLst>
              <a:ext uri="{FF2B5EF4-FFF2-40B4-BE49-F238E27FC236}">
                <a16:creationId xmlns:a16="http://schemas.microsoft.com/office/drawing/2014/main" id="{16889472-B832-8539-5CF1-649C989D7B06}"/>
              </a:ext>
            </a:extLst>
          </p:cNvPr>
          <p:cNvSpPr/>
          <p:nvPr/>
        </p:nvSpPr>
        <p:spPr>
          <a:xfrm>
            <a:off x="11277600" y="6197024"/>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9C2565B7-D46F-A90B-4EA3-33CEA8073729}"/>
              </a:ext>
            </a:extLst>
          </p:cNvPr>
          <p:cNvCxnSpPr>
            <a:cxnSpLocks/>
          </p:cNvCxnSpPr>
          <p:nvPr/>
        </p:nvCxnSpPr>
        <p:spPr>
          <a:xfrm>
            <a:off x="-117753" y="6029325"/>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182C1D78-772D-64A4-DEAD-6D335C2D75D8}"/>
              </a:ext>
            </a:extLst>
          </p:cNvPr>
          <p:cNvSpPr txBox="1"/>
          <p:nvPr/>
        </p:nvSpPr>
        <p:spPr>
          <a:xfrm>
            <a:off x="114300" y="6134785"/>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grpSp>
        <p:nvGrpSpPr>
          <p:cNvPr id="61" name="Group 60">
            <a:extLst>
              <a:ext uri="{FF2B5EF4-FFF2-40B4-BE49-F238E27FC236}">
                <a16:creationId xmlns:a16="http://schemas.microsoft.com/office/drawing/2014/main" id="{815FB762-E665-0206-043A-C39983B0349B}"/>
              </a:ext>
            </a:extLst>
          </p:cNvPr>
          <p:cNvGrpSpPr/>
          <p:nvPr/>
        </p:nvGrpSpPr>
        <p:grpSpPr>
          <a:xfrm>
            <a:off x="2243815" y="1124402"/>
            <a:ext cx="8376365" cy="4658817"/>
            <a:chOff x="3521772" y="1010689"/>
            <a:chExt cx="8376365" cy="4658817"/>
          </a:xfrm>
        </p:grpSpPr>
        <p:sp>
          <p:nvSpPr>
            <p:cNvPr id="18" name="TextBox 17">
              <a:extLst>
                <a:ext uri="{FF2B5EF4-FFF2-40B4-BE49-F238E27FC236}">
                  <a16:creationId xmlns:a16="http://schemas.microsoft.com/office/drawing/2014/main" id="{AB1B61C8-BF46-C41D-8F9B-41B9BB117AD4}"/>
                </a:ext>
              </a:extLst>
            </p:cNvPr>
            <p:cNvSpPr txBox="1"/>
            <p:nvPr/>
          </p:nvSpPr>
          <p:spPr>
            <a:xfrm>
              <a:off x="3521774" y="1027099"/>
              <a:ext cx="2235112" cy="523220"/>
            </a:xfrm>
            <a:prstGeom prst="rect">
              <a:avLst/>
            </a:prstGeom>
            <a:noFill/>
          </p:spPr>
          <p:txBody>
            <a:bodyPr wrap="square" rtlCol="0">
              <a:spAutoFit/>
            </a:bodyPr>
            <a:lstStyle/>
            <a:p>
              <a:r>
                <a:rPr lang="en-US" sz="2800" b="1" dirty="0">
                  <a:solidFill>
                    <a:schemeClr val="bg1"/>
                  </a:solidFill>
                  <a:latin typeface="Times New Roman" panose="02020603050405020304" pitchFamily="18" charset="0"/>
                  <a:cs typeface="Times New Roman" panose="02020603050405020304" pitchFamily="18" charset="0"/>
                </a:rPr>
                <a:t>1- Scheduled</a:t>
              </a:r>
            </a:p>
          </p:txBody>
        </p:sp>
        <p:sp>
          <p:nvSpPr>
            <p:cNvPr id="19" name="TextBox 18">
              <a:extLst>
                <a:ext uri="{FF2B5EF4-FFF2-40B4-BE49-F238E27FC236}">
                  <a16:creationId xmlns:a16="http://schemas.microsoft.com/office/drawing/2014/main" id="{39D9F90A-2D55-3F25-BDE0-1BFAEB85A5F1}"/>
                </a:ext>
              </a:extLst>
            </p:cNvPr>
            <p:cNvSpPr txBox="1"/>
            <p:nvPr/>
          </p:nvSpPr>
          <p:spPr>
            <a:xfrm>
              <a:off x="3521772" y="1507246"/>
              <a:ext cx="3525293" cy="523220"/>
            </a:xfrm>
            <a:prstGeom prst="rect">
              <a:avLst/>
            </a:prstGeom>
            <a:noFill/>
          </p:spPr>
          <p:txBody>
            <a:bodyPr wrap="square" rtlCol="0">
              <a:spAutoFit/>
            </a:bodyPr>
            <a:lstStyle/>
            <a:p>
              <a:r>
                <a:rPr lang="en-US" sz="2800" b="1" dirty="0">
                  <a:solidFill>
                    <a:schemeClr val="bg1"/>
                  </a:solidFill>
                  <a:latin typeface="Times New Roman" panose="02020603050405020304" pitchFamily="18" charset="0"/>
                  <a:cs typeface="Times New Roman" panose="02020603050405020304" pitchFamily="18" charset="0"/>
                </a:rPr>
                <a:t>2- Ad Hoc</a:t>
              </a:r>
            </a:p>
          </p:txBody>
        </p:sp>
        <p:sp>
          <p:nvSpPr>
            <p:cNvPr id="20" name="TextBox 19">
              <a:extLst>
                <a:ext uri="{FF2B5EF4-FFF2-40B4-BE49-F238E27FC236}">
                  <a16:creationId xmlns:a16="http://schemas.microsoft.com/office/drawing/2014/main" id="{82E20E45-7AF1-4339-B41B-EF7C374F90A2}"/>
                </a:ext>
              </a:extLst>
            </p:cNvPr>
            <p:cNvSpPr txBox="1"/>
            <p:nvPr/>
          </p:nvSpPr>
          <p:spPr>
            <a:xfrm>
              <a:off x="3621673" y="4424742"/>
              <a:ext cx="2017835" cy="523220"/>
            </a:xfrm>
            <a:prstGeom prst="rect">
              <a:avLst/>
            </a:prstGeom>
            <a:noFill/>
          </p:spPr>
          <p:txBody>
            <a:bodyPr wrap="square" rtlCol="0">
              <a:spAutoFit/>
            </a:bodyPr>
            <a:lstStyle/>
            <a:p>
              <a:r>
                <a:rPr lang="en-US" sz="2800" b="1" dirty="0">
                  <a:solidFill>
                    <a:schemeClr val="bg1"/>
                  </a:solidFill>
                  <a:latin typeface="Times New Roman" panose="02020603050405020304" pitchFamily="18" charset="0"/>
                  <a:cs typeface="Times New Roman" panose="02020603050405020304" pitchFamily="18" charset="0"/>
                </a:rPr>
                <a:t>3- Strategic</a:t>
              </a:r>
            </a:p>
          </p:txBody>
        </p:sp>
        <p:sp>
          <p:nvSpPr>
            <p:cNvPr id="21" name="TextBox 20">
              <a:extLst>
                <a:ext uri="{FF2B5EF4-FFF2-40B4-BE49-F238E27FC236}">
                  <a16:creationId xmlns:a16="http://schemas.microsoft.com/office/drawing/2014/main" id="{7A387C32-58ED-45CA-1027-E4C8BB53C47F}"/>
                </a:ext>
              </a:extLst>
            </p:cNvPr>
            <p:cNvSpPr txBox="1"/>
            <p:nvPr/>
          </p:nvSpPr>
          <p:spPr>
            <a:xfrm>
              <a:off x="5785268" y="1010689"/>
              <a:ext cx="5959057" cy="461665"/>
            </a:xfrm>
            <a:prstGeom prst="rect">
              <a:avLst/>
            </a:prstGeom>
            <a:noFill/>
          </p:spPr>
          <p:txBody>
            <a:bodyPr wrap="square" rtlCol="0">
              <a:spAutoFit/>
            </a:bodyPr>
            <a:lstStyle/>
            <a:p>
              <a:r>
                <a:rPr lang="en-US" sz="2400" dirty="0">
                  <a:solidFill>
                    <a:schemeClr val="bg1"/>
                  </a:solidFill>
                  <a:latin typeface="Times New Roman" panose="02020603050405020304" pitchFamily="18" charset="0"/>
                  <a:cs typeface="Times New Roman" panose="02020603050405020304" pitchFamily="18" charset="0"/>
                </a:rPr>
                <a:t>e.g. Board Meetings, etc.</a:t>
              </a:r>
            </a:p>
          </p:txBody>
        </p:sp>
        <p:sp>
          <p:nvSpPr>
            <p:cNvPr id="22" name="TextBox 21">
              <a:extLst>
                <a:ext uri="{FF2B5EF4-FFF2-40B4-BE49-F238E27FC236}">
                  <a16:creationId xmlns:a16="http://schemas.microsoft.com/office/drawing/2014/main" id="{1B7F1758-8B6B-D457-5D97-95259D52FBB1}"/>
                </a:ext>
              </a:extLst>
            </p:cNvPr>
            <p:cNvSpPr txBox="1"/>
            <p:nvPr/>
          </p:nvSpPr>
          <p:spPr>
            <a:xfrm>
              <a:off x="5756886" y="1556465"/>
              <a:ext cx="5959057" cy="461665"/>
            </a:xfrm>
            <a:prstGeom prst="rect">
              <a:avLst/>
            </a:prstGeom>
            <a:noFill/>
          </p:spPr>
          <p:txBody>
            <a:bodyPr wrap="square" rtlCol="0">
              <a:spAutoFit/>
            </a:bodyPr>
            <a:lstStyle/>
            <a:p>
              <a:r>
                <a:rPr lang="en-US" sz="2400" dirty="0">
                  <a:solidFill>
                    <a:schemeClr val="bg1"/>
                  </a:solidFill>
                  <a:latin typeface="Times New Roman" panose="02020603050405020304" pitchFamily="18" charset="0"/>
                  <a:cs typeface="Times New Roman" panose="02020603050405020304" pitchFamily="18" charset="0"/>
                </a:rPr>
                <a:t>e.g. Community Concerns, etc.</a:t>
              </a:r>
            </a:p>
          </p:txBody>
        </p:sp>
        <p:sp>
          <p:nvSpPr>
            <p:cNvPr id="23" name="TextBox 22">
              <a:extLst>
                <a:ext uri="{FF2B5EF4-FFF2-40B4-BE49-F238E27FC236}">
                  <a16:creationId xmlns:a16="http://schemas.microsoft.com/office/drawing/2014/main" id="{9E4B2D42-276F-DB36-1725-2C36FF97D766}"/>
                </a:ext>
              </a:extLst>
            </p:cNvPr>
            <p:cNvSpPr txBox="1"/>
            <p:nvPr/>
          </p:nvSpPr>
          <p:spPr>
            <a:xfrm>
              <a:off x="5939080" y="4469177"/>
              <a:ext cx="5959057" cy="1200329"/>
            </a:xfrm>
            <a:prstGeom prst="rect">
              <a:avLst/>
            </a:prstGeom>
            <a:noFill/>
          </p:spPr>
          <p:txBody>
            <a:bodyPr wrap="square" rtlCol="0">
              <a:spAutoFit/>
            </a:bodyPr>
            <a:lstStyle/>
            <a:p>
              <a:r>
                <a:rPr lang="en-US" sz="2400" dirty="0">
                  <a:solidFill>
                    <a:schemeClr val="bg1"/>
                  </a:solidFill>
                  <a:latin typeface="Times New Roman" panose="02020603050405020304" pitchFamily="18" charset="0"/>
                  <a:cs typeface="Times New Roman" panose="02020603050405020304" pitchFamily="18" charset="0"/>
                </a:rPr>
                <a:t>e.g. Visioning, Policy Development, Consensus Budgeting, Product / Service Specs Project Reviews, etc.</a:t>
              </a:r>
            </a:p>
          </p:txBody>
        </p:sp>
      </p:grpSp>
      <p:grpSp>
        <p:nvGrpSpPr>
          <p:cNvPr id="62" name="Group 61">
            <a:extLst>
              <a:ext uri="{FF2B5EF4-FFF2-40B4-BE49-F238E27FC236}">
                <a16:creationId xmlns:a16="http://schemas.microsoft.com/office/drawing/2014/main" id="{FDF7CC0C-19B0-7A77-361F-CB951518414B}"/>
              </a:ext>
            </a:extLst>
          </p:cNvPr>
          <p:cNvGrpSpPr/>
          <p:nvPr/>
        </p:nvGrpSpPr>
        <p:grpSpPr>
          <a:xfrm>
            <a:off x="526384" y="2228290"/>
            <a:ext cx="10903726" cy="2017007"/>
            <a:chOff x="608919" y="3728479"/>
            <a:chExt cx="10903726" cy="2017007"/>
          </a:xfrm>
        </p:grpSpPr>
        <p:cxnSp>
          <p:nvCxnSpPr>
            <p:cNvPr id="53" name="Straight Connector 52">
              <a:extLst>
                <a:ext uri="{FF2B5EF4-FFF2-40B4-BE49-F238E27FC236}">
                  <a16:creationId xmlns:a16="http://schemas.microsoft.com/office/drawing/2014/main" id="{46907918-2698-2EF4-3D12-D7A000124EA9}"/>
                </a:ext>
              </a:extLst>
            </p:cNvPr>
            <p:cNvCxnSpPr>
              <a:cxnSpLocks/>
              <a:stCxn id="17" idx="1"/>
              <a:endCxn id="30" idx="3"/>
            </p:cNvCxnSpPr>
            <p:nvPr/>
          </p:nvCxnSpPr>
          <p:spPr>
            <a:xfrm flipH="1" flipV="1">
              <a:off x="2924062" y="4382333"/>
              <a:ext cx="7085460" cy="17558"/>
            </a:xfrm>
            <a:prstGeom prst="line">
              <a:avLst/>
            </a:prstGeom>
            <a:ln w="76200">
              <a:solidFill>
                <a:schemeClr val="bg1"/>
              </a:solidFill>
              <a:headEnd type="stealth"/>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D34FE125-ECB6-B6FB-93C9-CA5B578369DD}"/>
                </a:ext>
              </a:extLst>
            </p:cNvPr>
            <p:cNvSpPr/>
            <p:nvPr/>
          </p:nvSpPr>
          <p:spPr>
            <a:xfrm>
              <a:off x="608919" y="3728479"/>
              <a:ext cx="1095244" cy="1431096"/>
            </a:xfrm>
            <a:prstGeom prst="roundRect">
              <a:avLst/>
            </a:prstGeom>
            <a:solidFill>
              <a:schemeClr val="accent1">
                <a:lumMod val="60000"/>
                <a:lumOff val="4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latin typeface="Times New Roman" panose="02020603050405020304" pitchFamily="18" charset="0"/>
                  <a:cs typeface="Times New Roman" panose="02020603050405020304" pitchFamily="18" charset="0"/>
                </a:rPr>
                <a:t>THE LENS</a:t>
              </a:r>
            </a:p>
          </p:txBody>
        </p:sp>
        <p:sp>
          <p:nvSpPr>
            <p:cNvPr id="14" name="Oval 13">
              <a:extLst>
                <a:ext uri="{FF2B5EF4-FFF2-40B4-BE49-F238E27FC236}">
                  <a16:creationId xmlns:a16="http://schemas.microsoft.com/office/drawing/2014/main" id="{A8291356-5072-1487-DB33-17C4F4C2668F}"/>
                </a:ext>
              </a:extLst>
            </p:cNvPr>
            <p:cNvSpPr/>
            <p:nvPr/>
          </p:nvSpPr>
          <p:spPr>
            <a:xfrm>
              <a:off x="7769479" y="4013700"/>
              <a:ext cx="1958236" cy="667011"/>
            </a:xfrm>
            <a:prstGeom prst="ellipse">
              <a:avLst/>
            </a:prstGeom>
            <a:solidFill>
              <a:schemeClr val="accent1">
                <a:lumMod val="60000"/>
                <a:lumOff val="4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latin typeface="Times New Roman" panose="02020603050405020304" pitchFamily="18" charset="0"/>
                  <a:cs typeface="Times New Roman" panose="02020603050405020304" pitchFamily="18" charset="0"/>
                </a:rPr>
                <a:t>E-Consensus Forum</a:t>
              </a:r>
            </a:p>
          </p:txBody>
        </p:sp>
        <p:sp>
          <p:nvSpPr>
            <p:cNvPr id="17" name="Callout: Down Arrow 16">
              <a:extLst>
                <a:ext uri="{FF2B5EF4-FFF2-40B4-BE49-F238E27FC236}">
                  <a16:creationId xmlns:a16="http://schemas.microsoft.com/office/drawing/2014/main" id="{6EB3EC31-9B54-BA2A-B4ED-24C2CECDAF0D}"/>
                </a:ext>
              </a:extLst>
            </p:cNvPr>
            <p:cNvSpPr/>
            <p:nvPr/>
          </p:nvSpPr>
          <p:spPr>
            <a:xfrm>
              <a:off x="10009522" y="4131555"/>
              <a:ext cx="1503123" cy="825943"/>
            </a:xfrm>
            <a:prstGeom prst="downArrowCallout">
              <a:avLst/>
            </a:prstGeom>
            <a:solidFill>
              <a:schemeClr val="accent1">
                <a:lumMod val="60000"/>
                <a:lumOff val="4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latin typeface="Times New Roman" panose="02020603050405020304" pitchFamily="18" charset="0"/>
                  <a:cs typeface="Times New Roman" panose="02020603050405020304" pitchFamily="18" charset="0"/>
                </a:rPr>
                <a:t>ACTION PLAN</a:t>
              </a:r>
            </a:p>
          </p:txBody>
        </p:sp>
        <p:sp>
          <p:nvSpPr>
            <p:cNvPr id="24" name="Rectangle: Rounded Corners 23">
              <a:extLst>
                <a:ext uri="{FF2B5EF4-FFF2-40B4-BE49-F238E27FC236}">
                  <a16:creationId xmlns:a16="http://schemas.microsoft.com/office/drawing/2014/main" id="{CFC8F2C9-CD6F-A4D9-7796-FDBF23BDBB30}"/>
                </a:ext>
              </a:extLst>
            </p:cNvPr>
            <p:cNvSpPr/>
            <p:nvPr/>
          </p:nvSpPr>
          <p:spPr>
            <a:xfrm>
              <a:off x="5511672" y="3948111"/>
              <a:ext cx="1958235" cy="834837"/>
            </a:xfrm>
            <a:prstGeom prst="roundRect">
              <a:avLst/>
            </a:prstGeom>
            <a:solidFill>
              <a:schemeClr val="accent1">
                <a:lumMod val="60000"/>
                <a:lumOff val="4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latin typeface="Times New Roman" panose="02020603050405020304" pitchFamily="18" charset="0"/>
                  <a:cs typeface="Times New Roman" panose="02020603050405020304" pitchFamily="18" charset="0"/>
                </a:rPr>
                <a:t>STAFF</a:t>
              </a:r>
            </a:p>
            <a:p>
              <a:pPr algn="ctr"/>
              <a:r>
                <a:rPr lang="en-US" sz="1600" b="1" dirty="0">
                  <a:solidFill>
                    <a:schemeClr val="tx1"/>
                  </a:solidFill>
                  <a:latin typeface="Times New Roman" panose="02020603050405020304" pitchFamily="18" charset="0"/>
                  <a:cs typeface="Times New Roman" panose="02020603050405020304" pitchFamily="18" charset="0"/>
                </a:rPr>
                <a:t> MONITOR</a:t>
              </a:r>
            </a:p>
          </p:txBody>
        </p:sp>
        <p:sp>
          <p:nvSpPr>
            <p:cNvPr id="25" name="Oval 24">
              <a:extLst>
                <a:ext uri="{FF2B5EF4-FFF2-40B4-BE49-F238E27FC236}">
                  <a16:creationId xmlns:a16="http://schemas.microsoft.com/office/drawing/2014/main" id="{661FEC4C-233E-8E2C-56F8-738BD2B23D4A}"/>
                </a:ext>
              </a:extLst>
            </p:cNvPr>
            <p:cNvSpPr/>
            <p:nvPr/>
          </p:nvSpPr>
          <p:spPr>
            <a:xfrm>
              <a:off x="3253864" y="4071142"/>
              <a:ext cx="1958236" cy="667011"/>
            </a:xfrm>
            <a:prstGeom prst="ellipse">
              <a:avLst/>
            </a:prstGeom>
            <a:solidFill>
              <a:schemeClr val="accent1">
                <a:lumMod val="60000"/>
                <a:lumOff val="4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latin typeface="Times New Roman" panose="02020603050405020304" pitchFamily="18" charset="0"/>
                  <a:cs typeface="Times New Roman" panose="02020603050405020304" pitchFamily="18" charset="0"/>
                </a:rPr>
                <a:t>INTAKE APP</a:t>
              </a:r>
            </a:p>
          </p:txBody>
        </p:sp>
        <p:pic>
          <p:nvPicPr>
            <p:cNvPr id="30" name="Picture 29">
              <a:extLst>
                <a:ext uri="{FF2B5EF4-FFF2-40B4-BE49-F238E27FC236}">
                  <a16:creationId xmlns:a16="http://schemas.microsoft.com/office/drawing/2014/main" id="{60CB7BF7-DB40-0303-2E2E-617E07F4A64F}"/>
                </a:ext>
              </a:extLst>
            </p:cNvPr>
            <p:cNvPicPr>
              <a:picLocks noChangeAspect="1"/>
            </p:cNvPicPr>
            <p:nvPr/>
          </p:nvPicPr>
          <p:blipFill>
            <a:blip r:embed="rId2">
              <a:extLst>
                <a:ext uri="{28A0092B-C50C-407E-A947-70E740481C1C}">
                  <a14:useLocalDpi xmlns:a14="http://schemas.microsoft.com/office/drawing/2010/main" val="0"/>
                </a:ext>
              </a:extLst>
            </a:blip>
            <a:srcRect l="14836" t="18290" r="18736" b="14977"/>
            <a:stretch/>
          </p:blipFill>
          <p:spPr>
            <a:xfrm>
              <a:off x="2122509" y="3807167"/>
              <a:ext cx="801553" cy="1150331"/>
            </a:xfrm>
            <a:prstGeom prst="rect">
              <a:avLst/>
            </a:prstGeom>
          </p:spPr>
        </p:pic>
        <p:cxnSp>
          <p:nvCxnSpPr>
            <p:cNvPr id="38" name="Straight Connector 37">
              <a:extLst>
                <a:ext uri="{FF2B5EF4-FFF2-40B4-BE49-F238E27FC236}">
                  <a16:creationId xmlns:a16="http://schemas.microsoft.com/office/drawing/2014/main" id="{F4B24400-CF27-3E1D-5EC3-9CC2A3E9D1BD}"/>
                </a:ext>
              </a:extLst>
            </p:cNvPr>
            <p:cNvCxnSpPr>
              <a:cxnSpLocks/>
              <a:stCxn id="17" idx="2"/>
            </p:cNvCxnSpPr>
            <p:nvPr/>
          </p:nvCxnSpPr>
          <p:spPr>
            <a:xfrm>
              <a:off x="10761084" y="4957498"/>
              <a:ext cx="0" cy="776051"/>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953D357-EE84-20A5-676F-F853BF251D49}"/>
                </a:ext>
              </a:extLst>
            </p:cNvPr>
            <p:cNvCxnSpPr>
              <a:cxnSpLocks/>
            </p:cNvCxnSpPr>
            <p:nvPr/>
          </p:nvCxnSpPr>
          <p:spPr>
            <a:xfrm>
              <a:off x="1156541" y="5733549"/>
              <a:ext cx="9604542" cy="0"/>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D2F8B81A-8952-4DCB-7914-512E07D86D90}"/>
                </a:ext>
              </a:extLst>
            </p:cNvPr>
            <p:cNvCxnSpPr>
              <a:cxnSpLocks/>
            </p:cNvCxnSpPr>
            <p:nvPr/>
          </p:nvCxnSpPr>
          <p:spPr>
            <a:xfrm>
              <a:off x="1156541" y="5159575"/>
              <a:ext cx="0" cy="585911"/>
            </a:xfrm>
            <a:prstGeom prst="line">
              <a:avLst/>
            </a:prstGeom>
            <a:ln w="76200">
              <a:solidFill>
                <a:schemeClr val="bg1"/>
              </a:solidFill>
              <a:headEnd type="arrow"/>
            </a:ln>
          </p:spPr>
          <p:style>
            <a:lnRef idx="2">
              <a:schemeClr val="accent1"/>
            </a:lnRef>
            <a:fillRef idx="0">
              <a:schemeClr val="accent1"/>
            </a:fillRef>
            <a:effectRef idx="1">
              <a:schemeClr val="accent1"/>
            </a:effectRef>
            <a:fontRef idx="minor">
              <a:schemeClr val="tx1"/>
            </a:fontRef>
          </p:style>
        </p:cxnSp>
      </p:grpSp>
      <p:sp>
        <p:nvSpPr>
          <p:cNvPr id="65" name="TextBox 64">
            <a:extLst>
              <a:ext uri="{FF2B5EF4-FFF2-40B4-BE49-F238E27FC236}">
                <a16:creationId xmlns:a16="http://schemas.microsoft.com/office/drawing/2014/main" id="{FEF86849-FD3A-871C-3D21-EF2F82C6CE80}"/>
              </a:ext>
            </a:extLst>
          </p:cNvPr>
          <p:cNvSpPr txBox="1"/>
          <p:nvPr/>
        </p:nvSpPr>
        <p:spPr>
          <a:xfrm>
            <a:off x="7967105" y="3199003"/>
            <a:ext cx="1678075" cy="646331"/>
          </a:xfrm>
          <a:prstGeom prst="rect">
            <a:avLst/>
          </a:prstGeom>
          <a:noFill/>
        </p:spPr>
        <p:txBody>
          <a:bodyPr wrap="square" rtlCol="0">
            <a:spAutoFit/>
          </a:bodyPr>
          <a:lstStyle/>
          <a:p>
            <a:pPr marL="111125" indent="-111125">
              <a:buFont typeface="Arial" panose="020B0604020202020204" pitchFamily="34" charset="0"/>
              <a:buChar char="•"/>
            </a:pPr>
            <a:r>
              <a:rPr lang="en-US" dirty="0">
                <a:solidFill>
                  <a:schemeClr val="bg1"/>
                </a:solidFill>
                <a:latin typeface="Times New Roman" panose="02020603050405020304" pitchFamily="18" charset="0"/>
                <a:cs typeface="Times New Roman" panose="02020603050405020304" pitchFamily="18" charset="0"/>
              </a:rPr>
              <a:t>Stakeholders</a:t>
            </a:r>
          </a:p>
          <a:p>
            <a:pPr marL="111125" indent="-111125">
              <a:buFont typeface="Arial" panose="020B0604020202020204" pitchFamily="34" charset="0"/>
              <a:buChar char="•"/>
            </a:pPr>
            <a:r>
              <a:rPr lang="en-US" dirty="0">
                <a:solidFill>
                  <a:schemeClr val="bg1"/>
                </a:solidFill>
                <a:latin typeface="Times New Roman" panose="02020603050405020304" pitchFamily="18" charset="0"/>
                <a:cs typeface="Times New Roman" panose="02020603050405020304" pitchFamily="18" charset="0"/>
              </a:rPr>
              <a:t>Citizens</a:t>
            </a:r>
          </a:p>
        </p:txBody>
      </p:sp>
    </p:spTree>
    <p:extLst>
      <p:ext uri="{BB962C8B-B14F-4D97-AF65-F5344CB8AC3E}">
        <p14:creationId xmlns:p14="http://schemas.microsoft.com/office/powerpoint/2010/main" val="36808403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452921E-2C9C-4765-810B-6307EE58DB7C}"/>
              </a:ext>
            </a:extLst>
          </p:cNvPr>
          <p:cNvSpPr/>
          <p:nvPr/>
        </p:nvSpPr>
        <p:spPr>
          <a:xfrm>
            <a:off x="0" y="-81358"/>
            <a:ext cx="12529226" cy="6858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EC3224B7-483B-A730-AC99-BFFE7D0388E9}"/>
              </a:ext>
            </a:extLst>
          </p:cNvPr>
          <p:cNvSpPr txBox="1"/>
          <p:nvPr/>
        </p:nvSpPr>
        <p:spPr>
          <a:xfrm rot="16200000">
            <a:off x="-4434930" y="3321315"/>
            <a:ext cx="6858002" cy="769441"/>
          </a:xfrm>
          <a:prstGeom prst="rect">
            <a:avLst/>
          </a:prstGeom>
          <a:solidFill>
            <a:schemeClr val="tx1"/>
          </a:solidFill>
        </p:spPr>
        <p:txBody>
          <a:bodyPr wrap="square" rtlCol="0">
            <a:spAutoFit/>
          </a:bodyPr>
          <a:lstStyle/>
          <a:p>
            <a:pPr algn="ctr"/>
            <a:r>
              <a:rPr lang="en-US" sz="4400" b="1" dirty="0">
                <a:solidFill>
                  <a:schemeClr val="bg1"/>
                </a:solidFill>
                <a:latin typeface="Stencil" panose="040409050D0802020404" pitchFamily="82" charset="0"/>
              </a:rPr>
              <a:t>3. e-Consensus FORUm</a:t>
            </a:r>
          </a:p>
        </p:txBody>
      </p:sp>
      <p:sp>
        <p:nvSpPr>
          <p:cNvPr id="8" name="TextBox 7">
            <a:extLst>
              <a:ext uri="{FF2B5EF4-FFF2-40B4-BE49-F238E27FC236}">
                <a16:creationId xmlns:a16="http://schemas.microsoft.com/office/drawing/2014/main" id="{D3C87BF5-944E-F546-7C00-851916A53BB8}"/>
              </a:ext>
            </a:extLst>
          </p:cNvPr>
          <p:cNvSpPr txBox="1"/>
          <p:nvPr/>
        </p:nvSpPr>
        <p:spPr>
          <a:xfrm>
            <a:off x="717346" y="276019"/>
            <a:ext cx="11321923" cy="707886"/>
          </a:xfrm>
          <a:prstGeom prst="rect">
            <a:avLst/>
          </a:prstGeom>
          <a:noFill/>
        </p:spPr>
        <p:txBody>
          <a:bodyPr wrap="square" rtlCol="0">
            <a:spAutoFit/>
          </a:bodyPr>
          <a:lstStyle/>
          <a:p>
            <a:pPr algn="ctr"/>
            <a:r>
              <a:rPr lang="en-US" sz="4000" b="1" dirty="0">
                <a:solidFill>
                  <a:schemeClr val="bg1"/>
                </a:solidFill>
                <a:latin typeface="Times New Roman" panose="02020603050405020304" pitchFamily="18" charset="0"/>
                <a:ea typeface="Yu Gothic UI Semibold" panose="020B0700000000000000" pitchFamily="34" charset="-128"/>
                <a:cs typeface="Times New Roman" panose="02020603050405020304" pitchFamily="18" charset="0"/>
              </a:rPr>
              <a:t>D. THE SESSION REPORT FORMAT</a:t>
            </a:r>
            <a:endParaRPr lang="en-US" sz="4000" dirty="0">
              <a:solidFill>
                <a:schemeClr val="bg1"/>
              </a:solidFill>
              <a:latin typeface="Times New Roman" panose="02020603050405020304" pitchFamily="18" charset="0"/>
              <a:cs typeface="Times New Roman" panose="02020603050405020304" pitchFamily="18" charset="0"/>
            </a:endParaRPr>
          </a:p>
        </p:txBody>
      </p:sp>
      <p:cxnSp>
        <p:nvCxnSpPr>
          <p:cNvPr id="6" name="Straight Connector 5">
            <a:extLst>
              <a:ext uri="{FF2B5EF4-FFF2-40B4-BE49-F238E27FC236}">
                <a16:creationId xmlns:a16="http://schemas.microsoft.com/office/drawing/2014/main" id="{C0E7D35F-7FD9-CB2F-FE22-4BBDA5178708}"/>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B0948BB3-AEA0-18C1-EDB3-69FF61121592}"/>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pic>
        <p:nvPicPr>
          <p:cNvPr id="17" name="Picture 16">
            <a:extLst>
              <a:ext uri="{FF2B5EF4-FFF2-40B4-BE49-F238E27FC236}">
                <a16:creationId xmlns:a16="http://schemas.microsoft.com/office/drawing/2014/main" id="{E2809EB5-918F-A087-D9FF-E1F85D08677E}"/>
              </a:ext>
            </a:extLst>
          </p:cNvPr>
          <p:cNvPicPr>
            <a:picLocks noChangeAspect="1"/>
          </p:cNvPicPr>
          <p:nvPr/>
        </p:nvPicPr>
        <p:blipFill>
          <a:blip r:embed="rId2">
            <a:extLst>
              <a:ext uri="{28A0092B-C50C-407E-A947-70E740481C1C}">
                <a14:useLocalDpi xmlns:a14="http://schemas.microsoft.com/office/drawing/2010/main" val="0"/>
              </a:ext>
            </a:extLst>
          </a:blip>
          <a:srcRect l="-174" t="76281" r="11304" b="3591"/>
          <a:stretch/>
        </p:blipFill>
        <p:spPr>
          <a:xfrm>
            <a:off x="6257568" y="1512555"/>
            <a:ext cx="5314950" cy="2768668"/>
          </a:xfrm>
          <a:prstGeom prst="rect">
            <a:avLst/>
          </a:prstGeom>
          <a:ln w="38100">
            <a:solidFill>
              <a:schemeClr val="tx1"/>
            </a:solidFill>
          </a:ln>
        </p:spPr>
      </p:pic>
      <p:pic>
        <p:nvPicPr>
          <p:cNvPr id="19" name="Picture 18">
            <a:extLst>
              <a:ext uri="{FF2B5EF4-FFF2-40B4-BE49-F238E27FC236}">
                <a16:creationId xmlns:a16="http://schemas.microsoft.com/office/drawing/2014/main" id="{C0C87116-D5BF-C2E2-4CFA-217FA2D32E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73986" y="2439612"/>
            <a:ext cx="4524748" cy="3284385"/>
          </a:xfrm>
          <a:prstGeom prst="rect">
            <a:avLst/>
          </a:prstGeom>
          <a:ln w="38100">
            <a:solidFill>
              <a:schemeClr val="tx1"/>
            </a:solidFill>
          </a:ln>
        </p:spPr>
      </p:pic>
      <p:pic>
        <p:nvPicPr>
          <p:cNvPr id="21" name="Picture 20">
            <a:extLst>
              <a:ext uri="{FF2B5EF4-FFF2-40B4-BE49-F238E27FC236}">
                <a16:creationId xmlns:a16="http://schemas.microsoft.com/office/drawing/2014/main" id="{B3CE5EA7-1768-EA31-2DE5-04B96A914E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9482" y="1134003"/>
            <a:ext cx="5272446" cy="2294994"/>
          </a:xfrm>
          <a:prstGeom prst="rect">
            <a:avLst/>
          </a:prstGeom>
          <a:ln w="38100">
            <a:solidFill>
              <a:schemeClr val="tx1"/>
            </a:solidFill>
          </a:ln>
        </p:spPr>
      </p:pic>
      <p:sp>
        <p:nvSpPr>
          <p:cNvPr id="2" name="Action Button: Go Forward or Next 1">
            <a:hlinkClick r:id="" action="ppaction://hlinkshowjump?jump=nextslide" highlightClick="1"/>
            <a:extLst>
              <a:ext uri="{FF2B5EF4-FFF2-40B4-BE49-F238E27FC236}">
                <a16:creationId xmlns:a16="http://schemas.microsoft.com/office/drawing/2014/main" id="{49F3029B-0DF1-4D83-8A14-C216D9D53E00}"/>
              </a:ext>
            </a:extLst>
          </p:cNvPr>
          <p:cNvSpPr/>
          <p:nvPr/>
        </p:nvSpPr>
        <p:spPr>
          <a:xfrm>
            <a:off x="11239169" y="6201392"/>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22555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06C50D9F-6D22-7EEC-1115-BA272CDE662B}"/>
              </a:ext>
            </a:extLst>
          </p:cNvPr>
          <p:cNvCxnSpPr>
            <a:cxnSpLocks/>
            <a:stCxn id="34" idx="6"/>
            <a:endCxn id="36" idx="1"/>
          </p:cNvCxnSpPr>
          <p:nvPr/>
        </p:nvCxnSpPr>
        <p:spPr>
          <a:xfrm>
            <a:off x="8635363" y="2306920"/>
            <a:ext cx="852758" cy="452516"/>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168746"/>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E. APPLYING THE e-CONSENSUS FORUM</a:t>
            </a:r>
          </a:p>
        </p:txBody>
      </p:sp>
      <p:cxnSp>
        <p:nvCxnSpPr>
          <p:cNvPr id="2" name="Straight Connector 1">
            <a:extLst>
              <a:ext uri="{FF2B5EF4-FFF2-40B4-BE49-F238E27FC236}">
                <a16:creationId xmlns:a16="http://schemas.microsoft.com/office/drawing/2014/main" id="{C09D7837-4CC7-E61D-3CC5-03BDE3276A6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40E73FEB-5C94-B44B-8820-01379D363F87}"/>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28" name="Action Button: Go Forward or Next 27">
            <a:hlinkClick r:id="" action="ppaction://hlinkshowjump?jump=nextslide" highlightClick="1"/>
            <a:extLst>
              <a:ext uri="{FF2B5EF4-FFF2-40B4-BE49-F238E27FC236}">
                <a16:creationId xmlns:a16="http://schemas.microsoft.com/office/drawing/2014/main" id="{C2DAEF29-338A-6BD0-1CCA-8F0EC9555989}"/>
              </a:ext>
            </a:extLst>
          </p:cNvPr>
          <p:cNvSpPr/>
          <p:nvPr/>
        </p:nvSpPr>
        <p:spPr>
          <a:xfrm>
            <a:off x="9036635" y="6976111"/>
            <a:ext cx="800100" cy="575250"/>
          </a:xfrm>
          <a:prstGeom prst="actionButtonForwardNex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EC45F344-3D05-BA23-3581-EC23F657FADE}"/>
              </a:ext>
            </a:extLst>
          </p:cNvPr>
          <p:cNvSpPr txBox="1"/>
          <p:nvPr/>
        </p:nvSpPr>
        <p:spPr>
          <a:xfrm>
            <a:off x="736879" y="1387019"/>
            <a:ext cx="3225519" cy="3139321"/>
          </a:xfrm>
          <a:prstGeom prst="rect">
            <a:avLst/>
          </a:prstGeom>
          <a:noFill/>
        </p:spPr>
        <p:txBody>
          <a:bodyPr wrap="square" rtlCol="0">
            <a:spAutoFit/>
          </a:bodyPr>
          <a:lstStyle/>
          <a:p>
            <a:r>
              <a:rPr lang="en-US" u="sng" dirty="0">
                <a:solidFill>
                  <a:schemeClr val="bg1"/>
                </a:solidFill>
                <a:latin typeface="Times New Roman" panose="02020603050405020304" pitchFamily="18" charset="0"/>
                <a:cs typeface="Times New Roman" panose="02020603050405020304" pitchFamily="18" charset="0"/>
              </a:rPr>
              <a:t>IAC BOARD: </a:t>
            </a:r>
          </a:p>
          <a:p>
            <a:r>
              <a:rPr lang="en-US" dirty="0">
                <a:solidFill>
                  <a:schemeClr val="bg1"/>
                </a:solidFill>
                <a:latin typeface="Times New Roman" panose="02020603050405020304" pitchFamily="18" charset="0"/>
                <a:cs typeface="Times New Roman" panose="02020603050405020304" pitchFamily="18" charset="0"/>
              </a:rPr>
              <a:t>3 from each Community </a:t>
            </a:r>
          </a:p>
          <a:p>
            <a:r>
              <a:rPr lang="en-US" dirty="0">
                <a:solidFill>
                  <a:schemeClr val="bg1"/>
                </a:solidFill>
                <a:latin typeface="Times New Roman" panose="02020603050405020304" pitchFamily="18" charset="0"/>
                <a:cs typeface="Times New Roman" panose="02020603050405020304" pitchFamily="18" charset="0"/>
              </a:rPr>
              <a:t>(1 from old trade center &amp; 2 from the small towns</a:t>
            </a:r>
          </a:p>
          <a:p>
            <a:endParaRPr lang="en-US" dirty="0">
              <a:solidFill>
                <a:schemeClr val="bg1"/>
              </a:solidFill>
              <a:latin typeface="Times New Roman" panose="02020603050405020304" pitchFamily="18" charset="0"/>
              <a:cs typeface="Times New Roman" panose="02020603050405020304" pitchFamily="18" charset="0"/>
            </a:endParaRPr>
          </a:p>
          <a:p>
            <a:r>
              <a:rPr lang="en-US" u="sng" dirty="0">
                <a:solidFill>
                  <a:schemeClr val="bg1"/>
                </a:solidFill>
                <a:latin typeface="Times New Roman" panose="02020603050405020304" pitchFamily="18" charset="0"/>
                <a:cs typeface="Times New Roman" panose="02020603050405020304" pitchFamily="18" charset="0"/>
              </a:rPr>
              <a:t>COMMUNITY BOARD</a:t>
            </a:r>
          </a:p>
          <a:p>
            <a:r>
              <a:rPr lang="en-US" dirty="0">
                <a:solidFill>
                  <a:schemeClr val="bg1"/>
                </a:solidFill>
                <a:latin typeface="Times New Roman" panose="02020603050405020304" pitchFamily="18" charset="0"/>
                <a:cs typeface="Times New Roman" panose="02020603050405020304" pitchFamily="18" charset="0"/>
              </a:rPr>
              <a:t>3 from Trade Center and 1 from each of the “Neighborhoods”</a:t>
            </a:r>
          </a:p>
          <a:p>
            <a:endParaRPr lang="en-US" dirty="0">
              <a:solidFill>
                <a:schemeClr val="bg1"/>
              </a:solidFill>
              <a:latin typeface="Times New Roman" panose="02020603050405020304" pitchFamily="18" charset="0"/>
              <a:cs typeface="Times New Roman" panose="02020603050405020304" pitchFamily="18" charset="0"/>
            </a:endParaRPr>
          </a:p>
          <a:p>
            <a:pPr algn="ctr"/>
            <a:r>
              <a:rPr lang="en-US" dirty="0">
                <a:solidFill>
                  <a:schemeClr val="bg1"/>
                </a:solidFill>
                <a:latin typeface="Times New Roman" panose="02020603050405020304" pitchFamily="18" charset="0"/>
                <a:cs typeface="Times New Roman" panose="02020603050405020304" pitchFamily="18" charset="0"/>
              </a:rPr>
              <a:t>All Volunteers</a:t>
            </a:r>
          </a:p>
          <a:p>
            <a:pPr algn="ctr"/>
            <a:r>
              <a:rPr lang="en-US" dirty="0">
                <a:solidFill>
                  <a:schemeClr val="bg1"/>
                </a:solidFill>
                <a:latin typeface="Times New Roman" panose="02020603050405020304" pitchFamily="18" charset="0"/>
                <a:cs typeface="Times New Roman" panose="02020603050405020304" pitchFamily="18" charset="0"/>
              </a:rPr>
              <a:t>All Community First </a:t>
            </a:r>
          </a:p>
        </p:txBody>
      </p:sp>
      <p:cxnSp>
        <p:nvCxnSpPr>
          <p:cNvPr id="32" name="Straight Connector 31">
            <a:extLst>
              <a:ext uri="{FF2B5EF4-FFF2-40B4-BE49-F238E27FC236}">
                <a16:creationId xmlns:a16="http://schemas.microsoft.com/office/drawing/2014/main" id="{EB815990-C178-B7C3-1AB7-E82EF926F9A7}"/>
              </a:ext>
            </a:extLst>
          </p:cNvPr>
          <p:cNvCxnSpPr>
            <a:cxnSpLocks/>
          </p:cNvCxnSpPr>
          <p:nvPr/>
        </p:nvCxnSpPr>
        <p:spPr>
          <a:xfrm>
            <a:off x="9436685" y="3768792"/>
            <a:ext cx="498742" cy="174963"/>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33" name="Oval 32">
            <a:extLst>
              <a:ext uri="{FF2B5EF4-FFF2-40B4-BE49-F238E27FC236}">
                <a16:creationId xmlns:a16="http://schemas.microsoft.com/office/drawing/2014/main" id="{2D878E90-A912-0FD7-CCA8-8E7B71871B06}"/>
              </a:ext>
            </a:extLst>
          </p:cNvPr>
          <p:cNvSpPr/>
          <p:nvPr/>
        </p:nvSpPr>
        <p:spPr>
          <a:xfrm>
            <a:off x="6288955" y="996768"/>
            <a:ext cx="2346408" cy="738663"/>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Executive  Committee</a:t>
            </a:r>
          </a:p>
        </p:txBody>
      </p:sp>
      <p:sp>
        <p:nvSpPr>
          <p:cNvPr id="34" name="Oval 33">
            <a:extLst>
              <a:ext uri="{FF2B5EF4-FFF2-40B4-BE49-F238E27FC236}">
                <a16:creationId xmlns:a16="http://schemas.microsoft.com/office/drawing/2014/main" id="{34758019-0382-B18D-D6B4-D0EDCD169A7F}"/>
              </a:ext>
            </a:extLst>
          </p:cNvPr>
          <p:cNvSpPr/>
          <p:nvPr/>
        </p:nvSpPr>
        <p:spPr>
          <a:xfrm>
            <a:off x="6288955" y="1937588"/>
            <a:ext cx="2346408" cy="738663"/>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IAC BOARD </a:t>
            </a:r>
          </a:p>
        </p:txBody>
      </p:sp>
      <p:sp>
        <p:nvSpPr>
          <p:cNvPr id="35" name="Oval 34">
            <a:extLst>
              <a:ext uri="{FF2B5EF4-FFF2-40B4-BE49-F238E27FC236}">
                <a16:creationId xmlns:a16="http://schemas.microsoft.com/office/drawing/2014/main" id="{C9E71690-B9C7-55AE-FF3F-E278C37BA398}"/>
              </a:ext>
            </a:extLst>
          </p:cNvPr>
          <p:cNvSpPr/>
          <p:nvPr/>
        </p:nvSpPr>
        <p:spPr>
          <a:xfrm>
            <a:off x="3516882" y="3957162"/>
            <a:ext cx="1886982" cy="506838"/>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Service Center Coordination</a:t>
            </a:r>
          </a:p>
        </p:txBody>
      </p:sp>
      <p:sp>
        <p:nvSpPr>
          <p:cNvPr id="36" name="Oval 35">
            <a:extLst>
              <a:ext uri="{FF2B5EF4-FFF2-40B4-BE49-F238E27FC236}">
                <a16:creationId xmlns:a16="http://schemas.microsoft.com/office/drawing/2014/main" id="{F7DA94F9-6084-E757-2AF6-BD100FAB04F6}"/>
              </a:ext>
            </a:extLst>
          </p:cNvPr>
          <p:cNvSpPr/>
          <p:nvPr/>
        </p:nvSpPr>
        <p:spPr>
          <a:xfrm>
            <a:off x="9211779" y="2685211"/>
            <a:ext cx="1886982" cy="506838"/>
          </a:xfrm>
          <a:prstGeom prst="ellipse">
            <a:avLst/>
          </a:prstGeom>
          <a:solidFill>
            <a:schemeClr val="accent1">
              <a:lumMod val="40000"/>
              <a:lumOff val="6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Transit Deployment</a:t>
            </a:r>
          </a:p>
        </p:txBody>
      </p:sp>
      <p:sp>
        <p:nvSpPr>
          <p:cNvPr id="37" name="Oval 36">
            <a:extLst>
              <a:ext uri="{FF2B5EF4-FFF2-40B4-BE49-F238E27FC236}">
                <a16:creationId xmlns:a16="http://schemas.microsoft.com/office/drawing/2014/main" id="{9357E344-EA60-9BF7-41A1-22BF1F0CD942}"/>
              </a:ext>
            </a:extLst>
          </p:cNvPr>
          <p:cNvSpPr/>
          <p:nvPr/>
        </p:nvSpPr>
        <p:spPr>
          <a:xfrm>
            <a:off x="3991031" y="2775041"/>
            <a:ext cx="1886982" cy="506838"/>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TeleCenter Network</a:t>
            </a:r>
          </a:p>
        </p:txBody>
      </p:sp>
      <p:sp>
        <p:nvSpPr>
          <p:cNvPr id="38" name="Oval 37">
            <a:extLst>
              <a:ext uri="{FF2B5EF4-FFF2-40B4-BE49-F238E27FC236}">
                <a16:creationId xmlns:a16="http://schemas.microsoft.com/office/drawing/2014/main" id="{A43A8BCE-1AEB-5DCE-222C-8BB4AE20351D}"/>
              </a:ext>
            </a:extLst>
          </p:cNvPr>
          <p:cNvSpPr/>
          <p:nvPr/>
        </p:nvSpPr>
        <p:spPr>
          <a:xfrm>
            <a:off x="9589914" y="3860852"/>
            <a:ext cx="1886982" cy="506838"/>
          </a:xfrm>
          <a:prstGeom prst="ellipse">
            <a:avLst/>
          </a:prstGeom>
          <a:solidFill>
            <a:schemeClr val="accent1">
              <a:lumMod val="40000"/>
              <a:lumOff val="6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Leadership</a:t>
            </a:r>
          </a:p>
        </p:txBody>
      </p:sp>
      <p:sp>
        <p:nvSpPr>
          <p:cNvPr id="39" name="TextBox 38">
            <a:extLst>
              <a:ext uri="{FF2B5EF4-FFF2-40B4-BE49-F238E27FC236}">
                <a16:creationId xmlns:a16="http://schemas.microsoft.com/office/drawing/2014/main" id="{35E5CE9D-E06B-259F-D7E3-1DCC864389B4}"/>
              </a:ext>
            </a:extLst>
          </p:cNvPr>
          <p:cNvSpPr txBox="1"/>
          <p:nvPr/>
        </p:nvSpPr>
        <p:spPr>
          <a:xfrm>
            <a:off x="3459748" y="4544177"/>
            <a:ext cx="2566322" cy="1384995"/>
          </a:xfrm>
          <a:prstGeom prst="rect">
            <a:avLst/>
          </a:prstGeom>
          <a:noFill/>
        </p:spPr>
        <p:txBody>
          <a:bodyPr wrap="square" rtlCol="0">
            <a:spAutoFit/>
          </a:bodyPr>
          <a:lstStyle/>
          <a:p>
            <a:r>
              <a:rPr lang="en-US" sz="1400" b="1" dirty="0">
                <a:solidFill>
                  <a:schemeClr val="bg1"/>
                </a:solidFill>
                <a:latin typeface="Times New Roman" panose="02020603050405020304" pitchFamily="18" charset="0"/>
                <a:cs typeface="Times New Roman" panose="02020603050405020304" pitchFamily="18" charset="0"/>
              </a:rPr>
              <a:t>Community Committees</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Application Management</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Distribution </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Operations &amp; Recruitment</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Services Advisors</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Technology</a:t>
            </a:r>
          </a:p>
        </p:txBody>
      </p:sp>
      <p:sp>
        <p:nvSpPr>
          <p:cNvPr id="40" name="Oval 39">
            <a:extLst>
              <a:ext uri="{FF2B5EF4-FFF2-40B4-BE49-F238E27FC236}">
                <a16:creationId xmlns:a16="http://schemas.microsoft.com/office/drawing/2014/main" id="{56291C16-6B33-0385-7540-E43F61430FDF}"/>
              </a:ext>
            </a:extLst>
          </p:cNvPr>
          <p:cNvSpPr/>
          <p:nvPr/>
        </p:nvSpPr>
        <p:spPr>
          <a:xfrm>
            <a:off x="5083072" y="3468784"/>
            <a:ext cx="1886982" cy="506838"/>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SoTA Development </a:t>
            </a:r>
          </a:p>
        </p:txBody>
      </p:sp>
      <p:sp>
        <p:nvSpPr>
          <p:cNvPr id="41" name="Oval 40">
            <a:extLst>
              <a:ext uri="{FF2B5EF4-FFF2-40B4-BE49-F238E27FC236}">
                <a16:creationId xmlns:a16="http://schemas.microsoft.com/office/drawing/2014/main" id="{02892B18-86A4-7A3D-BA00-C65E2ECF9730}"/>
              </a:ext>
            </a:extLst>
          </p:cNvPr>
          <p:cNvSpPr/>
          <p:nvPr/>
        </p:nvSpPr>
        <p:spPr>
          <a:xfrm>
            <a:off x="7890793" y="3345054"/>
            <a:ext cx="1886982" cy="506838"/>
          </a:xfrm>
          <a:prstGeom prst="ellipse">
            <a:avLst/>
          </a:prstGeom>
          <a:solidFill>
            <a:schemeClr val="accent1">
              <a:lumMod val="40000"/>
              <a:lumOff val="6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Visioning</a:t>
            </a:r>
          </a:p>
        </p:txBody>
      </p:sp>
      <p:sp>
        <p:nvSpPr>
          <p:cNvPr id="42" name="TextBox 41">
            <a:extLst>
              <a:ext uri="{FF2B5EF4-FFF2-40B4-BE49-F238E27FC236}">
                <a16:creationId xmlns:a16="http://schemas.microsoft.com/office/drawing/2014/main" id="{B0D355CE-E326-C002-F811-C106DE79D940}"/>
              </a:ext>
            </a:extLst>
          </p:cNvPr>
          <p:cNvSpPr txBox="1"/>
          <p:nvPr/>
        </p:nvSpPr>
        <p:spPr>
          <a:xfrm>
            <a:off x="9636248" y="4477368"/>
            <a:ext cx="2566322" cy="738664"/>
          </a:xfrm>
          <a:prstGeom prst="rect">
            <a:avLst/>
          </a:prstGeom>
          <a:noFill/>
        </p:spPr>
        <p:txBody>
          <a:bodyPr wrap="square" rtlCol="0">
            <a:spAutoFit/>
          </a:bodyPr>
          <a:lstStyle/>
          <a:p>
            <a:pPr marL="166688" indent="-166688">
              <a:buFont typeface="Arial" panose="020B0604020202020204" pitchFamily="34" charset="0"/>
              <a:buChar char="•"/>
            </a:pPr>
            <a:r>
              <a:rPr lang="en-US" sz="1400" b="1" dirty="0">
                <a:solidFill>
                  <a:schemeClr val="bg1"/>
                </a:solidFill>
                <a:latin typeface="Times New Roman" panose="02020603050405020304" pitchFamily="18" charset="0"/>
                <a:cs typeface="Times New Roman" panose="02020603050405020304" pitchFamily="18" charset="0"/>
              </a:rPr>
              <a:t>Regional  Monitor</a:t>
            </a:r>
          </a:p>
          <a:p>
            <a:pPr marL="166688" indent="-166688">
              <a:buFont typeface="Arial" panose="020B0604020202020204" pitchFamily="34" charset="0"/>
              <a:buChar char="•"/>
            </a:pPr>
            <a:r>
              <a:rPr lang="en-US" sz="1400" b="1" dirty="0">
                <a:solidFill>
                  <a:schemeClr val="bg1"/>
                </a:solidFill>
                <a:latin typeface="Times New Roman" panose="02020603050405020304" pitchFamily="18" charset="0"/>
                <a:cs typeface="Times New Roman" panose="02020603050405020304" pitchFamily="18" charset="0"/>
              </a:rPr>
              <a:t>TechTrek</a:t>
            </a:r>
          </a:p>
          <a:p>
            <a:pPr marL="166688" indent="-166688">
              <a:buFont typeface="Arial" panose="020B0604020202020204" pitchFamily="34" charset="0"/>
              <a:buChar char="•"/>
            </a:pPr>
            <a:r>
              <a:rPr lang="en-US" sz="1400" b="1" dirty="0">
                <a:solidFill>
                  <a:schemeClr val="bg1"/>
                </a:solidFill>
                <a:latin typeface="Times New Roman" panose="02020603050405020304" pitchFamily="18" charset="0"/>
                <a:cs typeface="Times New Roman" panose="02020603050405020304" pitchFamily="18" charset="0"/>
              </a:rPr>
              <a:t>Metrix Tracking</a:t>
            </a:r>
          </a:p>
        </p:txBody>
      </p:sp>
      <p:cxnSp>
        <p:nvCxnSpPr>
          <p:cNvPr id="43" name="Straight Connector 42">
            <a:extLst>
              <a:ext uri="{FF2B5EF4-FFF2-40B4-BE49-F238E27FC236}">
                <a16:creationId xmlns:a16="http://schemas.microsoft.com/office/drawing/2014/main" id="{6AD0F2A6-3CDD-B0C4-19AC-09CB3284B8CF}"/>
              </a:ext>
            </a:extLst>
          </p:cNvPr>
          <p:cNvCxnSpPr>
            <a:stCxn id="33" idx="4"/>
            <a:endCxn id="34" idx="0"/>
          </p:cNvCxnSpPr>
          <p:nvPr/>
        </p:nvCxnSpPr>
        <p:spPr>
          <a:xfrm>
            <a:off x="7462159" y="1735431"/>
            <a:ext cx="0" cy="202157"/>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0BD48F3-A2F6-1723-E8C3-C48CA114ADB5}"/>
              </a:ext>
            </a:extLst>
          </p:cNvPr>
          <p:cNvCxnSpPr>
            <a:cxnSpLocks/>
            <a:stCxn id="34" idx="2"/>
            <a:endCxn id="37" idx="7"/>
          </p:cNvCxnSpPr>
          <p:nvPr/>
        </p:nvCxnSpPr>
        <p:spPr>
          <a:xfrm flipH="1">
            <a:off x="5601671" y="2306920"/>
            <a:ext cx="687284" cy="542346"/>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2555E74F-287E-6734-C5A0-359225BB8D51}"/>
              </a:ext>
            </a:extLst>
          </p:cNvPr>
          <p:cNvCxnSpPr>
            <a:cxnSpLocks/>
            <a:stCxn id="34" idx="5"/>
            <a:endCxn id="41" idx="0"/>
          </p:cNvCxnSpPr>
          <p:nvPr/>
        </p:nvCxnSpPr>
        <p:spPr>
          <a:xfrm>
            <a:off x="8291740" y="2568076"/>
            <a:ext cx="542544" cy="776978"/>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7DEE05D8-4304-F2A5-F0A9-68CFBD89178A}"/>
              </a:ext>
            </a:extLst>
          </p:cNvPr>
          <p:cNvCxnSpPr>
            <a:cxnSpLocks/>
            <a:stCxn id="34" idx="3"/>
            <a:endCxn id="40" idx="0"/>
          </p:cNvCxnSpPr>
          <p:nvPr/>
        </p:nvCxnSpPr>
        <p:spPr>
          <a:xfrm flipH="1">
            <a:off x="6026563" y="2568076"/>
            <a:ext cx="606015" cy="900708"/>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41A3B6D4-D6C4-E141-CDF0-8B118BE2ABB5}"/>
              </a:ext>
            </a:extLst>
          </p:cNvPr>
          <p:cNvSpPr txBox="1"/>
          <p:nvPr/>
        </p:nvSpPr>
        <p:spPr>
          <a:xfrm>
            <a:off x="6606321" y="4849201"/>
            <a:ext cx="1956691" cy="738664"/>
          </a:xfrm>
          <a:prstGeom prst="rect">
            <a:avLst/>
          </a:prstGeom>
          <a:noFill/>
        </p:spPr>
        <p:txBody>
          <a:bodyPr wrap="square" rtlCol="0">
            <a:spAutoFit/>
          </a:bodyPr>
          <a:lstStyle/>
          <a:p>
            <a:r>
              <a:rPr lang="en-US" sz="1400" b="1" dirty="0">
                <a:solidFill>
                  <a:schemeClr val="bg1"/>
                </a:solidFill>
                <a:latin typeface="Times New Roman" panose="02020603050405020304" pitchFamily="18" charset="0"/>
                <a:cs typeface="Times New Roman" panose="02020603050405020304" pitchFamily="18" charset="0"/>
              </a:rPr>
              <a:t>Community Board</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Sector Appointees</a:t>
            </a:r>
          </a:p>
          <a:p>
            <a:pPr marL="285750" indent="-173038">
              <a:buFont typeface="Arial" panose="020B0604020202020204" pitchFamily="34" charset="0"/>
              <a:buChar char="•"/>
              <a:tabLst>
                <a:tab pos="168275" algn="l"/>
              </a:tabLst>
            </a:pPr>
            <a:endParaRPr lang="en-US" sz="1400" b="1" dirty="0">
              <a:latin typeface="Times New Roman" panose="02020603050405020304" pitchFamily="18" charset="0"/>
              <a:cs typeface="Times New Roman" panose="02020603050405020304" pitchFamily="18" charset="0"/>
            </a:endParaRPr>
          </a:p>
        </p:txBody>
      </p:sp>
      <p:cxnSp>
        <p:nvCxnSpPr>
          <p:cNvPr id="49" name="Straight Connector 48">
            <a:extLst>
              <a:ext uri="{FF2B5EF4-FFF2-40B4-BE49-F238E27FC236}">
                <a16:creationId xmlns:a16="http://schemas.microsoft.com/office/drawing/2014/main" id="{C4442359-AFA1-0B41-7EFC-403E553CE13C}"/>
              </a:ext>
            </a:extLst>
          </p:cNvPr>
          <p:cNvCxnSpPr>
            <a:cxnSpLocks/>
            <a:stCxn id="40" idx="3"/>
            <a:endCxn id="35" idx="7"/>
          </p:cNvCxnSpPr>
          <p:nvPr/>
        </p:nvCxnSpPr>
        <p:spPr>
          <a:xfrm flipH="1">
            <a:off x="5127522" y="3901397"/>
            <a:ext cx="231892" cy="12999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9D4A0711-4D53-09E1-648B-C813589EA2BC}"/>
              </a:ext>
            </a:extLst>
          </p:cNvPr>
          <p:cNvSpPr/>
          <p:nvPr/>
        </p:nvSpPr>
        <p:spPr>
          <a:xfrm>
            <a:off x="6553398" y="4217991"/>
            <a:ext cx="1886982" cy="506838"/>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Service Center</a:t>
            </a:r>
          </a:p>
        </p:txBody>
      </p:sp>
      <p:cxnSp>
        <p:nvCxnSpPr>
          <p:cNvPr id="51" name="Straight Connector 50">
            <a:extLst>
              <a:ext uri="{FF2B5EF4-FFF2-40B4-BE49-F238E27FC236}">
                <a16:creationId xmlns:a16="http://schemas.microsoft.com/office/drawing/2014/main" id="{D8C9F205-40E2-8D1C-29BF-786226FC6291}"/>
              </a:ext>
            </a:extLst>
          </p:cNvPr>
          <p:cNvCxnSpPr>
            <a:cxnSpLocks/>
            <a:stCxn id="34" idx="4"/>
            <a:endCxn id="50" idx="0"/>
          </p:cNvCxnSpPr>
          <p:nvPr/>
        </p:nvCxnSpPr>
        <p:spPr>
          <a:xfrm>
            <a:off x="7462159" y="2676251"/>
            <a:ext cx="34730" cy="154174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315661C5-CEEE-032C-DC6C-125094FE7F00}"/>
              </a:ext>
            </a:extLst>
          </p:cNvPr>
          <p:cNvSpPr txBox="1"/>
          <p:nvPr/>
        </p:nvSpPr>
        <p:spPr>
          <a:xfrm>
            <a:off x="9211779" y="761744"/>
            <a:ext cx="2566322" cy="1877437"/>
          </a:xfrm>
          <a:prstGeom prst="rect">
            <a:avLst/>
          </a:prstGeom>
          <a:noFill/>
        </p:spPr>
        <p:txBody>
          <a:bodyPr wrap="square" rtlCol="0">
            <a:spAutoFit/>
          </a:bodyPr>
          <a:lstStyle/>
          <a:p>
            <a:r>
              <a:rPr lang="en-US" b="1" dirty="0">
                <a:solidFill>
                  <a:schemeClr val="bg1"/>
                </a:solidFill>
                <a:latin typeface="Times New Roman" panose="02020603050405020304" pitchFamily="18" charset="0"/>
                <a:cs typeface="Times New Roman" panose="02020603050405020304" pitchFamily="18" charset="0"/>
              </a:rPr>
              <a:t>COLLABORATVIES:</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College</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Community Formation</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Economic Development</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Legal</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Marketing</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Political, and</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Funding</a:t>
            </a:r>
          </a:p>
        </p:txBody>
      </p:sp>
      <p:sp>
        <p:nvSpPr>
          <p:cNvPr id="60" name="Oval 59">
            <a:extLst>
              <a:ext uri="{FF2B5EF4-FFF2-40B4-BE49-F238E27FC236}">
                <a16:creationId xmlns:a16="http://schemas.microsoft.com/office/drawing/2014/main" id="{6B68099F-FD6B-6213-470A-57ADC392D755}"/>
              </a:ext>
            </a:extLst>
          </p:cNvPr>
          <p:cNvSpPr/>
          <p:nvPr/>
        </p:nvSpPr>
        <p:spPr>
          <a:xfrm>
            <a:off x="6288462" y="1032684"/>
            <a:ext cx="2346408" cy="738663"/>
          </a:xfrm>
          <a:prstGeom prst="ellipse">
            <a:avLst/>
          </a:prstGeom>
          <a:solidFill>
            <a:schemeClr val="accent4"/>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Executive  Committee</a:t>
            </a:r>
          </a:p>
        </p:txBody>
      </p:sp>
      <p:sp>
        <p:nvSpPr>
          <p:cNvPr id="61" name="Oval 60">
            <a:extLst>
              <a:ext uri="{FF2B5EF4-FFF2-40B4-BE49-F238E27FC236}">
                <a16:creationId xmlns:a16="http://schemas.microsoft.com/office/drawing/2014/main" id="{385AE32D-C89E-8EFC-AD23-199DE2E44E97}"/>
              </a:ext>
            </a:extLst>
          </p:cNvPr>
          <p:cNvSpPr/>
          <p:nvPr/>
        </p:nvSpPr>
        <p:spPr>
          <a:xfrm>
            <a:off x="6288462" y="1973504"/>
            <a:ext cx="2346408" cy="738663"/>
          </a:xfrm>
          <a:prstGeom prst="ellipse">
            <a:avLst/>
          </a:prstGeom>
          <a:solidFill>
            <a:schemeClr val="accent4"/>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IAC BOARD </a:t>
            </a:r>
          </a:p>
        </p:txBody>
      </p:sp>
      <p:sp>
        <p:nvSpPr>
          <p:cNvPr id="62" name="Oval 61">
            <a:extLst>
              <a:ext uri="{FF2B5EF4-FFF2-40B4-BE49-F238E27FC236}">
                <a16:creationId xmlns:a16="http://schemas.microsoft.com/office/drawing/2014/main" id="{56DE8BBE-31A9-F653-BCC4-55AE399B6D93}"/>
              </a:ext>
            </a:extLst>
          </p:cNvPr>
          <p:cNvSpPr/>
          <p:nvPr/>
        </p:nvSpPr>
        <p:spPr>
          <a:xfrm>
            <a:off x="3516389" y="3993078"/>
            <a:ext cx="1886982" cy="506838"/>
          </a:xfrm>
          <a:prstGeom prst="ellipse">
            <a:avLst/>
          </a:prstGeom>
          <a:solidFill>
            <a:schemeClr val="accent1">
              <a:lumMod val="40000"/>
              <a:lumOff val="6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Service Center Coordination</a:t>
            </a:r>
          </a:p>
        </p:txBody>
      </p:sp>
      <p:sp>
        <p:nvSpPr>
          <p:cNvPr id="63" name="Oval 62">
            <a:extLst>
              <a:ext uri="{FF2B5EF4-FFF2-40B4-BE49-F238E27FC236}">
                <a16:creationId xmlns:a16="http://schemas.microsoft.com/office/drawing/2014/main" id="{214D5FC1-0F3E-0286-661C-689AA0AF0231}"/>
              </a:ext>
            </a:extLst>
          </p:cNvPr>
          <p:cNvSpPr/>
          <p:nvPr/>
        </p:nvSpPr>
        <p:spPr>
          <a:xfrm>
            <a:off x="3990538" y="2810957"/>
            <a:ext cx="1886982" cy="506838"/>
          </a:xfrm>
          <a:prstGeom prst="ellipse">
            <a:avLst/>
          </a:prstGeom>
          <a:solidFill>
            <a:schemeClr val="accent1">
              <a:lumMod val="40000"/>
              <a:lumOff val="6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TeleCenter Network</a:t>
            </a:r>
          </a:p>
        </p:txBody>
      </p:sp>
      <p:sp>
        <p:nvSpPr>
          <p:cNvPr id="64" name="Oval 63">
            <a:extLst>
              <a:ext uri="{FF2B5EF4-FFF2-40B4-BE49-F238E27FC236}">
                <a16:creationId xmlns:a16="http://schemas.microsoft.com/office/drawing/2014/main" id="{CB993DE8-2F5C-A21B-460A-52846334FC12}"/>
              </a:ext>
            </a:extLst>
          </p:cNvPr>
          <p:cNvSpPr/>
          <p:nvPr/>
        </p:nvSpPr>
        <p:spPr>
          <a:xfrm>
            <a:off x="5082579" y="3504700"/>
            <a:ext cx="1886982" cy="506838"/>
          </a:xfrm>
          <a:prstGeom prst="ellipse">
            <a:avLst/>
          </a:prstGeom>
          <a:solidFill>
            <a:schemeClr val="accent1">
              <a:lumMod val="40000"/>
              <a:lumOff val="6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SoTA Development </a:t>
            </a:r>
          </a:p>
        </p:txBody>
      </p:sp>
      <p:sp>
        <p:nvSpPr>
          <p:cNvPr id="65" name="Oval 64">
            <a:extLst>
              <a:ext uri="{FF2B5EF4-FFF2-40B4-BE49-F238E27FC236}">
                <a16:creationId xmlns:a16="http://schemas.microsoft.com/office/drawing/2014/main" id="{A972C961-78B9-CC64-33E5-F4525B41A09E}"/>
              </a:ext>
            </a:extLst>
          </p:cNvPr>
          <p:cNvSpPr/>
          <p:nvPr/>
        </p:nvSpPr>
        <p:spPr>
          <a:xfrm>
            <a:off x="6552905" y="4253907"/>
            <a:ext cx="1886982" cy="506838"/>
          </a:xfrm>
          <a:prstGeom prst="ellipse">
            <a:avLst/>
          </a:prstGeom>
          <a:solidFill>
            <a:schemeClr val="accent1">
              <a:lumMod val="40000"/>
              <a:lumOff val="60000"/>
            </a:schemeClr>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Times New Roman" panose="02020603050405020304" pitchFamily="18" charset="0"/>
                <a:cs typeface="Times New Roman" panose="02020603050405020304" pitchFamily="18" charset="0"/>
              </a:rPr>
              <a:t>Service Center</a:t>
            </a:r>
          </a:p>
        </p:txBody>
      </p:sp>
      <p:sp>
        <p:nvSpPr>
          <p:cNvPr id="5" name="Rectangle: Rounded Corners 4">
            <a:extLst>
              <a:ext uri="{FF2B5EF4-FFF2-40B4-BE49-F238E27FC236}">
                <a16:creationId xmlns:a16="http://schemas.microsoft.com/office/drawing/2014/main" id="{5F182BBA-26F3-4923-BBA6-DB86998FD417}"/>
              </a:ext>
            </a:extLst>
          </p:cNvPr>
          <p:cNvSpPr/>
          <p:nvPr/>
        </p:nvSpPr>
        <p:spPr>
          <a:xfrm>
            <a:off x="10175496" y="6157518"/>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2" action="ppaction://hlinksldjump">
                  <a:extLst>
                    <a:ext uri="{A12FA001-AC4F-418D-AE19-62706E023703}">
                      <ahyp:hlinkClr xmlns:ahyp="http://schemas.microsoft.com/office/drawing/2018/hyperlinkcolor" val="tx"/>
                    </a:ext>
                  </a:extLst>
                </a:hlinkClick>
              </a:rPr>
              <a:t>Back To Presentation</a:t>
            </a:r>
            <a:endParaRPr lang="en-US"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217955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2343151" y="1200151"/>
            <a:ext cx="7124700" cy="4154984"/>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Geo-Structure</a:t>
            </a:r>
          </a:p>
          <a:p>
            <a:pPr algn="ctr"/>
            <a:r>
              <a:rPr lang="en-US" sz="8800" dirty="0">
                <a:solidFill>
                  <a:schemeClr val="bg1"/>
                </a:solidFill>
                <a:latin typeface="Times New Roman" panose="02020603050405020304" pitchFamily="18" charset="0"/>
                <a:cs typeface="Times New Roman" panose="02020603050405020304" pitchFamily="18" charset="0"/>
              </a:rPr>
              <a:t> </a:t>
            </a:r>
          </a:p>
          <a:p>
            <a:pPr algn="ctr"/>
            <a:r>
              <a:rPr lang="en-US" sz="8800" dirty="0">
                <a:solidFill>
                  <a:schemeClr val="bg1"/>
                </a:solidFill>
                <a:latin typeface="Times New Roman" panose="02020603050405020304" pitchFamily="18" charset="0"/>
                <a:cs typeface="Times New Roman" panose="02020603050405020304" pitchFamily="18" charset="0"/>
              </a:rPr>
              <a:t>Q&amp;A </a:t>
            </a:r>
          </a:p>
        </p:txBody>
      </p:sp>
    </p:spTree>
    <p:extLst>
      <p:ext uri="{BB962C8B-B14F-4D97-AF65-F5344CB8AC3E}">
        <p14:creationId xmlns:p14="http://schemas.microsoft.com/office/powerpoint/2010/main" val="12577827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2433637" y="158175"/>
            <a:ext cx="7124700" cy="5509200"/>
          </a:xfrm>
          <a:prstGeom prst="rect">
            <a:avLst/>
          </a:prstGeom>
          <a:noFill/>
        </p:spPr>
        <p:txBody>
          <a:bodyPr wrap="square" rtlCol="0">
            <a:spAutoFit/>
          </a:bodyPr>
          <a:lstStyle/>
          <a:p>
            <a:pPr algn="ctr"/>
            <a:endParaRPr lang="en-US" sz="8800" dirty="0">
              <a:solidFill>
                <a:schemeClr val="bg1"/>
              </a:solidFill>
              <a:latin typeface="Times New Roman" panose="02020603050405020304" pitchFamily="18" charset="0"/>
              <a:cs typeface="Times New Roman" panose="02020603050405020304" pitchFamily="18" charset="0"/>
            </a:endParaRPr>
          </a:p>
          <a:p>
            <a:pPr algn="ctr"/>
            <a:r>
              <a:rPr lang="en-US" sz="8800" dirty="0">
                <a:solidFill>
                  <a:schemeClr val="bg1"/>
                </a:solidFill>
                <a:latin typeface="Times New Roman" panose="02020603050405020304" pitchFamily="18" charset="0"/>
                <a:cs typeface="Times New Roman" panose="02020603050405020304" pitchFamily="18" charset="0"/>
              </a:rPr>
              <a:t>The Viability Index</a:t>
            </a:r>
          </a:p>
          <a:p>
            <a:pPr algn="ctr"/>
            <a:endParaRPr lang="en-US" sz="88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309463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2343151" y="1200151"/>
            <a:ext cx="7124700" cy="4154984"/>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Viability Index</a:t>
            </a:r>
          </a:p>
          <a:p>
            <a:pPr algn="ctr"/>
            <a:r>
              <a:rPr lang="en-US" sz="8800" dirty="0">
                <a:solidFill>
                  <a:schemeClr val="bg1"/>
                </a:solidFill>
                <a:latin typeface="Times New Roman" panose="02020603050405020304" pitchFamily="18" charset="0"/>
                <a:cs typeface="Times New Roman" panose="02020603050405020304" pitchFamily="18" charset="0"/>
              </a:rPr>
              <a:t> </a:t>
            </a:r>
          </a:p>
          <a:p>
            <a:pPr algn="ctr"/>
            <a:r>
              <a:rPr lang="en-US" sz="8800" dirty="0">
                <a:solidFill>
                  <a:schemeClr val="bg1"/>
                </a:solidFill>
                <a:latin typeface="Times New Roman" panose="02020603050405020304" pitchFamily="18" charset="0"/>
                <a:cs typeface="Times New Roman" panose="02020603050405020304" pitchFamily="18" charset="0"/>
              </a:rPr>
              <a:t>Q&amp;A </a:t>
            </a:r>
          </a:p>
        </p:txBody>
      </p:sp>
    </p:spTree>
    <p:extLst>
      <p:ext uri="{BB962C8B-B14F-4D97-AF65-F5344CB8AC3E}">
        <p14:creationId xmlns:p14="http://schemas.microsoft.com/office/powerpoint/2010/main" val="23827196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762000" y="0"/>
            <a:ext cx="10496549" cy="4154984"/>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The</a:t>
            </a:r>
          </a:p>
          <a:p>
            <a:pPr algn="ctr"/>
            <a:r>
              <a:rPr lang="en-US" sz="8800" dirty="0">
                <a:solidFill>
                  <a:schemeClr val="bg1"/>
                </a:solidFill>
                <a:latin typeface="Times New Roman" panose="02020603050405020304" pitchFamily="18" charset="0"/>
                <a:cs typeface="Times New Roman" panose="02020603050405020304" pitchFamily="18" charset="0"/>
              </a:rPr>
              <a:t>e-Consensus</a:t>
            </a:r>
          </a:p>
          <a:p>
            <a:pPr algn="ctr"/>
            <a:r>
              <a:rPr lang="en-US" sz="8800" dirty="0">
                <a:solidFill>
                  <a:schemeClr val="bg1"/>
                </a:solidFill>
                <a:latin typeface="Times New Roman" panose="02020603050405020304" pitchFamily="18" charset="0"/>
                <a:cs typeface="Times New Roman" panose="02020603050405020304" pitchFamily="18" charset="0"/>
              </a:rPr>
              <a:t>Forum </a:t>
            </a:r>
          </a:p>
        </p:txBody>
      </p:sp>
    </p:spTree>
    <p:extLst>
      <p:ext uri="{BB962C8B-B14F-4D97-AF65-F5344CB8AC3E}">
        <p14:creationId xmlns:p14="http://schemas.microsoft.com/office/powerpoint/2010/main" val="30139165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3412900-498A-8756-18E8-23E8A21B5E30}"/>
              </a:ext>
            </a:extLst>
          </p:cNvPr>
          <p:cNvSpPr txBox="1"/>
          <p:nvPr/>
        </p:nvSpPr>
        <p:spPr>
          <a:xfrm rot="16200000">
            <a:off x="-4247751" y="3044281"/>
            <a:ext cx="6858002" cy="769441"/>
          </a:xfrm>
          <a:prstGeom prst="rect">
            <a:avLst/>
          </a:prstGeom>
          <a:solidFill>
            <a:schemeClr val="tx1"/>
          </a:solidFill>
        </p:spPr>
        <p:txBody>
          <a:bodyPr wrap="square" rtlCol="0">
            <a:spAutoFit/>
          </a:bodyPr>
          <a:lstStyle/>
          <a:p>
            <a:r>
              <a:rPr lang="en-US" sz="4400" b="1" dirty="0">
                <a:solidFill>
                  <a:schemeClr val="bg1"/>
                </a:solidFill>
                <a:latin typeface="Stencil" panose="040409050D0802020404" pitchFamily="82" charset="0"/>
              </a:rPr>
              <a:t>  3. e-consensus FORUm</a:t>
            </a:r>
            <a:endParaRPr lang="en-US" sz="4400"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DFDE047-F206-FF8D-8CF4-C2193058C800}"/>
              </a:ext>
            </a:extLst>
          </p:cNvPr>
          <p:cNvSpPr txBox="1"/>
          <p:nvPr/>
        </p:nvSpPr>
        <p:spPr>
          <a:xfrm>
            <a:off x="1" y="190728"/>
            <a:ext cx="12192000" cy="1138773"/>
          </a:xfrm>
          <a:prstGeom prst="rect">
            <a:avLst/>
          </a:prstGeom>
          <a:noFill/>
        </p:spPr>
        <p:txBody>
          <a:bodyPr wrap="square" rtlCol="0">
            <a:spAutoFit/>
          </a:bodyPr>
          <a:lstStyle/>
          <a:p>
            <a:pPr algn="ctr"/>
            <a:r>
              <a:rPr lang="en-US" sz="4400" b="1" dirty="0">
                <a:solidFill>
                  <a:schemeClr val="bg1"/>
                </a:solidFill>
                <a:latin typeface="Times New Roman" panose="02020603050405020304" pitchFamily="18" charset="0"/>
                <a:cs typeface="Times New Roman" panose="02020603050405020304" pitchFamily="18" charset="0"/>
              </a:rPr>
              <a:t>THE COMMUNITY DIALOGUE PROCESS</a:t>
            </a:r>
          </a:p>
          <a:p>
            <a:pPr algn="ctr"/>
            <a:r>
              <a:rPr lang="en-US" sz="2400" dirty="0">
                <a:solidFill>
                  <a:schemeClr val="bg1"/>
                </a:solidFill>
                <a:latin typeface="Times New Roman" panose="02020603050405020304" pitchFamily="18" charset="0"/>
                <a:cs typeface="Times New Roman" panose="02020603050405020304" pitchFamily="18" charset="0"/>
              </a:rPr>
              <a:t>A Year-long example With 100 Participants- 1999</a:t>
            </a:r>
            <a:endParaRPr lang="en-US" sz="4400" b="1" dirty="0">
              <a:solidFill>
                <a:schemeClr val="bg1"/>
              </a:solidFill>
              <a:latin typeface="Stencil" panose="040409050D0802020404" pitchFamily="82" charset="0"/>
            </a:endParaRPr>
          </a:p>
        </p:txBody>
      </p:sp>
      <p:sp>
        <p:nvSpPr>
          <p:cNvPr id="2" name="TextBox 1">
            <a:extLst>
              <a:ext uri="{FF2B5EF4-FFF2-40B4-BE49-F238E27FC236}">
                <a16:creationId xmlns:a16="http://schemas.microsoft.com/office/drawing/2014/main" id="{3892151E-74AB-641B-B7F7-ABC9EB009A9C}"/>
              </a:ext>
            </a:extLst>
          </p:cNvPr>
          <p:cNvSpPr txBox="1"/>
          <p:nvPr/>
        </p:nvSpPr>
        <p:spPr>
          <a:xfrm>
            <a:off x="2456998" y="1501333"/>
            <a:ext cx="7676027" cy="1261884"/>
          </a:xfrm>
          <a:prstGeom prst="rect">
            <a:avLst/>
          </a:prstGeom>
          <a:noFill/>
        </p:spPr>
        <p:txBody>
          <a:bodyPr wrap="square" rtlCol="0">
            <a:spAutoFit/>
          </a:bodyPr>
          <a:lstStyle/>
          <a:p>
            <a:r>
              <a:rPr lang="en-US" sz="2800" b="1" dirty="0">
                <a:solidFill>
                  <a:schemeClr val="bg1"/>
                </a:solidFill>
                <a:latin typeface="Times New Roman" panose="02020603050405020304" pitchFamily="18" charset="0"/>
                <a:cs typeface="Times New Roman" panose="02020603050405020304" pitchFamily="18" charset="0"/>
              </a:rPr>
              <a:t>KEY ISSUES:  </a:t>
            </a:r>
            <a:r>
              <a:rPr lang="en-US" sz="2400" dirty="0">
                <a:solidFill>
                  <a:schemeClr val="bg1"/>
                </a:solidFill>
                <a:latin typeface="Times New Roman" panose="02020603050405020304" pitchFamily="18" charset="0"/>
                <a:cs typeface="Times New Roman" panose="02020603050405020304" pitchFamily="18" charset="0"/>
              </a:rPr>
              <a:t>Distributive Network</a:t>
            </a:r>
          </a:p>
          <a:p>
            <a:pPr marL="2401887" lvl="5"/>
            <a:r>
              <a:rPr lang="en-US" sz="2400" dirty="0">
                <a:solidFill>
                  <a:schemeClr val="bg1"/>
                </a:solidFill>
                <a:latin typeface="Times New Roman" panose="02020603050405020304" pitchFamily="18" charset="0"/>
                <a:cs typeface="Times New Roman" panose="02020603050405020304" pitchFamily="18" charset="0"/>
              </a:rPr>
              <a:t>Critical Mass of Virtual  Services</a:t>
            </a:r>
          </a:p>
          <a:p>
            <a:pPr marL="2401887" lvl="5"/>
            <a:r>
              <a:rPr lang="en-US" sz="2400" dirty="0">
                <a:solidFill>
                  <a:schemeClr val="bg1"/>
                </a:solidFill>
                <a:latin typeface="Times New Roman" panose="02020603050405020304" pitchFamily="18" charset="0"/>
                <a:cs typeface="Times New Roman" panose="02020603050405020304" pitchFamily="18" charset="0"/>
              </a:rPr>
              <a:t>Viability Focus</a:t>
            </a:r>
          </a:p>
        </p:txBody>
      </p:sp>
      <p:grpSp>
        <p:nvGrpSpPr>
          <p:cNvPr id="25" name="Group 24">
            <a:extLst>
              <a:ext uri="{FF2B5EF4-FFF2-40B4-BE49-F238E27FC236}">
                <a16:creationId xmlns:a16="http://schemas.microsoft.com/office/drawing/2014/main" id="{1D15FA07-9626-FB7D-6B7E-E5994C4BA80C}"/>
              </a:ext>
            </a:extLst>
          </p:cNvPr>
          <p:cNvGrpSpPr/>
          <p:nvPr/>
        </p:nvGrpSpPr>
        <p:grpSpPr>
          <a:xfrm>
            <a:off x="688160" y="2797821"/>
            <a:ext cx="10593872" cy="3157959"/>
            <a:chOff x="1450160" y="2930307"/>
            <a:chExt cx="10593872" cy="3157959"/>
          </a:xfrm>
        </p:grpSpPr>
        <p:sp>
          <p:nvSpPr>
            <p:cNvPr id="5" name="TextBox 4">
              <a:extLst>
                <a:ext uri="{FF2B5EF4-FFF2-40B4-BE49-F238E27FC236}">
                  <a16:creationId xmlns:a16="http://schemas.microsoft.com/office/drawing/2014/main" id="{CB8F8D87-38CF-3126-2454-C8C05A08A79E}"/>
                </a:ext>
              </a:extLst>
            </p:cNvPr>
            <p:cNvSpPr txBox="1"/>
            <p:nvPr/>
          </p:nvSpPr>
          <p:spPr>
            <a:xfrm>
              <a:off x="1612147" y="2930307"/>
              <a:ext cx="8397026" cy="3108543"/>
            </a:xfrm>
            <a:prstGeom prst="rect">
              <a:avLst/>
            </a:prstGeom>
            <a:noFill/>
          </p:spPr>
          <p:txBody>
            <a:bodyPr wrap="square" rtlCol="0">
              <a:spAutoFit/>
            </a:bodyPr>
            <a:lstStyle/>
            <a:p>
              <a:r>
                <a:rPr lang="en-US" sz="2800" b="1" dirty="0">
                  <a:solidFill>
                    <a:schemeClr val="bg1"/>
                  </a:solidFill>
                  <a:latin typeface="Times New Roman" panose="02020603050405020304" pitchFamily="18" charset="0"/>
                  <a:cs typeface="Times New Roman" panose="02020603050405020304" pitchFamily="18" charset="0"/>
                </a:rPr>
                <a:t>SEVEN RECOMMENDATIONS:</a:t>
              </a:r>
            </a:p>
            <a:p>
              <a:pPr marL="282575" indent="-166688">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Define Information Age Communities</a:t>
              </a:r>
            </a:p>
            <a:p>
              <a:pPr marL="282575" indent="-166688">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Analyze Centralization vs Decentralization</a:t>
              </a:r>
            </a:p>
            <a:p>
              <a:pPr marL="282575" indent="-166688">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Multi-State Regional Strategy</a:t>
              </a:r>
            </a:p>
            <a:p>
              <a:pPr marL="282575" indent="-166688">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Integration of Public, Private and Community Sectors</a:t>
              </a:r>
            </a:p>
            <a:p>
              <a:pPr marL="282575" indent="-166688">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Public-Private Content Delivery System</a:t>
              </a:r>
            </a:p>
            <a:p>
              <a:pPr marL="282575" indent="-166688">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Assessment Tools- (ROI of SoTA)</a:t>
              </a:r>
            </a:p>
            <a:p>
              <a:pPr marL="282575" indent="-166688">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Regulatory Review</a:t>
              </a:r>
            </a:p>
          </p:txBody>
        </p:sp>
        <p:grpSp>
          <p:nvGrpSpPr>
            <p:cNvPr id="18" name="Group 17">
              <a:extLst>
                <a:ext uri="{FF2B5EF4-FFF2-40B4-BE49-F238E27FC236}">
                  <a16:creationId xmlns:a16="http://schemas.microsoft.com/office/drawing/2014/main" id="{682EF293-44FF-5266-83F6-0CD628602AD2}"/>
                </a:ext>
              </a:extLst>
            </p:cNvPr>
            <p:cNvGrpSpPr/>
            <p:nvPr/>
          </p:nvGrpSpPr>
          <p:grpSpPr>
            <a:xfrm>
              <a:off x="1450160" y="3428999"/>
              <a:ext cx="589549" cy="2659267"/>
              <a:chOff x="1450160" y="3428999"/>
              <a:chExt cx="589549" cy="2659267"/>
            </a:xfrm>
          </p:grpSpPr>
          <p:pic>
            <p:nvPicPr>
              <p:cNvPr id="9" name="Picture 8" descr="A green check mark on a black background&#10;&#10;AI-generated content may be incorrect.">
                <a:extLst>
                  <a:ext uri="{FF2B5EF4-FFF2-40B4-BE49-F238E27FC236}">
                    <a16:creationId xmlns:a16="http://schemas.microsoft.com/office/drawing/2014/main" id="{32088511-C8E0-DC13-08E2-5D228810614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549364" y="3428999"/>
                <a:ext cx="371099" cy="348814"/>
              </a:xfrm>
              <a:prstGeom prst="rect">
                <a:avLst/>
              </a:prstGeom>
            </p:spPr>
          </p:pic>
          <p:pic>
            <p:nvPicPr>
              <p:cNvPr id="12" name="Picture 11" descr="A green check mark on a black background&#10;&#10;AI-generated content may be incorrect.">
                <a:extLst>
                  <a:ext uri="{FF2B5EF4-FFF2-40B4-BE49-F238E27FC236}">
                    <a16:creationId xmlns:a16="http://schemas.microsoft.com/office/drawing/2014/main" id="{C215830F-69DE-7B5D-196C-160822E5D31A}"/>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549364" y="3764129"/>
                <a:ext cx="371099" cy="348814"/>
              </a:xfrm>
              <a:prstGeom prst="rect">
                <a:avLst/>
              </a:prstGeom>
            </p:spPr>
          </p:pic>
          <p:pic>
            <p:nvPicPr>
              <p:cNvPr id="13" name="Picture 12" descr="A green check mark on a black background&#10;&#10;AI-generated content may be incorrect.">
                <a:extLst>
                  <a:ext uri="{FF2B5EF4-FFF2-40B4-BE49-F238E27FC236}">
                    <a16:creationId xmlns:a16="http://schemas.microsoft.com/office/drawing/2014/main" id="{D36E9A38-5C19-BCB9-E744-CBBFF785D099}"/>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571724" y="4184076"/>
                <a:ext cx="371099" cy="348814"/>
              </a:xfrm>
              <a:prstGeom prst="rect">
                <a:avLst/>
              </a:prstGeom>
            </p:spPr>
          </p:pic>
          <p:pic>
            <p:nvPicPr>
              <p:cNvPr id="14" name="Picture 13" descr="A green check mark on a black background&#10;&#10;AI-generated content may be incorrect.">
                <a:extLst>
                  <a:ext uri="{FF2B5EF4-FFF2-40B4-BE49-F238E27FC236}">
                    <a16:creationId xmlns:a16="http://schemas.microsoft.com/office/drawing/2014/main" id="{BA09A993-F6AE-1D92-D771-63256DE61E1F}"/>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571723" y="5253905"/>
                <a:ext cx="371099" cy="348814"/>
              </a:xfrm>
              <a:prstGeom prst="rect">
                <a:avLst/>
              </a:prstGeom>
            </p:spPr>
          </p:pic>
          <p:pic>
            <p:nvPicPr>
              <p:cNvPr id="15" name="Picture 14" descr="A green check mark on a black background&#10;&#10;AI-generated content may be incorrect.">
                <a:extLst>
                  <a:ext uri="{FF2B5EF4-FFF2-40B4-BE49-F238E27FC236}">
                    <a16:creationId xmlns:a16="http://schemas.microsoft.com/office/drawing/2014/main" id="{EE2DC892-B737-6234-173B-230C04543069}"/>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547049" y="4533616"/>
                <a:ext cx="371099" cy="348814"/>
              </a:xfrm>
              <a:prstGeom prst="rect">
                <a:avLst/>
              </a:prstGeom>
            </p:spPr>
          </p:pic>
          <p:sp>
            <p:nvSpPr>
              <p:cNvPr id="19" name="TextBox 18">
                <a:extLst>
                  <a:ext uri="{FF2B5EF4-FFF2-40B4-BE49-F238E27FC236}">
                    <a16:creationId xmlns:a16="http://schemas.microsoft.com/office/drawing/2014/main" id="{9C6D0C4D-FA2D-9768-9CD0-AF1660CFC951}"/>
                  </a:ext>
                </a:extLst>
              </p:cNvPr>
              <p:cNvSpPr txBox="1"/>
              <p:nvPr/>
            </p:nvSpPr>
            <p:spPr>
              <a:xfrm>
                <a:off x="1450160" y="4856089"/>
                <a:ext cx="564875" cy="523220"/>
              </a:xfrm>
              <a:prstGeom prst="rect">
                <a:avLst/>
              </a:prstGeom>
              <a:noFill/>
            </p:spPr>
            <p:txBody>
              <a:bodyPr wrap="square" rtlCol="0">
                <a:spAutoFit/>
              </a:bodyPr>
              <a:lstStyle/>
              <a:p>
                <a:r>
                  <a:rPr lang="en-US" sz="2800" b="1" dirty="0">
                    <a:solidFill>
                      <a:schemeClr val="bg1"/>
                    </a:solidFill>
                    <a:latin typeface="Stencil" panose="040409050D0802020404" pitchFamily="82" charset="0"/>
                  </a:rPr>
                  <a:t>X</a:t>
                </a:r>
              </a:p>
            </p:txBody>
          </p:sp>
          <p:sp>
            <p:nvSpPr>
              <p:cNvPr id="20" name="TextBox 19">
                <a:extLst>
                  <a:ext uri="{FF2B5EF4-FFF2-40B4-BE49-F238E27FC236}">
                    <a16:creationId xmlns:a16="http://schemas.microsoft.com/office/drawing/2014/main" id="{8E3705F1-3241-E1D6-C1C5-ACD203F9F749}"/>
                  </a:ext>
                </a:extLst>
              </p:cNvPr>
              <p:cNvSpPr txBox="1"/>
              <p:nvPr/>
            </p:nvSpPr>
            <p:spPr>
              <a:xfrm>
                <a:off x="1474834" y="5565046"/>
                <a:ext cx="564875" cy="523220"/>
              </a:xfrm>
              <a:prstGeom prst="rect">
                <a:avLst/>
              </a:prstGeom>
              <a:noFill/>
            </p:spPr>
            <p:txBody>
              <a:bodyPr wrap="square" rtlCol="0">
                <a:spAutoFit/>
              </a:bodyPr>
              <a:lstStyle/>
              <a:p>
                <a:r>
                  <a:rPr lang="en-US" sz="2800" b="1" dirty="0">
                    <a:solidFill>
                      <a:schemeClr val="bg1"/>
                    </a:solidFill>
                    <a:latin typeface="Stencil" panose="040409050D0802020404" pitchFamily="82" charset="0"/>
                  </a:rPr>
                  <a:t>X</a:t>
                </a:r>
              </a:p>
            </p:txBody>
          </p:sp>
        </p:grpSp>
        <p:grpSp>
          <p:nvGrpSpPr>
            <p:cNvPr id="24" name="Group 23">
              <a:extLst>
                <a:ext uri="{FF2B5EF4-FFF2-40B4-BE49-F238E27FC236}">
                  <a16:creationId xmlns:a16="http://schemas.microsoft.com/office/drawing/2014/main" id="{DC5C36D9-3B3C-F27E-011C-6FE576DACC36}"/>
                </a:ext>
              </a:extLst>
            </p:cNvPr>
            <p:cNvGrpSpPr/>
            <p:nvPr/>
          </p:nvGrpSpPr>
          <p:grpSpPr>
            <a:xfrm>
              <a:off x="7736827" y="3437927"/>
              <a:ext cx="4307205" cy="860981"/>
              <a:chOff x="7736827" y="3437927"/>
              <a:chExt cx="4307205" cy="860981"/>
            </a:xfrm>
          </p:grpSpPr>
          <p:grpSp>
            <p:nvGrpSpPr>
              <p:cNvPr id="22" name="Group 21">
                <a:extLst>
                  <a:ext uri="{FF2B5EF4-FFF2-40B4-BE49-F238E27FC236}">
                    <a16:creationId xmlns:a16="http://schemas.microsoft.com/office/drawing/2014/main" id="{A0564B7E-C9A4-CDBA-6FA5-B1E407EA45C6}"/>
                  </a:ext>
                </a:extLst>
              </p:cNvPr>
              <p:cNvGrpSpPr/>
              <p:nvPr/>
            </p:nvGrpSpPr>
            <p:grpSpPr>
              <a:xfrm>
                <a:off x="7736827" y="3437927"/>
                <a:ext cx="3565572" cy="461665"/>
                <a:chOff x="7736827" y="3437927"/>
                <a:chExt cx="3565572" cy="461665"/>
              </a:xfrm>
            </p:grpSpPr>
            <p:sp>
              <p:nvSpPr>
                <p:cNvPr id="10" name="TextBox 9">
                  <a:extLst>
                    <a:ext uri="{FF2B5EF4-FFF2-40B4-BE49-F238E27FC236}">
                      <a16:creationId xmlns:a16="http://schemas.microsoft.com/office/drawing/2014/main" id="{A0F9F9C4-5335-5122-6A3A-A879C482EFF6}"/>
                    </a:ext>
                  </a:extLst>
                </p:cNvPr>
                <p:cNvSpPr txBox="1"/>
                <p:nvPr/>
              </p:nvSpPr>
              <p:spPr>
                <a:xfrm>
                  <a:off x="7997153" y="3437927"/>
                  <a:ext cx="3305246" cy="461665"/>
                </a:xfrm>
                <a:prstGeom prst="rect">
                  <a:avLst/>
                </a:prstGeom>
                <a:noFill/>
              </p:spPr>
              <p:txBody>
                <a:bodyPr wrap="square" rtlCol="0">
                  <a:spAutoFit/>
                </a:bodyPr>
                <a:lstStyle/>
                <a:p>
                  <a:r>
                    <a:rPr lang="en-US" sz="2400" dirty="0">
                      <a:solidFill>
                        <a:schemeClr val="bg1"/>
                      </a:solidFill>
                      <a:latin typeface="Times New Roman" panose="02020603050405020304" pitchFamily="18" charset="0"/>
                      <a:cs typeface="Times New Roman" panose="02020603050405020304" pitchFamily="18" charset="0"/>
                    </a:rPr>
                    <a:t> TCR Has Accomplished</a:t>
                  </a:r>
                </a:p>
              </p:txBody>
            </p:sp>
            <p:pic>
              <p:nvPicPr>
                <p:cNvPr id="16" name="Picture 15" descr="A green check mark on a black background&#10;&#10;AI-generated content may be incorrect.">
                  <a:extLst>
                    <a:ext uri="{FF2B5EF4-FFF2-40B4-BE49-F238E27FC236}">
                      <a16:creationId xmlns:a16="http://schemas.microsoft.com/office/drawing/2014/main" id="{29260334-7ACB-82A7-7EB5-594E8F3A943B}"/>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7736827" y="3443493"/>
                  <a:ext cx="371099" cy="348814"/>
                </a:xfrm>
                <a:prstGeom prst="rect">
                  <a:avLst/>
                </a:prstGeom>
              </p:spPr>
            </p:pic>
          </p:grpSp>
          <p:grpSp>
            <p:nvGrpSpPr>
              <p:cNvPr id="23" name="Group 22">
                <a:extLst>
                  <a:ext uri="{FF2B5EF4-FFF2-40B4-BE49-F238E27FC236}">
                    <a16:creationId xmlns:a16="http://schemas.microsoft.com/office/drawing/2014/main" id="{2BECDF57-6A9D-1F7D-07E4-14E8FE2AE633}"/>
                  </a:ext>
                </a:extLst>
              </p:cNvPr>
              <p:cNvGrpSpPr/>
              <p:nvPr/>
            </p:nvGrpSpPr>
            <p:grpSpPr>
              <a:xfrm>
                <a:off x="7755558" y="3775688"/>
                <a:ext cx="4288474" cy="523220"/>
                <a:chOff x="7737708" y="3774801"/>
                <a:chExt cx="4288474" cy="523220"/>
              </a:xfrm>
            </p:grpSpPr>
            <p:sp>
              <p:nvSpPr>
                <p:cNvPr id="11" name="TextBox 10">
                  <a:extLst>
                    <a:ext uri="{FF2B5EF4-FFF2-40B4-BE49-F238E27FC236}">
                      <a16:creationId xmlns:a16="http://schemas.microsoft.com/office/drawing/2014/main" id="{10595079-DC71-CE2A-FB6F-7E8EDDEBC7E8}"/>
                    </a:ext>
                  </a:extLst>
                </p:cNvPr>
                <p:cNvSpPr txBox="1"/>
                <p:nvPr/>
              </p:nvSpPr>
              <p:spPr>
                <a:xfrm>
                  <a:off x="8082029" y="3814965"/>
                  <a:ext cx="3944153" cy="461665"/>
                </a:xfrm>
                <a:prstGeom prst="rect">
                  <a:avLst/>
                </a:prstGeom>
                <a:noFill/>
              </p:spPr>
              <p:txBody>
                <a:bodyPr wrap="square" rtlCol="0">
                  <a:spAutoFit/>
                </a:bodyPr>
                <a:lstStyle/>
                <a:p>
                  <a:r>
                    <a:rPr lang="en-US" sz="2400" dirty="0">
                      <a:solidFill>
                        <a:schemeClr val="bg1"/>
                      </a:solidFill>
                      <a:latin typeface="Times New Roman" panose="02020603050405020304" pitchFamily="18" charset="0"/>
                      <a:cs typeface="Times New Roman" panose="02020603050405020304" pitchFamily="18" charset="0"/>
                    </a:rPr>
                    <a:t>Government</a:t>
                  </a:r>
                  <a:r>
                    <a:rPr lang="en-US" sz="2400" b="1" dirty="0">
                      <a:solidFill>
                        <a:schemeClr val="bg1"/>
                      </a:solidFill>
                      <a:latin typeface="Times New Roman" panose="02020603050405020304" pitchFamily="18" charset="0"/>
                      <a:cs typeface="Times New Roman" panose="02020603050405020304" pitchFamily="18" charset="0"/>
                    </a:rPr>
                    <a:t> </a:t>
                  </a:r>
                  <a:r>
                    <a:rPr lang="en-US" sz="2400" dirty="0">
                      <a:solidFill>
                        <a:schemeClr val="bg1"/>
                      </a:solidFill>
                      <a:latin typeface="Times New Roman" panose="02020603050405020304" pitchFamily="18" charset="0"/>
                      <a:cs typeface="Times New Roman" panose="02020603050405020304" pitchFamily="18" charset="0"/>
                    </a:rPr>
                    <a:t>Has Made Worse</a:t>
                  </a:r>
                </a:p>
              </p:txBody>
            </p:sp>
            <p:sp>
              <p:nvSpPr>
                <p:cNvPr id="21" name="TextBox 20">
                  <a:extLst>
                    <a:ext uri="{FF2B5EF4-FFF2-40B4-BE49-F238E27FC236}">
                      <a16:creationId xmlns:a16="http://schemas.microsoft.com/office/drawing/2014/main" id="{41F6BB97-1316-318A-62B3-4F48B337795E}"/>
                    </a:ext>
                  </a:extLst>
                </p:cNvPr>
                <p:cNvSpPr txBox="1"/>
                <p:nvPr/>
              </p:nvSpPr>
              <p:spPr>
                <a:xfrm>
                  <a:off x="7737708" y="3774801"/>
                  <a:ext cx="564875" cy="523220"/>
                </a:xfrm>
                <a:prstGeom prst="rect">
                  <a:avLst/>
                </a:prstGeom>
                <a:noFill/>
              </p:spPr>
              <p:txBody>
                <a:bodyPr wrap="square" rtlCol="0">
                  <a:spAutoFit/>
                </a:bodyPr>
                <a:lstStyle/>
                <a:p>
                  <a:r>
                    <a:rPr lang="en-US" sz="2800" b="1" dirty="0">
                      <a:solidFill>
                        <a:schemeClr val="bg1"/>
                      </a:solidFill>
                      <a:latin typeface="Stencil" panose="040409050D0802020404" pitchFamily="82" charset="0"/>
                    </a:rPr>
                    <a:t>X</a:t>
                  </a:r>
                </a:p>
              </p:txBody>
            </p:sp>
          </p:grpSp>
        </p:grpSp>
      </p:grpSp>
      <p:cxnSp>
        <p:nvCxnSpPr>
          <p:cNvPr id="8" name="Straight Connector 7">
            <a:extLst>
              <a:ext uri="{FF2B5EF4-FFF2-40B4-BE49-F238E27FC236}">
                <a16:creationId xmlns:a16="http://schemas.microsoft.com/office/drawing/2014/main" id="{EABC6B66-1964-7C76-3F6F-D669EFEAC572}"/>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F98F9DE7-082E-9758-F3B3-22C1DFD7B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Tree>
    <p:extLst>
      <p:ext uri="{BB962C8B-B14F-4D97-AF65-F5344CB8AC3E}">
        <p14:creationId xmlns:p14="http://schemas.microsoft.com/office/powerpoint/2010/main" val="2271977802"/>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2433637" y="158175"/>
            <a:ext cx="7124700" cy="769441"/>
          </a:xfrm>
          <a:prstGeom prst="rect">
            <a:avLst/>
          </a:prstGeom>
          <a:noFill/>
        </p:spPr>
        <p:txBody>
          <a:bodyPr wrap="square" rtlCol="0">
            <a:spAutoFit/>
          </a:bodyPr>
          <a:lstStyle/>
          <a:p>
            <a:pPr algn="ctr"/>
            <a:r>
              <a:rPr lang="en-US" sz="4000" dirty="0">
                <a:solidFill>
                  <a:srgbClr val="FFFF00"/>
                </a:solidFill>
                <a:latin typeface="Times New Roman" panose="02020603050405020304" pitchFamily="18" charset="0"/>
                <a:cs typeface="Times New Roman" panose="02020603050405020304" pitchFamily="18" charset="0"/>
              </a:rPr>
              <a:t>The</a:t>
            </a:r>
            <a:r>
              <a:rPr lang="en-US" sz="4400" dirty="0">
                <a:solidFill>
                  <a:srgbClr val="FFFF00"/>
                </a:solidFill>
                <a:latin typeface="Times New Roman" panose="02020603050405020304" pitchFamily="18" charset="0"/>
                <a:cs typeface="Times New Roman" panose="02020603050405020304" pitchFamily="18" charset="0"/>
              </a:rPr>
              <a:t> Index</a:t>
            </a:r>
          </a:p>
        </p:txBody>
      </p:sp>
      <p:pic>
        <p:nvPicPr>
          <p:cNvPr id="3" name="Picture 2">
            <a:extLst>
              <a:ext uri="{FF2B5EF4-FFF2-40B4-BE49-F238E27FC236}">
                <a16:creationId xmlns:a16="http://schemas.microsoft.com/office/drawing/2014/main" id="{2FAC7E62-3C9A-3800-783D-227565EAF5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5444" y="1035308"/>
            <a:ext cx="7661111" cy="4787383"/>
          </a:xfrm>
          <a:prstGeom prst="rect">
            <a:avLst/>
          </a:prstGeom>
        </p:spPr>
      </p:pic>
    </p:spTree>
    <p:extLst>
      <p:ext uri="{BB962C8B-B14F-4D97-AF65-F5344CB8AC3E}">
        <p14:creationId xmlns:p14="http://schemas.microsoft.com/office/powerpoint/2010/main" val="32472267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47624" y="158175"/>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THE IAC TOOLKIT</a:t>
            </a:r>
          </a:p>
        </p:txBody>
      </p:sp>
      <p:sp>
        <p:nvSpPr>
          <p:cNvPr id="4" name="Subtitle 2">
            <a:extLst>
              <a:ext uri="{FF2B5EF4-FFF2-40B4-BE49-F238E27FC236}">
                <a16:creationId xmlns:a16="http://schemas.microsoft.com/office/drawing/2014/main" id="{15615D0E-6F01-16F0-E511-C12A8AE8B49A}"/>
              </a:ext>
            </a:extLst>
          </p:cNvPr>
          <p:cNvSpPr txBox="1">
            <a:spLocks/>
          </p:cNvSpPr>
          <p:nvPr/>
        </p:nvSpPr>
        <p:spPr>
          <a:xfrm>
            <a:off x="295276" y="723332"/>
            <a:ext cx="11249024" cy="595369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1257300" lvl="2" indent="-342900" algn="l">
              <a:buFont typeface="Arial" panose="020B0604020202020204" pitchFamily="34" charset="0"/>
              <a:buChar char="•"/>
            </a:pPr>
            <a:endParaRPr lang="en-US" sz="1000" dirty="0">
              <a:solidFill>
                <a:schemeClr val="bg1"/>
              </a:solidFill>
              <a:latin typeface="Times New Roman" panose="02020603050405020304" pitchFamily="18" charset="0"/>
              <a:cs typeface="Times New Roman" panose="02020603050405020304" pitchFamily="18" charset="0"/>
            </a:endParaRPr>
          </a:p>
          <a:p>
            <a:pPr algn="l"/>
            <a:r>
              <a:rPr lang="en-US" b="1" u="sng" dirty="0">
                <a:solidFill>
                  <a:schemeClr val="bg1"/>
                </a:solidFill>
                <a:latin typeface="Times New Roman" panose="02020603050405020304" pitchFamily="18" charset="0"/>
                <a:cs typeface="Times New Roman" panose="02020603050405020304" pitchFamily="18" charset="0"/>
              </a:rPr>
              <a:t>WHAT’S OUR  STORY</a:t>
            </a:r>
          </a:p>
          <a:p>
            <a:r>
              <a:rPr lang="en-US" b="1" i="1" dirty="0">
                <a:solidFill>
                  <a:schemeClr val="bg1"/>
                </a:solidFill>
                <a:highlight>
                  <a:srgbClr val="000000"/>
                </a:highlight>
                <a:latin typeface="Times New Roman" panose="02020603050405020304" pitchFamily="18" charset="0"/>
                <a:cs typeface="Times New Roman" panose="02020603050405020304" pitchFamily="18" charset="0"/>
              </a:rPr>
              <a:t>A Community does not emerge from the simple aggregation of its parts,         </a:t>
            </a:r>
          </a:p>
          <a:p>
            <a:pPr lvl="5"/>
            <a:r>
              <a:rPr lang="en-US" sz="2400" b="1" i="1" dirty="0">
                <a:solidFill>
                  <a:schemeClr val="bg1"/>
                </a:solidFill>
                <a:highlight>
                  <a:srgbClr val="000000"/>
                </a:highlight>
                <a:latin typeface="Times New Roman" panose="02020603050405020304" pitchFamily="18" charset="0"/>
                <a:cs typeface="Times New Roman" panose="02020603050405020304" pitchFamily="18" charset="0"/>
              </a:rPr>
              <a:t>but rather, it emerges from their integration</a:t>
            </a:r>
            <a:r>
              <a:rPr lang="en-US" sz="2400" b="1" i="1" dirty="0">
                <a:solidFill>
                  <a:schemeClr val="bg1"/>
                </a:solidFill>
                <a:latin typeface="Times New Roman" panose="02020603050405020304" pitchFamily="18" charset="0"/>
                <a:cs typeface="Times New Roman" panose="02020603050405020304" pitchFamily="18" charset="0"/>
              </a:rPr>
              <a:t>”     </a:t>
            </a:r>
            <a:r>
              <a:rPr lang="en-US" sz="2400" b="1" i="1" dirty="0">
                <a:solidFill>
                  <a:schemeClr val="bg1"/>
                </a:solidFill>
                <a:highlight>
                  <a:srgbClr val="000000"/>
                </a:highlight>
                <a:latin typeface="Times New Roman" panose="02020603050405020304" pitchFamily="18" charset="0"/>
                <a:cs typeface="Times New Roman" panose="02020603050405020304" pitchFamily="18" charset="0"/>
              </a:rPr>
              <a:t>		</a:t>
            </a:r>
          </a:p>
          <a:p>
            <a:pPr lvl="5" algn="l"/>
            <a:endParaRPr lang="en-US" sz="2400" b="1" dirty="0">
              <a:solidFill>
                <a:schemeClr val="bg1"/>
              </a:solidFill>
              <a:highlight>
                <a:srgbClr val="000000"/>
              </a:highlight>
              <a:latin typeface="Times New Roman" panose="02020603050405020304" pitchFamily="18" charset="0"/>
              <a:cs typeface="Times New Roman" panose="02020603050405020304" pitchFamily="18" charset="0"/>
            </a:endParaRPr>
          </a:p>
          <a:p>
            <a:pPr algn="l"/>
            <a:r>
              <a:rPr lang="en-US" b="1" u="sng" dirty="0">
                <a:solidFill>
                  <a:schemeClr val="bg1"/>
                </a:solidFill>
                <a:latin typeface="Times New Roman" panose="02020603050405020304" pitchFamily="18" charset="0"/>
                <a:cs typeface="Times New Roman" panose="02020603050405020304" pitchFamily="18" charset="0"/>
              </a:rPr>
              <a:t>THE BUSH FOUNDATION’S GOAL</a:t>
            </a:r>
          </a:p>
          <a:p>
            <a:pPr lvl="1" algn="l"/>
            <a:r>
              <a:rPr lang="en-US" sz="2400" b="1" dirty="0">
                <a:solidFill>
                  <a:schemeClr val="bg1"/>
                </a:solidFill>
                <a:latin typeface="Times New Roman" panose="02020603050405020304" pitchFamily="18" charset="0"/>
                <a:cs typeface="Times New Roman" panose="02020603050405020304" pitchFamily="18" charset="0"/>
              </a:rPr>
              <a:t>Support community-driven ideas that change underlying systems—not just symptoms—and can create lasting, scalable improvements across the region.</a:t>
            </a:r>
            <a:r>
              <a:rPr lang="en-US" sz="2400" dirty="0">
                <a:solidFill>
                  <a:schemeClr val="bg1"/>
                </a:solidFill>
                <a:latin typeface="Times New Roman" panose="02020603050405020304" pitchFamily="18" charset="0"/>
                <a:cs typeface="Times New Roman" panose="02020603050405020304" pitchFamily="18" charset="0"/>
              </a:rPr>
              <a:t> </a:t>
            </a:r>
          </a:p>
          <a:p>
            <a:pPr lvl="1" algn="l"/>
            <a:endParaRPr lang="en-US" sz="1400" dirty="0">
              <a:solidFill>
                <a:schemeClr val="bg1"/>
              </a:solidFill>
              <a:latin typeface="Times New Roman" panose="02020603050405020304" pitchFamily="18" charset="0"/>
              <a:cs typeface="Times New Roman" panose="02020603050405020304" pitchFamily="18" charset="0"/>
            </a:endParaRPr>
          </a:p>
          <a:p>
            <a:pPr marL="1085850" lvl="1" indent="-285750" algn="l">
              <a:buFont typeface="Arial" panose="020B0604020202020204" pitchFamily="34" charset="0"/>
              <a:buChar char="•"/>
            </a:pPr>
            <a:r>
              <a:rPr lang="en-US" b="1" u="sng" dirty="0">
                <a:solidFill>
                  <a:schemeClr val="bg1"/>
                </a:solidFill>
                <a:latin typeface="Times New Roman" panose="02020603050405020304" pitchFamily="18" charset="0"/>
                <a:cs typeface="Times New Roman" panose="02020603050405020304" pitchFamily="18" charset="0"/>
              </a:rPr>
              <a:t>Transform systems</a:t>
            </a:r>
            <a:r>
              <a:rPr lang="en-US" b="1" dirty="0">
                <a:solidFill>
                  <a:schemeClr val="bg1"/>
                </a:solidFill>
                <a:latin typeface="Times New Roman" panose="02020603050405020304" pitchFamily="18" charset="0"/>
                <a:cs typeface="Times New Roman" panose="02020603050405020304" pitchFamily="18" charset="0"/>
              </a:rPr>
              <a:t>:</a:t>
            </a:r>
            <a:r>
              <a:rPr lang="en-US" dirty="0">
                <a:solidFill>
                  <a:schemeClr val="bg1"/>
                </a:solidFill>
                <a:latin typeface="Times New Roman" panose="02020603050405020304" pitchFamily="18" charset="0"/>
                <a:cs typeface="Times New Roman" panose="02020603050405020304" pitchFamily="18" charset="0"/>
              </a:rPr>
              <a:t> address root causes and change how opportunities and outcomes are produced. </a:t>
            </a:r>
          </a:p>
          <a:p>
            <a:pPr marL="1085850" lvl="1" indent="-285750" algn="l">
              <a:buFont typeface="Arial" panose="020B0604020202020204" pitchFamily="34" charset="0"/>
              <a:buChar char="•"/>
            </a:pPr>
            <a:r>
              <a:rPr lang="en-US" b="1" u="sng" dirty="0">
                <a:solidFill>
                  <a:schemeClr val="bg1"/>
                </a:solidFill>
                <a:latin typeface="Times New Roman" panose="02020603050405020304" pitchFamily="18" charset="0"/>
                <a:cs typeface="Times New Roman" panose="02020603050405020304" pitchFamily="18" charset="0"/>
              </a:rPr>
              <a:t>Build from community ownership</a:t>
            </a:r>
            <a:r>
              <a:rPr lang="en-US" b="1" dirty="0">
                <a:solidFill>
                  <a:schemeClr val="bg1"/>
                </a:solidFill>
                <a:latin typeface="Times New Roman" panose="02020603050405020304" pitchFamily="18" charset="0"/>
                <a:cs typeface="Times New Roman" panose="02020603050405020304" pitchFamily="18" charset="0"/>
              </a:rPr>
              <a:t>:</a:t>
            </a:r>
            <a:r>
              <a:rPr lang="en-US" dirty="0">
                <a:solidFill>
                  <a:schemeClr val="bg1"/>
                </a:solidFill>
                <a:latin typeface="Times New Roman" panose="02020603050405020304" pitchFamily="18" charset="0"/>
                <a:cs typeface="Times New Roman" panose="02020603050405020304" pitchFamily="18" charset="0"/>
              </a:rPr>
              <a:t> involve the people affected and create strong, collaborative solutions. </a:t>
            </a:r>
          </a:p>
          <a:p>
            <a:pPr marL="1085850" lvl="1" indent="-285750" algn="l">
              <a:buFont typeface="Arial" panose="020B0604020202020204" pitchFamily="34" charset="0"/>
              <a:buChar char="•"/>
            </a:pPr>
            <a:r>
              <a:rPr lang="en-US" b="1" u="sng" dirty="0">
                <a:solidFill>
                  <a:schemeClr val="bg1"/>
                </a:solidFill>
                <a:latin typeface="Times New Roman" panose="02020603050405020304" pitchFamily="18" charset="0"/>
                <a:cs typeface="Times New Roman" panose="02020603050405020304" pitchFamily="18" charset="0"/>
              </a:rPr>
              <a:t>Create lasting, expandable impact:</a:t>
            </a:r>
            <a:r>
              <a:rPr lang="en-US" u="sng" dirty="0">
                <a:solidFill>
                  <a:schemeClr val="bg1"/>
                </a:solidFill>
                <a:latin typeface="Times New Roman" panose="02020603050405020304" pitchFamily="18" charset="0"/>
                <a:cs typeface="Times New Roman" panose="02020603050405020304" pitchFamily="18" charset="0"/>
              </a:rPr>
              <a:t> </a:t>
            </a:r>
            <a:r>
              <a:rPr lang="en-US" dirty="0">
                <a:solidFill>
                  <a:schemeClr val="bg1"/>
                </a:solidFill>
                <a:latin typeface="Times New Roman" panose="02020603050405020304" pitchFamily="18" charset="0"/>
                <a:cs typeface="Times New Roman" panose="02020603050405020304" pitchFamily="18" charset="0"/>
              </a:rPr>
              <a:t>support ideas that can grow, spread, and make the region better for everyone</a:t>
            </a:r>
            <a:r>
              <a:rPr lang="en-US" sz="1600" dirty="0">
                <a:solidFill>
                  <a:schemeClr val="bg1"/>
                </a:solidFill>
                <a:latin typeface="Times New Roman" panose="02020603050405020304" pitchFamily="18" charset="0"/>
                <a:cs typeface="Times New Roman" panose="02020603050405020304" pitchFamily="18" charset="0"/>
              </a:rPr>
              <a:t>. </a:t>
            </a:r>
          </a:p>
          <a:p>
            <a:pPr algn="l"/>
            <a:endParaRPr lang="en-US" b="1" dirty="0">
              <a:solidFill>
                <a:schemeClr val="bg1"/>
              </a:solidFill>
              <a:latin typeface="Times New Roman" panose="02020603050405020304" pitchFamily="18" charset="0"/>
              <a:cs typeface="Times New Roman" panose="02020603050405020304" pitchFamily="18" charset="0"/>
            </a:endParaRPr>
          </a:p>
        </p:txBody>
      </p:sp>
      <p:cxnSp>
        <p:nvCxnSpPr>
          <p:cNvPr id="2" name="Straight Connector 1">
            <a:extLst>
              <a:ext uri="{FF2B5EF4-FFF2-40B4-BE49-F238E27FC236}">
                <a16:creationId xmlns:a16="http://schemas.microsoft.com/office/drawing/2014/main" id="{566B149D-F2C7-8D1F-35AA-1B2D4E3CF3CD}"/>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31724CA8-2D0F-FB0B-3561-D1B3177A879E}"/>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Tree>
    <p:extLst>
      <p:ext uri="{BB962C8B-B14F-4D97-AF65-F5344CB8AC3E}">
        <p14:creationId xmlns:p14="http://schemas.microsoft.com/office/powerpoint/2010/main" val="1231298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3224B7-483B-A730-AC99-BFFE7D0388E9}"/>
              </a:ext>
            </a:extLst>
          </p:cNvPr>
          <p:cNvSpPr txBox="1"/>
          <p:nvPr/>
        </p:nvSpPr>
        <p:spPr>
          <a:xfrm rot="16200000">
            <a:off x="-4434930" y="3321315"/>
            <a:ext cx="6858002" cy="769441"/>
          </a:xfrm>
          <a:prstGeom prst="rect">
            <a:avLst/>
          </a:prstGeom>
          <a:solidFill>
            <a:schemeClr val="tx1"/>
          </a:solidFill>
        </p:spPr>
        <p:txBody>
          <a:bodyPr wrap="square" rtlCol="0">
            <a:spAutoFit/>
          </a:bodyPr>
          <a:lstStyle/>
          <a:p>
            <a:pPr algn="ctr"/>
            <a:r>
              <a:rPr lang="en-US" sz="4400" b="1" dirty="0">
                <a:solidFill>
                  <a:schemeClr val="bg1"/>
                </a:solidFill>
                <a:latin typeface="Stencil" panose="040409050D0802020404" pitchFamily="82" charset="0"/>
              </a:rPr>
              <a:t>3. e-Consensus FORUm</a:t>
            </a:r>
          </a:p>
        </p:txBody>
      </p:sp>
      <p:sp>
        <p:nvSpPr>
          <p:cNvPr id="8" name="TextBox 7">
            <a:extLst>
              <a:ext uri="{FF2B5EF4-FFF2-40B4-BE49-F238E27FC236}">
                <a16:creationId xmlns:a16="http://schemas.microsoft.com/office/drawing/2014/main" id="{D3C87BF5-944E-F546-7C00-851916A53BB8}"/>
              </a:ext>
            </a:extLst>
          </p:cNvPr>
          <p:cNvSpPr txBox="1"/>
          <p:nvPr/>
        </p:nvSpPr>
        <p:spPr>
          <a:xfrm>
            <a:off x="0" y="276019"/>
            <a:ext cx="12344400" cy="646331"/>
          </a:xfrm>
          <a:prstGeom prst="rect">
            <a:avLst/>
          </a:prstGeom>
          <a:noFill/>
        </p:spPr>
        <p:txBody>
          <a:bodyPr wrap="square" rtlCol="0">
            <a:spAutoFit/>
          </a:bodyPr>
          <a:lstStyle/>
          <a:p>
            <a:pPr algn="ctr"/>
            <a:r>
              <a:rPr lang="en-US" sz="3600" b="1" dirty="0">
                <a:solidFill>
                  <a:srgbClr val="FFFF00"/>
                </a:solidFill>
                <a:latin typeface="Times New Roman" panose="02020603050405020304" pitchFamily="18" charset="0"/>
                <a:ea typeface="Yu Gothic UI Semibold" panose="020B0700000000000000" pitchFamily="34" charset="-128"/>
                <a:cs typeface="Times New Roman" panose="02020603050405020304" pitchFamily="18" charset="0"/>
              </a:rPr>
              <a:t>THE e-CONSENSUS FORUM REPORT</a:t>
            </a:r>
            <a:endParaRPr lang="en-US" sz="3600" dirty="0">
              <a:solidFill>
                <a:srgbClr val="FFFF00"/>
              </a:solidFill>
              <a:latin typeface="Times New Roman" panose="02020603050405020304" pitchFamily="18" charset="0"/>
              <a:cs typeface="Times New Roman" panose="02020603050405020304" pitchFamily="18" charset="0"/>
            </a:endParaRPr>
          </a:p>
        </p:txBody>
      </p:sp>
      <p:cxnSp>
        <p:nvCxnSpPr>
          <p:cNvPr id="6" name="Straight Connector 5">
            <a:extLst>
              <a:ext uri="{FF2B5EF4-FFF2-40B4-BE49-F238E27FC236}">
                <a16:creationId xmlns:a16="http://schemas.microsoft.com/office/drawing/2014/main" id="{B21B6928-150A-41FE-DDC2-6CD5E5CC1AF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C109A0A3-A2A5-1F7E-8848-E8C8D4E3407D}"/>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Tree>
    <p:extLst>
      <p:ext uri="{BB962C8B-B14F-4D97-AF65-F5344CB8AC3E}">
        <p14:creationId xmlns:p14="http://schemas.microsoft.com/office/powerpoint/2010/main" val="4975164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2343151" y="1200151"/>
            <a:ext cx="7124700" cy="4154984"/>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e-Consensus</a:t>
            </a:r>
          </a:p>
          <a:p>
            <a:pPr algn="ctr"/>
            <a:r>
              <a:rPr lang="en-US" sz="8800" dirty="0">
                <a:solidFill>
                  <a:schemeClr val="bg1"/>
                </a:solidFill>
                <a:latin typeface="Times New Roman" panose="02020603050405020304" pitchFamily="18" charset="0"/>
                <a:cs typeface="Times New Roman" panose="02020603050405020304" pitchFamily="18" charset="0"/>
              </a:rPr>
              <a:t> </a:t>
            </a:r>
          </a:p>
          <a:p>
            <a:pPr algn="ctr"/>
            <a:r>
              <a:rPr lang="en-US" sz="8800" dirty="0">
                <a:solidFill>
                  <a:schemeClr val="bg1"/>
                </a:solidFill>
                <a:latin typeface="Times New Roman" panose="02020603050405020304" pitchFamily="18" charset="0"/>
                <a:cs typeface="Times New Roman" panose="02020603050405020304" pitchFamily="18" charset="0"/>
              </a:rPr>
              <a:t>Q&amp;A </a:t>
            </a:r>
          </a:p>
        </p:txBody>
      </p:sp>
    </p:spTree>
    <p:extLst>
      <p:ext uri="{BB962C8B-B14F-4D97-AF65-F5344CB8AC3E}">
        <p14:creationId xmlns:p14="http://schemas.microsoft.com/office/powerpoint/2010/main" val="40063155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95250" y="257176"/>
            <a:ext cx="12191999" cy="4154984"/>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WORKFORCE VIRTUALIZATION PROGRAM</a:t>
            </a:r>
          </a:p>
        </p:txBody>
      </p:sp>
    </p:spTree>
    <p:extLst>
      <p:ext uri="{BB962C8B-B14F-4D97-AF65-F5344CB8AC3E}">
        <p14:creationId xmlns:p14="http://schemas.microsoft.com/office/powerpoint/2010/main" val="12394882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31F21E6-57F5-A0DE-E8BE-13652C06A56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057275"/>
            <a:ext cx="2731586" cy="4952388"/>
          </a:xfrm>
          <a:prstGeom prst="rect">
            <a:avLst/>
          </a:prstGeom>
        </p:spPr>
      </p:pic>
      <p:sp>
        <p:nvSpPr>
          <p:cNvPr id="5" name="Rectangle: Rounded Corners 4">
            <a:extLst>
              <a:ext uri="{FF2B5EF4-FFF2-40B4-BE49-F238E27FC236}">
                <a16:creationId xmlns:a16="http://schemas.microsoft.com/office/drawing/2014/main" id="{1FFD7790-32FE-6C06-BDD6-39F97730FCDE}"/>
              </a:ext>
            </a:extLst>
          </p:cNvPr>
          <p:cNvSpPr/>
          <p:nvPr/>
        </p:nvSpPr>
        <p:spPr>
          <a:xfrm>
            <a:off x="447675" y="1057275"/>
            <a:ext cx="3067050" cy="541972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Action Button: Go to End 5">
            <a:hlinkClick r:id="" action="ppaction://hlinkshowjump?jump=nextslide" highlightClick="1"/>
            <a:extLst>
              <a:ext uri="{FF2B5EF4-FFF2-40B4-BE49-F238E27FC236}">
                <a16:creationId xmlns:a16="http://schemas.microsoft.com/office/drawing/2014/main" id="{87E7179C-C13F-CA7E-8021-6757F8ED3755}"/>
              </a:ext>
            </a:extLst>
          </p:cNvPr>
          <p:cNvSpPr/>
          <p:nvPr/>
        </p:nvSpPr>
        <p:spPr>
          <a:xfrm>
            <a:off x="10832307" y="57340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0A4F7709-07D9-6AEE-509E-89B35FAA35C6}"/>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TEST  FEASIBILITY TO ENSURE AN ROI</a:t>
            </a:r>
          </a:p>
        </p:txBody>
      </p:sp>
      <p:cxnSp>
        <p:nvCxnSpPr>
          <p:cNvPr id="8" name="Straight Connector 7">
            <a:extLst>
              <a:ext uri="{FF2B5EF4-FFF2-40B4-BE49-F238E27FC236}">
                <a16:creationId xmlns:a16="http://schemas.microsoft.com/office/drawing/2014/main" id="{D532C0AA-17EF-5893-3712-7E26816D337A}"/>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77237B3-DF0E-7999-9AD8-EA3161EC43C0}"/>
              </a:ext>
            </a:extLst>
          </p:cNvPr>
          <p:cNvSpPr txBox="1"/>
          <p:nvPr/>
        </p:nvSpPr>
        <p:spPr>
          <a:xfrm>
            <a:off x="473725" y="1258758"/>
            <a:ext cx="2850500" cy="5016758"/>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Don’t focus on the employee, focus on the occupation.  First deploy your employees with continuity roles; and you don’t need 20 people doing the same job on site nor do you have to have everyone there just in case you have a question.  Strategically deploy everyone on the basis on hierarchy, technology and the number of days per week that they can work remotely. </a:t>
            </a:r>
          </a:p>
        </p:txBody>
      </p:sp>
    </p:spTree>
    <p:extLst>
      <p:ext uri="{BB962C8B-B14F-4D97-AF65-F5344CB8AC3E}">
        <p14:creationId xmlns:p14="http://schemas.microsoft.com/office/powerpoint/2010/main" val="41855553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AFD299-60B6-0A03-1873-269821A2C19B}"/>
              </a:ext>
            </a:extLst>
          </p:cNvPr>
          <p:cNvPicPr>
            <a:picLocks noChangeAspect="1"/>
          </p:cNvPicPr>
          <p:nvPr/>
        </p:nvPicPr>
        <p:blipFill>
          <a:blip r:embed="rId2">
            <a:extLst>
              <a:ext uri="{28A0092B-C50C-407E-A947-70E740481C1C}">
                <a14:useLocalDpi xmlns:a14="http://schemas.microsoft.com/office/drawing/2010/main" val="0"/>
              </a:ext>
            </a:extLst>
          </a:blip>
          <a:srcRect l="428" t="1531" r="1878" b="3111"/>
          <a:stretch/>
        </p:blipFill>
        <p:spPr>
          <a:xfrm>
            <a:off x="4791075" y="1502896"/>
            <a:ext cx="5715000" cy="3909437"/>
          </a:xfrm>
          <a:prstGeom prst="rect">
            <a:avLst/>
          </a:prstGeom>
        </p:spPr>
      </p:pic>
      <p:sp>
        <p:nvSpPr>
          <p:cNvPr id="5" name="Rectangle: Rounded Corners 4">
            <a:extLst>
              <a:ext uri="{FF2B5EF4-FFF2-40B4-BE49-F238E27FC236}">
                <a16:creationId xmlns:a16="http://schemas.microsoft.com/office/drawing/2014/main" id="{28804E94-E847-555F-3CFC-025BA01854F0}"/>
              </a:ext>
            </a:extLst>
          </p:cNvPr>
          <p:cNvSpPr/>
          <p:nvPr/>
        </p:nvSpPr>
        <p:spPr>
          <a:xfrm>
            <a:off x="447675" y="1057275"/>
            <a:ext cx="3067050" cy="541972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Action Button: Go to End 5">
            <a:hlinkClick r:id="" action="ppaction://hlinkshowjump?jump=nextslide" highlightClick="1"/>
            <a:extLst>
              <a:ext uri="{FF2B5EF4-FFF2-40B4-BE49-F238E27FC236}">
                <a16:creationId xmlns:a16="http://schemas.microsoft.com/office/drawing/2014/main" id="{79F68099-9B46-D043-C480-F2FBB44EB451}"/>
              </a:ext>
            </a:extLst>
          </p:cNvPr>
          <p:cNvSpPr/>
          <p:nvPr/>
        </p:nvSpPr>
        <p:spPr>
          <a:xfrm>
            <a:off x="10832307" y="57340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60EE045A-548F-EB2C-D9A9-60534DC5F50C}"/>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VERIFY IT WILL ACHIEVE YOUR GOALS</a:t>
            </a:r>
          </a:p>
        </p:txBody>
      </p:sp>
      <p:cxnSp>
        <p:nvCxnSpPr>
          <p:cNvPr id="8" name="Straight Connector 7">
            <a:extLst>
              <a:ext uri="{FF2B5EF4-FFF2-40B4-BE49-F238E27FC236}">
                <a16:creationId xmlns:a16="http://schemas.microsoft.com/office/drawing/2014/main" id="{E6C9A256-6359-88C8-460A-1BC14A378DA5}"/>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2F3DA706-52BC-E2AC-7B13-02123E5A2826}"/>
              </a:ext>
            </a:extLst>
          </p:cNvPr>
          <p:cNvSpPr txBox="1"/>
          <p:nvPr/>
        </p:nvSpPr>
        <p:spPr>
          <a:xfrm>
            <a:off x="647701" y="1485900"/>
            <a:ext cx="2695574" cy="4093428"/>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Focusing on key indicators, the WVP calculates the probability of success. </a:t>
            </a:r>
          </a:p>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If many fail to meet the 100% minimum, the strategic process may not be appropriate and a recommendation is made o pursue the traditional ad hoc deployment approach.</a:t>
            </a:r>
          </a:p>
        </p:txBody>
      </p:sp>
    </p:spTree>
    <p:extLst>
      <p:ext uri="{BB962C8B-B14F-4D97-AF65-F5344CB8AC3E}">
        <p14:creationId xmlns:p14="http://schemas.microsoft.com/office/powerpoint/2010/main" val="4802040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Rounded Corners 25">
            <a:extLst>
              <a:ext uri="{FF2B5EF4-FFF2-40B4-BE49-F238E27FC236}">
                <a16:creationId xmlns:a16="http://schemas.microsoft.com/office/drawing/2014/main" id="{16546B91-0FEE-43FC-C91C-4A40EC2982C6}"/>
              </a:ext>
            </a:extLst>
          </p:cNvPr>
          <p:cNvSpPr/>
          <p:nvPr/>
        </p:nvSpPr>
        <p:spPr>
          <a:xfrm>
            <a:off x="447675" y="1057275"/>
            <a:ext cx="3067050" cy="541972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1614CC6F-7F04-E5EE-2F69-DEE405955431}"/>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The C-Suite MUST set the Goals and Guidelines</a:t>
            </a:r>
          </a:p>
        </p:txBody>
      </p:sp>
      <p:cxnSp>
        <p:nvCxnSpPr>
          <p:cNvPr id="29" name="Straight Connector 28">
            <a:extLst>
              <a:ext uri="{FF2B5EF4-FFF2-40B4-BE49-F238E27FC236}">
                <a16:creationId xmlns:a16="http://schemas.microsoft.com/office/drawing/2014/main" id="{06559FC3-BA6B-2610-93C8-8F9D6FC1AC9A}"/>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3E70272-0A38-B89A-77B1-B3AA3CD910B4}"/>
              </a:ext>
            </a:extLst>
          </p:cNvPr>
          <p:cNvSpPr txBox="1"/>
          <p:nvPr/>
        </p:nvSpPr>
        <p:spPr>
          <a:xfrm>
            <a:off x="633412" y="1104869"/>
            <a:ext cx="2800451" cy="5324535"/>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The “Go-No GO” decision is a senior management decision- it is not an HR or transportation task.</a:t>
            </a:r>
          </a:p>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TCR brings the management team together to define the programs Goals and Guidelines.  it is the first step in implementing an entity –wide process of virtualization of accountability to enhance fiscal and operational performance .</a:t>
            </a:r>
          </a:p>
        </p:txBody>
      </p:sp>
      <p:pic>
        <p:nvPicPr>
          <p:cNvPr id="3" name="Picture 2">
            <a:extLst>
              <a:ext uri="{FF2B5EF4-FFF2-40B4-BE49-F238E27FC236}">
                <a16:creationId xmlns:a16="http://schemas.microsoft.com/office/drawing/2014/main" id="{0C64ED21-E9CF-0A7E-9510-93102ADA8E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05299" y="1288838"/>
            <a:ext cx="7353300" cy="3870960"/>
          </a:xfrm>
          <a:prstGeom prst="rect">
            <a:avLst/>
          </a:prstGeom>
        </p:spPr>
      </p:pic>
      <p:pic>
        <p:nvPicPr>
          <p:cNvPr id="5" name="Picture 4">
            <a:extLst>
              <a:ext uri="{FF2B5EF4-FFF2-40B4-BE49-F238E27FC236}">
                <a16:creationId xmlns:a16="http://schemas.microsoft.com/office/drawing/2014/main" id="{229CF66D-19D7-25A2-58B3-0382C7F206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2167" y="1196340"/>
            <a:ext cx="7299960" cy="5280660"/>
          </a:xfrm>
          <a:prstGeom prst="rect">
            <a:avLst/>
          </a:prstGeom>
        </p:spPr>
      </p:pic>
      <p:sp>
        <p:nvSpPr>
          <p:cNvPr id="27" name="Action Button: Go to End 26">
            <a:hlinkClick r:id="" action="ppaction://hlinkshowjump?jump=nextslide" highlightClick="1"/>
            <a:extLst>
              <a:ext uri="{FF2B5EF4-FFF2-40B4-BE49-F238E27FC236}">
                <a16:creationId xmlns:a16="http://schemas.microsoft.com/office/drawing/2014/main" id="{6F479CC5-BB73-A2EF-1E7A-269F58A6F577}"/>
              </a:ext>
            </a:extLst>
          </p:cNvPr>
          <p:cNvSpPr/>
          <p:nvPr/>
        </p:nvSpPr>
        <p:spPr>
          <a:xfrm>
            <a:off x="10832307" y="57340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5296797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4FED2DF-8D3E-D0DC-EC88-79B74FE060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55475" y="1004887"/>
            <a:ext cx="3821925" cy="4987533"/>
          </a:xfrm>
          <a:prstGeom prst="rect">
            <a:avLst/>
          </a:prstGeom>
        </p:spPr>
      </p:pic>
      <p:sp>
        <p:nvSpPr>
          <p:cNvPr id="5" name="Rectangle: Rounded Corners 4">
            <a:extLst>
              <a:ext uri="{FF2B5EF4-FFF2-40B4-BE49-F238E27FC236}">
                <a16:creationId xmlns:a16="http://schemas.microsoft.com/office/drawing/2014/main" id="{7910E71A-FB4B-E83A-C811-AC2F68C65BBE}"/>
              </a:ext>
            </a:extLst>
          </p:cNvPr>
          <p:cNvSpPr/>
          <p:nvPr/>
        </p:nvSpPr>
        <p:spPr>
          <a:xfrm>
            <a:off x="447675" y="1057275"/>
            <a:ext cx="3067050" cy="541972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Action Button: Go to End 5">
            <a:hlinkClick r:id="" action="ppaction://hlinkshowjump?jump=nextslide" highlightClick="1"/>
            <a:extLst>
              <a:ext uri="{FF2B5EF4-FFF2-40B4-BE49-F238E27FC236}">
                <a16:creationId xmlns:a16="http://schemas.microsoft.com/office/drawing/2014/main" id="{195FFA54-3109-1B99-D434-89BE93CD5B1F}"/>
              </a:ext>
            </a:extLst>
          </p:cNvPr>
          <p:cNvSpPr/>
          <p:nvPr/>
        </p:nvSpPr>
        <p:spPr>
          <a:xfrm>
            <a:off x="10832307" y="57340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3DE172DC-C506-4E6D-F695-F25E5376DD17}"/>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IMPLEMENT IT IN LOGICAL STEPS</a:t>
            </a:r>
          </a:p>
        </p:txBody>
      </p:sp>
      <p:cxnSp>
        <p:nvCxnSpPr>
          <p:cNvPr id="8" name="Straight Connector 7">
            <a:extLst>
              <a:ext uri="{FF2B5EF4-FFF2-40B4-BE49-F238E27FC236}">
                <a16:creationId xmlns:a16="http://schemas.microsoft.com/office/drawing/2014/main" id="{D747E935-97CA-06E6-29EA-DE8D83313527}"/>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F54C2A9-845E-BA34-EC26-0914C180E2A0}"/>
              </a:ext>
            </a:extLst>
          </p:cNvPr>
          <p:cNvSpPr txBox="1"/>
          <p:nvPr/>
        </p:nvSpPr>
        <p:spPr>
          <a:xfrm>
            <a:off x="647701" y="1485900"/>
            <a:ext cx="2695574" cy="5324535"/>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The Process is simple:</a:t>
            </a:r>
          </a:p>
          <a:p>
            <a:pPr algn="ctr"/>
            <a:r>
              <a:rPr lang="en-US" sz="2000" dirty="0">
                <a:solidFill>
                  <a:schemeClr val="bg1"/>
                </a:solidFill>
                <a:latin typeface="Times New Roman" panose="02020603050405020304" pitchFamily="18" charset="0"/>
                <a:cs typeface="Times New Roman" panose="02020603050405020304" pitchFamily="18" charset="0"/>
              </a:rPr>
              <a:t>FEASIBILITY</a:t>
            </a:r>
          </a:p>
          <a:p>
            <a:pPr algn="ctr"/>
            <a:r>
              <a:rPr lang="en-US" sz="2000" dirty="0">
                <a:solidFill>
                  <a:schemeClr val="bg1">
                    <a:lumMod val="85000"/>
                  </a:schemeClr>
                </a:solidFill>
                <a:latin typeface="Times New Roman" panose="02020603050405020304" pitchFamily="18" charset="0"/>
                <a:cs typeface="Times New Roman" panose="02020603050405020304" pitchFamily="18" charset="0"/>
              </a:rPr>
              <a:t>Make sure it makes cents.</a:t>
            </a:r>
          </a:p>
          <a:p>
            <a:pPr algn="ctr"/>
            <a:r>
              <a:rPr lang="en-US" sz="2000" dirty="0">
                <a:solidFill>
                  <a:schemeClr val="bg1"/>
                </a:solidFill>
                <a:latin typeface="Times New Roman" panose="02020603050405020304" pitchFamily="18" charset="0"/>
                <a:cs typeface="Times New Roman" panose="02020603050405020304" pitchFamily="18" charset="0"/>
              </a:rPr>
              <a:t>OPTIMIZATION</a:t>
            </a:r>
          </a:p>
          <a:p>
            <a:pPr algn="ctr"/>
            <a:r>
              <a:rPr lang="en-US" sz="2000" dirty="0">
                <a:solidFill>
                  <a:schemeClr val="bg1">
                    <a:lumMod val="75000"/>
                  </a:schemeClr>
                </a:solidFill>
                <a:latin typeface="Times New Roman" panose="02020603050405020304" pitchFamily="18" charset="0"/>
                <a:cs typeface="Times New Roman" panose="02020603050405020304" pitchFamily="18" charset="0"/>
              </a:rPr>
              <a:t>Make sure it is efficient</a:t>
            </a:r>
          </a:p>
          <a:p>
            <a:pPr algn="ctr"/>
            <a:r>
              <a:rPr lang="en-US" sz="2000" dirty="0">
                <a:solidFill>
                  <a:schemeClr val="bg1"/>
                </a:solidFill>
                <a:latin typeface="Times New Roman" panose="02020603050405020304" pitchFamily="18" charset="0"/>
                <a:cs typeface="Times New Roman" panose="02020603050405020304" pitchFamily="18" charset="0"/>
              </a:rPr>
              <a:t>SEQUENTIAL</a:t>
            </a:r>
          </a:p>
          <a:p>
            <a:pPr algn="ctr"/>
            <a:r>
              <a:rPr lang="en-US" sz="2000" dirty="0">
                <a:solidFill>
                  <a:schemeClr val="bg1">
                    <a:lumMod val="75000"/>
                  </a:schemeClr>
                </a:solidFill>
                <a:latin typeface="Times New Roman" panose="02020603050405020304" pitchFamily="18" charset="0"/>
                <a:cs typeface="Times New Roman" panose="02020603050405020304" pitchFamily="18" charset="0"/>
              </a:rPr>
              <a:t>Logic dictates schedule</a:t>
            </a:r>
          </a:p>
          <a:p>
            <a:pPr algn="ctr"/>
            <a:r>
              <a:rPr lang="en-US" sz="2000" dirty="0">
                <a:solidFill>
                  <a:schemeClr val="bg1"/>
                </a:solidFill>
                <a:latin typeface="Times New Roman" panose="02020603050405020304" pitchFamily="18" charset="0"/>
                <a:cs typeface="Times New Roman" panose="02020603050405020304" pitchFamily="18" charset="0"/>
              </a:rPr>
              <a:t>ACCOUNTABLE</a:t>
            </a:r>
          </a:p>
          <a:p>
            <a:pPr algn="ctr"/>
            <a:r>
              <a:rPr lang="en-US" sz="2000" dirty="0">
                <a:solidFill>
                  <a:schemeClr val="bg1">
                    <a:lumMod val="75000"/>
                  </a:schemeClr>
                </a:solidFill>
                <a:latin typeface="Times New Roman" panose="02020603050405020304" pitchFamily="18" charset="0"/>
                <a:cs typeface="Times New Roman" panose="02020603050405020304" pitchFamily="18" charset="0"/>
              </a:rPr>
              <a:t>Policy updates are critical</a:t>
            </a:r>
          </a:p>
          <a:p>
            <a:pPr algn="ctr"/>
            <a:r>
              <a:rPr lang="en-US" sz="2000" dirty="0">
                <a:solidFill>
                  <a:schemeClr val="bg1"/>
                </a:solidFill>
                <a:latin typeface="Times New Roman" panose="02020603050405020304" pitchFamily="18" charset="0"/>
                <a:cs typeface="Times New Roman" panose="02020603050405020304" pitchFamily="18" charset="0"/>
              </a:rPr>
              <a:t>PERFORMANCE</a:t>
            </a:r>
          </a:p>
          <a:p>
            <a:pPr algn="ctr"/>
            <a:r>
              <a:rPr lang="en-US" sz="2000" dirty="0">
                <a:solidFill>
                  <a:schemeClr val="bg1">
                    <a:lumMod val="75000"/>
                  </a:schemeClr>
                </a:solidFill>
                <a:latin typeface="Times New Roman" panose="02020603050405020304" pitchFamily="18" charset="0"/>
                <a:cs typeface="Times New Roman" panose="02020603050405020304" pitchFamily="18" charset="0"/>
              </a:rPr>
              <a:t>Support your organization and share its impacts with the community</a:t>
            </a:r>
          </a:p>
          <a:p>
            <a:pPr algn="ctr"/>
            <a:endParaRPr lang="en-US" sz="20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57976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Rounded Corners 25">
            <a:extLst>
              <a:ext uri="{FF2B5EF4-FFF2-40B4-BE49-F238E27FC236}">
                <a16:creationId xmlns:a16="http://schemas.microsoft.com/office/drawing/2014/main" id="{16546B91-0FEE-43FC-C91C-4A40EC2982C6}"/>
              </a:ext>
            </a:extLst>
          </p:cNvPr>
          <p:cNvSpPr/>
          <p:nvPr/>
        </p:nvSpPr>
        <p:spPr>
          <a:xfrm>
            <a:off x="447675" y="1057275"/>
            <a:ext cx="3067050" cy="541972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Action Button: Go to End 26">
            <a:hlinkClick r:id="" action="ppaction://hlinkshowjump?jump=nextslide" highlightClick="1"/>
            <a:extLst>
              <a:ext uri="{FF2B5EF4-FFF2-40B4-BE49-F238E27FC236}">
                <a16:creationId xmlns:a16="http://schemas.microsoft.com/office/drawing/2014/main" id="{6F479CC5-BB73-A2EF-1E7A-269F58A6F577}"/>
              </a:ext>
            </a:extLst>
          </p:cNvPr>
          <p:cNvSpPr/>
          <p:nvPr/>
        </p:nvSpPr>
        <p:spPr>
          <a:xfrm>
            <a:off x="10832307" y="57340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1614CC6F-7F04-E5EE-2F69-DEE405955431}"/>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MITIGATE BARRIERS / OPTIMIZE DEPLOYMENT</a:t>
            </a:r>
          </a:p>
        </p:txBody>
      </p:sp>
      <p:cxnSp>
        <p:nvCxnSpPr>
          <p:cNvPr id="29" name="Straight Connector 28">
            <a:extLst>
              <a:ext uri="{FF2B5EF4-FFF2-40B4-BE49-F238E27FC236}">
                <a16:creationId xmlns:a16="http://schemas.microsoft.com/office/drawing/2014/main" id="{06559FC3-BA6B-2610-93C8-8F9D6FC1AC9A}"/>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pic>
        <p:nvPicPr>
          <p:cNvPr id="6" name="Picture 5">
            <a:extLst>
              <a:ext uri="{FF2B5EF4-FFF2-40B4-BE49-F238E27FC236}">
                <a16:creationId xmlns:a16="http://schemas.microsoft.com/office/drawing/2014/main" id="{B0EFDB6D-C77B-8B53-109D-BDAA992A14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19575" y="1350496"/>
            <a:ext cx="6869197" cy="4314822"/>
          </a:xfrm>
          <a:prstGeom prst="rect">
            <a:avLst/>
          </a:prstGeom>
        </p:spPr>
      </p:pic>
      <p:sp>
        <p:nvSpPr>
          <p:cNvPr id="7" name="TextBox 6">
            <a:extLst>
              <a:ext uri="{FF2B5EF4-FFF2-40B4-BE49-F238E27FC236}">
                <a16:creationId xmlns:a16="http://schemas.microsoft.com/office/drawing/2014/main" id="{F3E70272-0A38-B89A-77B1-B3AA3CD910B4}"/>
              </a:ext>
            </a:extLst>
          </p:cNvPr>
          <p:cNvSpPr txBox="1"/>
          <p:nvPr/>
        </p:nvSpPr>
        <p:spPr>
          <a:xfrm>
            <a:off x="647701" y="1485900"/>
            <a:ext cx="2695574" cy="4708981"/>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Once the senior team has defined goals and expectations, The WVP employs modeling to determine which combination of scenarios will generate the greatest results.</a:t>
            </a:r>
          </a:p>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And virtualization need to negatively impact culture or team development; it empowers innovation to maintain them.</a:t>
            </a:r>
          </a:p>
        </p:txBody>
      </p:sp>
    </p:spTree>
    <p:extLst>
      <p:ext uri="{BB962C8B-B14F-4D97-AF65-F5344CB8AC3E}">
        <p14:creationId xmlns:p14="http://schemas.microsoft.com/office/powerpoint/2010/main" val="17500661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B3A583CC-701C-4110-B23D-5949CD53FE0A}"/>
              </a:ext>
            </a:extLst>
          </p:cNvPr>
          <p:cNvSpPr/>
          <p:nvPr/>
        </p:nvSpPr>
        <p:spPr>
          <a:xfrm>
            <a:off x="447675" y="1057275"/>
            <a:ext cx="3067050" cy="541972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Action Button: Go to End 6">
            <a:hlinkClick r:id="" action="ppaction://hlinkshowjump?jump=nextslide" highlightClick="1"/>
            <a:extLst>
              <a:ext uri="{FF2B5EF4-FFF2-40B4-BE49-F238E27FC236}">
                <a16:creationId xmlns:a16="http://schemas.microsoft.com/office/drawing/2014/main" id="{8B216934-7A8B-0055-513C-07C7EF84EA14}"/>
              </a:ext>
            </a:extLst>
          </p:cNvPr>
          <p:cNvSpPr/>
          <p:nvPr/>
        </p:nvSpPr>
        <p:spPr>
          <a:xfrm>
            <a:off x="10832307" y="57340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6C757CF-B1A9-4CEF-2534-C301C71E5572}"/>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AND UNDERSTAND YOUR RISK ENVIRONMENT</a:t>
            </a:r>
          </a:p>
        </p:txBody>
      </p:sp>
      <p:cxnSp>
        <p:nvCxnSpPr>
          <p:cNvPr id="9" name="Straight Connector 8">
            <a:extLst>
              <a:ext uri="{FF2B5EF4-FFF2-40B4-BE49-F238E27FC236}">
                <a16:creationId xmlns:a16="http://schemas.microsoft.com/office/drawing/2014/main" id="{D310B097-3D5D-BF89-5BB0-3898C3031965}"/>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pic>
        <p:nvPicPr>
          <p:cNvPr id="15" name="Picture 14">
            <a:extLst>
              <a:ext uri="{FF2B5EF4-FFF2-40B4-BE49-F238E27FC236}">
                <a16:creationId xmlns:a16="http://schemas.microsoft.com/office/drawing/2014/main" id="{0A3D450D-DAC6-3E38-A684-ECAA727D472B}"/>
              </a:ext>
            </a:extLst>
          </p:cNvPr>
          <p:cNvPicPr>
            <a:picLocks noChangeAspect="1"/>
          </p:cNvPicPr>
          <p:nvPr/>
        </p:nvPicPr>
        <p:blipFill>
          <a:blip r:embed="rId2">
            <a:extLst>
              <a:ext uri="{28A0092B-C50C-407E-A947-70E740481C1C}">
                <a14:useLocalDpi xmlns:a14="http://schemas.microsoft.com/office/drawing/2010/main" val="0"/>
              </a:ext>
            </a:extLst>
          </a:blip>
          <a:srcRect l="2761" t="5323" r="1314" b="5948"/>
          <a:stretch/>
        </p:blipFill>
        <p:spPr>
          <a:xfrm>
            <a:off x="4591050" y="1322167"/>
            <a:ext cx="6067426" cy="4213665"/>
          </a:xfrm>
          <a:prstGeom prst="rect">
            <a:avLst/>
          </a:prstGeom>
        </p:spPr>
      </p:pic>
      <p:sp>
        <p:nvSpPr>
          <p:cNvPr id="16" name="TextBox 15">
            <a:extLst>
              <a:ext uri="{FF2B5EF4-FFF2-40B4-BE49-F238E27FC236}">
                <a16:creationId xmlns:a16="http://schemas.microsoft.com/office/drawing/2014/main" id="{AEE83DFE-02D9-F971-9063-3B8A9150E207}"/>
              </a:ext>
            </a:extLst>
          </p:cNvPr>
          <p:cNvSpPr txBox="1"/>
          <p:nvPr/>
        </p:nvSpPr>
        <p:spPr>
          <a:xfrm>
            <a:off x="647701" y="1485900"/>
            <a:ext cx="2695574" cy="4708981"/>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A regional Viability Audit graphically defines which static or dynamic risks would impact your facilities.</a:t>
            </a:r>
          </a:p>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Make sure your continuity workers are outside of the various impact zones plotted around your facilities.  They are no good to you if they are impacted by the same event that impacts your facility.</a:t>
            </a:r>
          </a:p>
        </p:txBody>
      </p:sp>
    </p:spTree>
    <p:extLst>
      <p:ext uri="{BB962C8B-B14F-4D97-AF65-F5344CB8AC3E}">
        <p14:creationId xmlns:p14="http://schemas.microsoft.com/office/powerpoint/2010/main" val="21815485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BDEA21A-B6B2-7325-0C6A-4C1F6D52C8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497948" y="1493383"/>
            <a:ext cx="6978407" cy="3871233"/>
          </a:xfrm>
        </p:spPr>
      </p:pic>
      <p:sp>
        <p:nvSpPr>
          <p:cNvPr id="26" name="Rectangle: Rounded Corners 25">
            <a:extLst>
              <a:ext uri="{FF2B5EF4-FFF2-40B4-BE49-F238E27FC236}">
                <a16:creationId xmlns:a16="http://schemas.microsoft.com/office/drawing/2014/main" id="{16546B91-0FEE-43FC-C91C-4A40EC2982C6}"/>
              </a:ext>
            </a:extLst>
          </p:cNvPr>
          <p:cNvSpPr/>
          <p:nvPr/>
        </p:nvSpPr>
        <p:spPr>
          <a:xfrm>
            <a:off x="447675" y="1057275"/>
            <a:ext cx="3067050" cy="541972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Action Button: Go to End 26">
            <a:hlinkClick r:id="" action="ppaction://hlinkshowjump?jump=nextslide" highlightClick="1"/>
            <a:extLst>
              <a:ext uri="{FF2B5EF4-FFF2-40B4-BE49-F238E27FC236}">
                <a16:creationId xmlns:a16="http://schemas.microsoft.com/office/drawing/2014/main" id="{6F479CC5-BB73-A2EF-1E7A-269F58A6F577}"/>
              </a:ext>
            </a:extLst>
          </p:cNvPr>
          <p:cNvSpPr/>
          <p:nvPr/>
        </p:nvSpPr>
        <p:spPr>
          <a:xfrm>
            <a:off x="10832307" y="57340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1614CC6F-7F04-E5EE-2F69-DEE405955431}"/>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FOCUS ON VIABILITY</a:t>
            </a:r>
          </a:p>
        </p:txBody>
      </p:sp>
      <p:cxnSp>
        <p:nvCxnSpPr>
          <p:cNvPr id="29" name="Straight Connector 28">
            <a:extLst>
              <a:ext uri="{FF2B5EF4-FFF2-40B4-BE49-F238E27FC236}">
                <a16:creationId xmlns:a16="http://schemas.microsoft.com/office/drawing/2014/main" id="{06559FC3-BA6B-2610-93C8-8F9D6FC1AC9A}"/>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2463E1CF-B0AA-0818-23DA-6A4929519CF9}"/>
              </a:ext>
            </a:extLst>
          </p:cNvPr>
          <p:cNvSpPr txBox="1"/>
          <p:nvPr/>
        </p:nvSpPr>
        <p:spPr>
          <a:xfrm>
            <a:off x="647701" y="1485900"/>
            <a:ext cx="2695574" cy="4401205"/>
          </a:xfrm>
          <a:prstGeom prst="rect">
            <a:avLst/>
          </a:prstGeom>
          <a:noFill/>
        </p:spPr>
        <p:txBody>
          <a:bodyPr wrap="square" rtlCol="0">
            <a:spAutoFit/>
          </a:bodyPr>
          <a:lstStyle/>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By deploying employees with specific continuity responsibilities, your Continuity program is tested daily- and a fraction of traditional methods. </a:t>
            </a:r>
          </a:p>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All you have to do is identify “Continuity Roles” to secure your viability.</a:t>
            </a:r>
          </a:p>
        </p:txBody>
      </p:sp>
    </p:spTree>
    <p:extLst>
      <p:ext uri="{BB962C8B-B14F-4D97-AF65-F5344CB8AC3E}">
        <p14:creationId xmlns:p14="http://schemas.microsoft.com/office/powerpoint/2010/main" val="38821986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A13BCE3-5AC4-3190-028C-32DF783675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11839" y="1196707"/>
            <a:ext cx="5980776" cy="4956444"/>
          </a:xfrm>
          <a:prstGeom prst="rect">
            <a:avLst/>
          </a:prstGeom>
        </p:spPr>
      </p:pic>
      <p:sp>
        <p:nvSpPr>
          <p:cNvPr id="5" name="Rectangle: Rounded Corners 4">
            <a:extLst>
              <a:ext uri="{FF2B5EF4-FFF2-40B4-BE49-F238E27FC236}">
                <a16:creationId xmlns:a16="http://schemas.microsoft.com/office/drawing/2014/main" id="{FE8A3833-1A4E-858E-548C-F2D408D3A99C}"/>
              </a:ext>
            </a:extLst>
          </p:cNvPr>
          <p:cNvSpPr/>
          <p:nvPr/>
        </p:nvSpPr>
        <p:spPr>
          <a:xfrm>
            <a:off x="447675" y="1057275"/>
            <a:ext cx="3067050" cy="541972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Action Button: Go to End 5">
            <a:hlinkClick r:id="" action="ppaction://hlinkshowjump?jump=nextslide" highlightClick="1"/>
            <a:extLst>
              <a:ext uri="{FF2B5EF4-FFF2-40B4-BE49-F238E27FC236}">
                <a16:creationId xmlns:a16="http://schemas.microsoft.com/office/drawing/2014/main" id="{DEC0912A-E754-1794-768C-291856E833AB}"/>
              </a:ext>
            </a:extLst>
          </p:cNvPr>
          <p:cNvSpPr/>
          <p:nvPr/>
        </p:nvSpPr>
        <p:spPr>
          <a:xfrm>
            <a:off x="10832307" y="57340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808B0C6B-DB7D-46EB-8737-3BDEE04422C1}"/>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USE A CRITICAL PATH FOR ACCOUNTABILITY</a:t>
            </a:r>
          </a:p>
        </p:txBody>
      </p:sp>
      <p:cxnSp>
        <p:nvCxnSpPr>
          <p:cNvPr id="8" name="Straight Connector 7">
            <a:extLst>
              <a:ext uri="{FF2B5EF4-FFF2-40B4-BE49-F238E27FC236}">
                <a16:creationId xmlns:a16="http://schemas.microsoft.com/office/drawing/2014/main" id="{57AC360B-ADDB-6984-CAAE-0A9EF4DE7DDC}"/>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8CF7C58-A2F0-E69E-9F02-47F7B0DADEA8}"/>
              </a:ext>
            </a:extLst>
          </p:cNvPr>
          <p:cNvSpPr txBox="1"/>
          <p:nvPr/>
        </p:nvSpPr>
        <p:spPr>
          <a:xfrm>
            <a:off x="647701" y="1485900"/>
            <a:ext cx="2695574" cy="3477875"/>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The WVP employs a database menu system. This allows every phase of the program to be tracked by the Deployment Team. </a:t>
            </a:r>
          </a:p>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 Additional resources are applied when necessary to get back on schedule</a:t>
            </a:r>
          </a:p>
        </p:txBody>
      </p:sp>
    </p:spTree>
    <p:extLst>
      <p:ext uri="{BB962C8B-B14F-4D97-AF65-F5344CB8AC3E}">
        <p14:creationId xmlns:p14="http://schemas.microsoft.com/office/powerpoint/2010/main" val="2782566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B49031B-64DC-C7B9-30EF-D8A8B9242B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74164" y="1257299"/>
            <a:ext cx="6366076" cy="4700905"/>
          </a:xfrm>
          <a:prstGeom prst="rect">
            <a:avLst/>
          </a:prstGeom>
        </p:spPr>
      </p:pic>
      <p:sp>
        <p:nvSpPr>
          <p:cNvPr id="5" name="Rectangle: Rounded Corners 4">
            <a:extLst>
              <a:ext uri="{FF2B5EF4-FFF2-40B4-BE49-F238E27FC236}">
                <a16:creationId xmlns:a16="http://schemas.microsoft.com/office/drawing/2014/main" id="{A4CED6E2-1272-9992-046E-026A24C18BCC}"/>
              </a:ext>
            </a:extLst>
          </p:cNvPr>
          <p:cNvSpPr/>
          <p:nvPr/>
        </p:nvSpPr>
        <p:spPr>
          <a:xfrm>
            <a:off x="447675" y="1057275"/>
            <a:ext cx="3067050" cy="541972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Action Button: Go to End 5">
            <a:hlinkClick r:id="" action="ppaction://hlinkshowjump?jump=nextslide" highlightClick="1"/>
            <a:extLst>
              <a:ext uri="{FF2B5EF4-FFF2-40B4-BE49-F238E27FC236}">
                <a16:creationId xmlns:a16="http://schemas.microsoft.com/office/drawing/2014/main" id="{A04EC1E0-193A-2EE5-3821-9829354B606C}"/>
              </a:ext>
            </a:extLst>
          </p:cNvPr>
          <p:cNvSpPr/>
          <p:nvPr/>
        </p:nvSpPr>
        <p:spPr>
          <a:xfrm>
            <a:off x="10832307" y="5734050"/>
            <a:ext cx="912018" cy="742950"/>
          </a:xfrm>
          <a:prstGeom prst="actionButtonEnd">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BF912135-F7C2-A011-811B-6FAB0821EE03}"/>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METRICS Are the Key to Plan Success</a:t>
            </a:r>
          </a:p>
        </p:txBody>
      </p:sp>
      <p:cxnSp>
        <p:nvCxnSpPr>
          <p:cNvPr id="8" name="Straight Connector 7">
            <a:extLst>
              <a:ext uri="{FF2B5EF4-FFF2-40B4-BE49-F238E27FC236}">
                <a16:creationId xmlns:a16="http://schemas.microsoft.com/office/drawing/2014/main" id="{23F8076D-77BB-2410-1889-993E66FECAA3}"/>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6E92AC63-B277-FD73-48C2-AC16815655B1}"/>
              </a:ext>
            </a:extLst>
          </p:cNvPr>
          <p:cNvSpPr txBox="1"/>
          <p:nvPr/>
        </p:nvSpPr>
        <p:spPr>
          <a:xfrm>
            <a:off x="647701" y="1485900"/>
            <a:ext cx="2695574" cy="4093428"/>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The Deployment Plan integrates the needs of all departments. It  coordinates specific targets for each.</a:t>
            </a:r>
          </a:p>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Statistics are embedded throughout the system to ensure it remains on a “critical path” to ensure the goals are achieved by the end of the five-year program.</a:t>
            </a:r>
          </a:p>
        </p:txBody>
      </p:sp>
    </p:spTree>
    <p:extLst>
      <p:ext uri="{BB962C8B-B14F-4D97-AF65-F5344CB8AC3E}">
        <p14:creationId xmlns:p14="http://schemas.microsoft.com/office/powerpoint/2010/main" val="32609799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870B67F-04FF-90DC-9745-EA6ABCB181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12681" y="1314450"/>
            <a:ext cx="7503941" cy="4229100"/>
          </a:xfrm>
          <a:prstGeom prst="rect">
            <a:avLst/>
          </a:prstGeom>
        </p:spPr>
      </p:pic>
      <p:sp>
        <p:nvSpPr>
          <p:cNvPr id="5" name="Rectangle: Rounded Corners 4">
            <a:extLst>
              <a:ext uri="{FF2B5EF4-FFF2-40B4-BE49-F238E27FC236}">
                <a16:creationId xmlns:a16="http://schemas.microsoft.com/office/drawing/2014/main" id="{08D258DD-AAEF-1B89-9CBE-A459AAC306A6}"/>
              </a:ext>
            </a:extLst>
          </p:cNvPr>
          <p:cNvSpPr/>
          <p:nvPr/>
        </p:nvSpPr>
        <p:spPr>
          <a:xfrm>
            <a:off x="447675" y="1057275"/>
            <a:ext cx="3067050" cy="5419725"/>
          </a:xfrm>
          <a:prstGeom prst="round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Action Button: Go Home 6">
            <a:hlinkClick r:id="" action="ppaction://hlinkshowjump?jump=firstslide" highlightClick="1"/>
            <a:extLst>
              <a:ext uri="{FF2B5EF4-FFF2-40B4-BE49-F238E27FC236}">
                <a16:creationId xmlns:a16="http://schemas.microsoft.com/office/drawing/2014/main" id="{660BF9AF-3727-890B-29A7-5FB0CF34B638}"/>
              </a:ext>
            </a:extLst>
          </p:cNvPr>
          <p:cNvSpPr/>
          <p:nvPr/>
        </p:nvSpPr>
        <p:spPr>
          <a:xfrm>
            <a:off x="10696575" y="5686425"/>
            <a:ext cx="914400" cy="790575"/>
          </a:xfrm>
          <a:prstGeom prst="actionButtonHome">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1CF52DF0-D5C2-560D-B759-F4B4C00126AA}"/>
              </a:ext>
            </a:extLst>
          </p:cNvPr>
          <p:cNvSpPr txBox="1"/>
          <p:nvPr/>
        </p:nvSpPr>
        <p:spPr>
          <a:xfrm>
            <a:off x="0" y="57834"/>
            <a:ext cx="12192000" cy="646331"/>
          </a:xfrm>
          <a:prstGeom prst="rect">
            <a:avLst/>
          </a:prstGeom>
          <a:noFill/>
        </p:spPr>
        <p:txBody>
          <a:bodyPr wrap="square" rtlCol="0">
            <a:spAutoFit/>
          </a:bodyPr>
          <a:lstStyle/>
          <a:p>
            <a:pPr algn="ctr"/>
            <a:r>
              <a:rPr lang="en-US" sz="3600" b="1" dirty="0">
                <a:solidFill>
                  <a:schemeClr val="bg1"/>
                </a:solidFill>
                <a:latin typeface="Times New Roman" panose="02020603050405020304" pitchFamily="18" charset="0"/>
                <a:cs typeface="Times New Roman" panose="02020603050405020304" pitchFamily="18" charset="0"/>
              </a:rPr>
              <a:t>USE THE NATIONAL RESEARCH BASE TO ENHANCE</a:t>
            </a:r>
          </a:p>
        </p:txBody>
      </p:sp>
      <p:cxnSp>
        <p:nvCxnSpPr>
          <p:cNvPr id="9" name="Straight Connector 8">
            <a:extLst>
              <a:ext uri="{FF2B5EF4-FFF2-40B4-BE49-F238E27FC236}">
                <a16:creationId xmlns:a16="http://schemas.microsoft.com/office/drawing/2014/main" id="{05922C9C-E95C-9388-FE7C-F26E50697D7F}"/>
              </a:ext>
            </a:extLst>
          </p:cNvPr>
          <p:cNvCxnSpPr>
            <a:cxnSpLocks/>
          </p:cNvCxnSpPr>
          <p:nvPr/>
        </p:nvCxnSpPr>
        <p:spPr>
          <a:xfrm>
            <a:off x="0" y="704165"/>
            <a:ext cx="12192000"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9B38D3F9-2204-BF76-6C5F-F9B6016F5F9D}"/>
              </a:ext>
            </a:extLst>
          </p:cNvPr>
          <p:cNvSpPr txBox="1"/>
          <p:nvPr/>
        </p:nvSpPr>
        <p:spPr>
          <a:xfrm>
            <a:off x="600075" y="1485900"/>
            <a:ext cx="2743200" cy="4708981"/>
          </a:xfrm>
          <a:prstGeom prst="rect">
            <a:avLst/>
          </a:prstGeom>
          <a:noFill/>
        </p:spPr>
        <p:txBody>
          <a:bodyPr wrap="square" rtlCol="0">
            <a:spAutoFit/>
          </a:bodyPr>
          <a:lstStyle/>
          <a:p>
            <a:pPr algn="ctr"/>
            <a:r>
              <a:rPr lang="en-US" sz="2000" dirty="0">
                <a:solidFill>
                  <a:schemeClr val="bg1"/>
                </a:solidFill>
                <a:latin typeface="Times New Roman" panose="02020603050405020304" pitchFamily="18" charset="0"/>
                <a:cs typeface="Times New Roman" panose="02020603050405020304" pitchFamily="18" charset="0"/>
              </a:rPr>
              <a:t>After 50 years, the ad hoc approach remains unable to provide meaningful statistics on how to deploy remote workers.</a:t>
            </a:r>
          </a:p>
          <a:p>
            <a:pPr algn="ctr"/>
            <a:endParaRPr lang="en-US" sz="2000" dirty="0">
              <a:solidFill>
                <a:schemeClr val="bg1"/>
              </a:solidFill>
              <a:latin typeface="Times New Roman" panose="02020603050405020304" pitchFamily="18" charset="0"/>
              <a:cs typeface="Times New Roman" panose="02020603050405020304" pitchFamily="18" charset="0"/>
            </a:endParaRPr>
          </a:p>
          <a:p>
            <a:pPr algn="ctr"/>
            <a:r>
              <a:rPr lang="en-US" sz="2000" dirty="0">
                <a:solidFill>
                  <a:schemeClr val="bg1"/>
                </a:solidFill>
                <a:latin typeface="Times New Roman" panose="02020603050405020304" pitchFamily="18" charset="0"/>
                <a:cs typeface="Times New Roman" panose="02020603050405020304" pitchFamily="18" charset="0"/>
              </a:rPr>
              <a:t>Because the WVP has been designed to customize the plan but maintain the structure, it can provide client’s operational and policy statistics for many topic areas.</a:t>
            </a:r>
          </a:p>
        </p:txBody>
      </p:sp>
    </p:spTree>
    <p:extLst>
      <p:ext uri="{BB962C8B-B14F-4D97-AF65-F5344CB8AC3E}">
        <p14:creationId xmlns:p14="http://schemas.microsoft.com/office/powerpoint/2010/main" val="37510340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95250" y="257176"/>
            <a:ext cx="12191999" cy="5509200"/>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WORKFORCE VIRTUALIZATION PROGRAM</a:t>
            </a:r>
          </a:p>
          <a:p>
            <a:pPr algn="ctr"/>
            <a:r>
              <a:rPr lang="en-US" sz="8800" dirty="0">
                <a:solidFill>
                  <a:schemeClr val="bg1"/>
                </a:solidFill>
                <a:latin typeface="Times New Roman" panose="02020603050405020304" pitchFamily="18" charset="0"/>
                <a:cs typeface="Times New Roman" panose="02020603050405020304" pitchFamily="18" charset="0"/>
              </a:rPr>
              <a:t>Q &amp; A</a:t>
            </a:r>
          </a:p>
        </p:txBody>
      </p:sp>
    </p:spTree>
    <p:extLst>
      <p:ext uri="{BB962C8B-B14F-4D97-AF65-F5344CB8AC3E}">
        <p14:creationId xmlns:p14="http://schemas.microsoft.com/office/powerpoint/2010/main" val="1740813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0" y="542926"/>
            <a:ext cx="12192000" cy="769441"/>
          </a:xfrm>
          <a:prstGeom prst="rect">
            <a:avLst/>
          </a:prstGeom>
          <a:noFill/>
        </p:spPr>
        <p:txBody>
          <a:bodyPr wrap="square" rtlCol="0">
            <a:spAutoFit/>
          </a:bodyPr>
          <a:lstStyle/>
          <a:p>
            <a:pPr algn="ctr"/>
            <a:r>
              <a:rPr lang="en-US" sz="4400" b="1" dirty="0">
                <a:solidFill>
                  <a:schemeClr val="bg1"/>
                </a:solidFill>
                <a:latin typeface="Times New Roman" panose="02020603050405020304" pitchFamily="18" charset="0"/>
                <a:cs typeface="Times New Roman" panose="02020603050405020304" pitchFamily="18" charset="0"/>
              </a:rPr>
              <a:t>WHITE PAPERS</a:t>
            </a:r>
          </a:p>
        </p:txBody>
      </p:sp>
      <p:pic>
        <p:nvPicPr>
          <p:cNvPr id="3" name="Picture 2">
            <a:extLst>
              <a:ext uri="{FF2B5EF4-FFF2-40B4-BE49-F238E27FC236}">
                <a16:creationId xmlns:a16="http://schemas.microsoft.com/office/drawing/2014/main" id="{32B64A11-C38F-4335-1C35-0394748119AB}"/>
              </a:ext>
            </a:extLst>
          </p:cNvPr>
          <p:cNvPicPr>
            <a:picLocks noChangeAspect="1"/>
          </p:cNvPicPr>
          <p:nvPr/>
        </p:nvPicPr>
        <p:blipFill>
          <a:blip r:embed="rId2"/>
          <a:srcRect r="42255" b="52740"/>
          <a:stretch/>
        </p:blipFill>
        <p:spPr>
          <a:xfrm>
            <a:off x="376952" y="1343285"/>
            <a:ext cx="11040614" cy="3295390"/>
          </a:xfrm>
          <a:prstGeom prst="rect">
            <a:avLst/>
          </a:prstGeom>
        </p:spPr>
      </p:pic>
    </p:spTree>
    <p:extLst>
      <p:ext uri="{BB962C8B-B14F-4D97-AF65-F5344CB8AC3E}">
        <p14:creationId xmlns:p14="http://schemas.microsoft.com/office/powerpoint/2010/main" val="10481161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2533650" y="971551"/>
            <a:ext cx="7124700" cy="4154984"/>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LOAD THE LENS</a:t>
            </a:r>
          </a:p>
          <a:p>
            <a:pPr algn="ctr"/>
            <a:r>
              <a:rPr lang="en-US" sz="8800" dirty="0">
                <a:solidFill>
                  <a:schemeClr val="bg1"/>
                </a:solidFill>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24000455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2533650" y="971551"/>
            <a:ext cx="7124700" cy="4154984"/>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The </a:t>
            </a:r>
          </a:p>
          <a:p>
            <a:pPr algn="ctr"/>
            <a:r>
              <a:rPr lang="en-US" sz="8800" dirty="0">
                <a:solidFill>
                  <a:schemeClr val="bg1"/>
                </a:solidFill>
                <a:latin typeface="Times New Roman" panose="02020603050405020304" pitchFamily="18" charset="0"/>
                <a:cs typeface="Times New Roman" panose="02020603050405020304" pitchFamily="18" charset="0"/>
              </a:rPr>
              <a:t>Lens</a:t>
            </a:r>
          </a:p>
          <a:p>
            <a:pPr algn="ctr"/>
            <a:r>
              <a:rPr lang="en-US" sz="8800" dirty="0">
                <a:solidFill>
                  <a:schemeClr val="bg1"/>
                </a:solidFill>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24041391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752474" y="885825"/>
            <a:ext cx="10067925" cy="4031873"/>
          </a:xfrm>
          <a:prstGeom prst="rect">
            <a:avLst/>
          </a:prstGeom>
          <a:noFill/>
        </p:spPr>
        <p:txBody>
          <a:bodyPr wrap="square" rtlCol="0">
            <a:spAutoFit/>
          </a:bodyPr>
          <a:lstStyle/>
          <a:p>
            <a:pPr marL="342900"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Open with Brainerd</a:t>
            </a:r>
          </a:p>
          <a:p>
            <a:pPr marL="342900"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Illustrate examples of apps on the three Menus</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TeleCenter- </a:t>
            </a:r>
            <a:r>
              <a:rPr lang="en-US" sz="1600" dirty="0">
                <a:solidFill>
                  <a:srgbClr val="FFFF00"/>
                </a:solidFill>
                <a:latin typeface="Times New Roman" panose="02020603050405020304" pitchFamily="18" charset="0"/>
                <a:cs typeface="Times New Roman" panose="02020603050405020304" pitchFamily="18" charset="0"/>
              </a:rPr>
              <a:t>Abin Report???</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Directory-  Restaurants</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Engagement-</a:t>
            </a:r>
            <a:r>
              <a:rPr lang="en-US" sz="1600" dirty="0">
                <a:solidFill>
                  <a:srgbClr val="FFFF00"/>
                </a:solidFill>
                <a:latin typeface="Times New Roman" panose="02020603050405020304" pitchFamily="18" charset="0"/>
                <a:cs typeface="Times New Roman" panose="02020603050405020304" pitchFamily="18" charset="0"/>
              </a:rPr>
              <a:t> Contributions/Vision/Sports???</a:t>
            </a:r>
          </a:p>
          <a:p>
            <a:pPr marL="342900"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Review “View our Neighborhood”  clean up 3 zips </a:t>
            </a:r>
          </a:p>
          <a:p>
            <a:pPr marL="342900"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Demonstrate Pop change </a:t>
            </a:r>
            <a:r>
              <a:rPr lang="en-US" sz="1600" dirty="0">
                <a:solidFill>
                  <a:srgbClr val="FFFF00"/>
                </a:solidFill>
                <a:latin typeface="Times New Roman" panose="02020603050405020304" pitchFamily="18" charset="0"/>
                <a:cs typeface="Times New Roman" panose="02020603050405020304" pitchFamily="18" charset="0"/>
              </a:rPr>
              <a:t>(or maybe the 6 indicator views)</a:t>
            </a:r>
          </a:p>
          <a:p>
            <a:pPr marL="342900"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Access Neighborhood Page</a:t>
            </a:r>
          </a:p>
          <a:p>
            <a:pPr marL="342900"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Back to Home Page    </a:t>
            </a:r>
            <a:r>
              <a:rPr lang="en-US" sz="1600" dirty="0">
                <a:solidFill>
                  <a:srgbClr val="FFFF00"/>
                </a:solidFill>
                <a:latin typeface="Times New Roman" panose="02020603050405020304" pitchFamily="18" charset="0"/>
                <a:cs typeface="Times New Roman" panose="02020603050405020304" pitchFamily="18" charset="0"/>
              </a:rPr>
              <a:t>wrong- s/b Brainerd not IAC Home Page</a:t>
            </a:r>
          </a:p>
          <a:p>
            <a:pPr marL="342900"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Review Our Profile   </a:t>
            </a:r>
            <a:r>
              <a:rPr lang="en-US" sz="1600" dirty="0">
                <a:solidFill>
                  <a:srgbClr val="FFFF00"/>
                </a:solidFill>
                <a:highlight>
                  <a:srgbClr val="000000"/>
                </a:highlight>
                <a:latin typeface="Times New Roman" panose="02020603050405020304" pitchFamily="18" charset="0"/>
                <a:cs typeface="Times New Roman" panose="02020603050405020304" pitchFamily="18" charset="0"/>
              </a:rPr>
              <a:t>Add more tables</a:t>
            </a:r>
          </a:p>
          <a:p>
            <a:pPr marL="342900" indent="-342900">
              <a:buFont typeface="Arial" panose="020B0604020202020204" pitchFamily="34" charset="0"/>
              <a:buChar char="•"/>
            </a:pPr>
            <a:r>
              <a:rPr lang="en-US" sz="1600" dirty="0">
                <a:solidFill>
                  <a:schemeClr val="bg1"/>
                </a:solidFill>
                <a:highlight>
                  <a:srgbClr val="000000"/>
                </a:highlight>
                <a:latin typeface="Times New Roman" panose="02020603050405020304" pitchFamily="18" charset="0"/>
                <a:cs typeface="Times New Roman" panose="02020603050405020304" pitchFamily="18" charset="0"/>
              </a:rPr>
              <a:t>Community Map--- head to Marshall </a:t>
            </a:r>
            <a:r>
              <a:rPr lang="en-US" sz="1600" dirty="0">
                <a:solidFill>
                  <a:srgbClr val="FFFF00"/>
                </a:solidFill>
                <a:highlight>
                  <a:srgbClr val="000000"/>
                </a:highlight>
                <a:latin typeface="Times New Roman" panose="02020603050405020304" pitchFamily="18" charset="0"/>
                <a:cs typeface="Times New Roman" panose="02020603050405020304" pitchFamily="18" charset="0"/>
              </a:rPr>
              <a:t>verify Zip orientation on all 5</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Brainerd</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St Cloud</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Willmar</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Redwood Falls</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Marshall</a:t>
            </a:r>
          </a:p>
        </p:txBody>
      </p:sp>
    </p:spTree>
    <p:extLst>
      <p:ext uri="{BB962C8B-B14F-4D97-AF65-F5344CB8AC3E}">
        <p14:creationId xmlns:p14="http://schemas.microsoft.com/office/powerpoint/2010/main" val="25753164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2343151" y="1200151"/>
            <a:ext cx="7124700" cy="4154984"/>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Lens</a:t>
            </a:r>
          </a:p>
          <a:p>
            <a:pPr algn="ctr"/>
            <a:r>
              <a:rPr lang="en-US" sz="8800" dirty="0">
                <a:solidFill>
                  <a:schemeClr val="bg1"/>
                </a:solidFill>
                <a:latin typeface="Times New Roman" panose="02020603050405020304" pitchFamily="18" charset="0"/>
                <a:cs typeface="Times New Roman" panose="02020603050405020304" pitchFamily="18" charset="0"/>
              </a:rPr>
              <a:t> </a:t>
            </a:r>
          </a:p>
          <a:p>
            <a:pPr algn="ctr"/>
            <a:r>
              <a:rPr lang="en-US" sz="8800" dirty="0">
                <a:solidFill>
                  <a:schemeClr val="bg1"/>
                </a:solidFill>
                <a:latin typeface="Times New Roman" panose="02020603050405020304" pitchFamily="18" charset="0"/>
                <a:cs typeface="Times New Roman" panose="02020603050405020304" pitchFamily="18" charset="0"/>
              </a:rPr>
              <a:t>Q&amp;A </a:t>
            </a:r>
          </a:p>
        </p:txBody>
      </p:sp>
    </p:spTree>
    <p:extLst>
      <p:ext uri="{BB962C8B-B14F-4D97-AF65-F5344CB8AC3E}">
        <p14:creationId xmlns:p14="http://schemas.microsoft.com/office/powerpoint/2010/main" val="1418177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657225" y="674400"/>
            <a:ext cx="10382250" cy="4154984"/>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The </a:t>
            </a:r>
          </a:p>
          <a:p>
            <a:pPr algn="ctr"/>
            <a:r>
              <a:rPr lang="en-US" sz="8800" dirty="0">
                <a:solidFill>
                  <a:schemeClr val="bg1"/>
                </a:solidFill>
                <a:latin typeface="Times New Roman" panose="02020603050405020304" pitchFamily="18" charset="0"/>
                <a:cs typeface="Times New Roman" panose="02020603050405020304" pitchFamily="18" charset="0"/>
              </a:rPr>
              <a:t>Information Age Community </a:t>
            </a:r>
          </a:p>
        </p:txBody>
      </p:sp>
    </p:spTree>
    <p:extLst>
      <p:ext uri="{BB962C8B-B14F-4D97-AF65-F5344CB8AC3E}">
        <p14:creationId xmlns:p14="http://schemas.microsoft.com/office/powerpoint/2010/main" val="28427911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828674" y="1028700"/>
            <a:ext cx="10067925" cy="1569660"/>
          </a:xfrm>
          <a:prstGeom prst="rect">
            <a:avLst/>
          </a:prstGeom>
          <a:noFill/>
        </p:spPr>
        <p:txBody>
          <a:bodyPr wrap="square" rtlCol="0">
            <a:spAutoFit/>
          </a:bodyPr>
          <a:lstStyle/>
          <a:p>
            <a:pPr marL="342900"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Back to Home Page</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IAC Principles </a:t>
            </a:r>
            <a:r>
              <a:rPr lang="en-US" sz="1600" dirty="0">
                <a:solidFill>
                  <a:srgbClr val="FFFF00"/>
                </a:solidFill>
                <a:latin typeface="Times New Roman" panose="02020603050405020304" pitchFamily="18" charset="0"/>
                <a:cs typeface="Times New Roman" panose="02020603050405020304" pitchFamily="18" charset="0"/>
              </a:rPr>
              <a:t>Nav to LRt; Logo from Community Page; Centroid City  -- Global Service Center</a:t>
            </a:r>
          </a:p>
          <a:p>
            <a:pPr marL="800100" lvl="1" indent="-342900">
              <a:buFont typeface="Arial" panose="020B0604020202020204" pitchFamily="34" charset="0"/>
              <a:buChar char="•"/>
            </a:pPr>
            <a:r>
              <a:rPr lang="en-US" sz="1600" dirty="0">
                <a:solidFill>
                  <a:srgbClr val="FFFF00"/>
                </a:solidFill>
                <a:latin typeface="Times New Roman" panose="02020603050405020304" pitchFamily="18" charset="0"/>
                <a:cs typeface="Times New Roman" panose="02020603050405020304" pitchFamily="18" charset="0"/>
              </a:rPr>
              <a:t>Governance</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Find Your Community</a:t>
            </a:r>
          </a:p>
          <a:p>
            <a:pPr marL="800100" lvl="1" indent="-342900">
              <a:buFont typeface="Arial" panose="020B0604020202020204" pitchFamily="34" charset="0"/>
              <a:buChar char="•"/>
            </a:pPr>
            <a:r>
              <a:rPr lang="en-US" sz="1600" dirty="0">
                <a:solidFill>
                  <a:schemeClr val="bg1"/>
                </a:solidFill>
                <a:latin typeface="Times New Roman" panose="02020603050405020304" pitchFamily="18" charset="0"/>
                <a:cs typeface="Times New Roman" panose="02020603050405020304" pitchFamily="18" charset="0"/>
              </a:rPr>
              <a:t>Brainerd</a:t>
            </a:r>
          </a:p>
          <a:p>
            <a:r>
              <a:rPr lang="en-US" sz="1600" dirty="0">
                <a:solidFill>
                  <a:srgbClr val="FFFF00"/>
                </a:solidFill>
                <a:latin typeface="Times New Roman" panose="02020603050405020304" pitchFamily="18" charset="0"/>
                <a:cs typeface="Times New Roman" panose="02020603050405020304" pitchFamily="18" charset="0"/>
              </a:rPr>
              <a:t>Investigate Service Center Map????</a:t>
            </a:r>
          </a:p>
        </p:txBody>
      </p:sp>
    </p:spTree>
    <p:extLst>
      <p:ext uri="{BB962C8B-B14F-4D97-AF65-F5344CB8AC3E}">
        <p14:creationId xmlns:p14="http://schemas.microsoft.com/office/powerpoint/2010/main" val="171148008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657225" y="674400"/>
            <a:ext cx="10382250" cy="6124754"/>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Information Age Community </a:t>
            </a:r>
          </a:p>
          <a:p>
            <a:pPr algn="ctr"/>
            <a:endParaRPr lang="en-US" sz="4000" dirty="0">
              <a:solidFill>
                <a:schemeClr val="bg1"/>
              </a:solidFill>
              <a:latin typeface="Times New Roman" panose="02020603050405020304" pitchFamily="18" charset="0"/>
              <a:cs typeface="Times New Roman" panose="02020603050405020304" pitchFamily="18" charset="0"/>
            </a:endParaRPr>
          </a:p>
          <a:p>
            <a:pPr algn="ctr"/>
            <a:r>
              <a:rPr lang="en-US" sz="8800" dirty="0">
                <a:solidFill>
                  <a:schemeClr val="bg1"/>
                </a:solidFill>
                <a:latin typeface="Times New Roman" panose="02020603050405020304" pitchFamily="18" charset="0"/>
                <a:cs typeface="Times New Roman" panose="02020603050405020304" pitchFamily="18" charset="0"/>
              </a:rPr>
              <a:t>Q &amp; A</a:t>
            </a:r>
          </a:p>
          <a:p>
            <a:pPr algn="ctr"/>
            <a:endParaRPr lang="en-US" sz="88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700346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112EE4F-C24B-3468-127F-53429AB7D326}"/>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18C2D6A-9187-F072-B71A-9B93E424D9B0}"/>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TextBox 7">
            <a:extLst>
              <a:ext uri="{FF2B5EF4-FFF2-40B4-BE49-F238E27FC236}">
                <a16:creationId xmlns:a16="http://schemas.microsoft.com/office/drawing/2014/main" id="{425D7C1E-2B7D-A1C3-C473-31B5C59CAD1E}"/>
              </a:ext>
            </a:extLst>
          </p:cNvPr>
          <p:cNvSpPr txBox="1"/>
          <p:nvPr/>
        </p:nvSpPr>
        <p:spPr>
          <a:xfrm>
            <a:off x="590550" y="1799600"/>
            <a:ext cx="10382250" cy="2800767"/>
          </a:xfrm>
          <a:prstGeom prst="rect">
            <a:avLst/>
          </a:prstGeom>
          <a:noFill/>
        </p:spPr>
        <p:txBody>
          <a:bodyPr wrap="square" rtlCol="0">
            <a:spAutoFit/>
          </a:bodyPr>
          <a:lstStyle/>
          <a:p>
            <a:pPr algn="ctr"/>
            <a:r>
              <a:rPr lang="en-US" sz="8800" dirty="0">
                <a:solidFill>
                  <a:schemeClr val="bg1"/>
                </a:solidFill>
                <a:latin typeface="Times New Roman" panose="02020603050405020304" pitchFamily="18" charset="0"/>
                <a:cs typeface="Times New Roman" panose="02020603050405020304" pitchFamily="18" charset="0"/>
              </a:rPr>
              <a:t>THE ASK?</a:t>
            </a:r>
          </a:p>
          <a:p>
            <a:pPr algn="ctr"/>
            <a:endParaRPr lang="en-US" sz="88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0368355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3D5289A-93D3-2CBC-BE27-0D31E5FF6C8F}"/>
              </a:ext>
            </a:extLst>
          </p:cNvPr>
          <p:cNvSpPr txBox="1"/>
          <p:nvPr/>
        </p:nvSpPr>
        <p:spPr>
          <a:xfrm>
            <a:off x="7356143" y="4830605"/>
            <a:ext cx="2743200"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Media</a:t>
            </a:r>
          </a:p>
        </p:txBody>
      </p:sp>
      <p:grpSp>
        <p:nvGrpSpPr>
          <p:cNvPr id="27" name="Group 26">
            <a:extLst>
              <a:ext uri="{FF2B5EF4-FFF2-40B4-BE49-F238E27FC236}">
                <a16:creationId xmlns:a16="http://schemas.microsoft.com/office/drawing/2014/main" id="{B51D3155-8B60-C83E-257C-06B38A1D1A8D}"/>
              </a:ext>
            </a:extLst>
          </p:cNvPr>
          <p:cNvGrpSpPr/>
          <p:nvPr/>
        </p:nvGrpSpPr>
        <p:grpSpPr>
          <a:xfrm>
            <a:off x="2158889" y="1132260"/>
            <a:ext cx="7697068" cy="5241509"/>
            <a:chOff x="2158889" y="1132260"/>
            <a:chExt cx="7697068" cy="5241509"/>
          </a:xfrm>
        </p:grpSpPr>
        <p:sp>
          <p:nvSpPr>
            <p:cNvPr id="4" name="Oval 3">
              <a:extLst>
                <a:ext uri="{FF2B5EF4-FFF2-40B4-BE49-F238E27FC236}">
                  <a16:creationId xmlns:a16="http://schemas.microsoft.com/office/drawing/2014/main" id="{E2160C74-A1C1-A5E0-72E2-76F6DB133866}"/>
                </a:ext>
              </a:extLst>
            </p:cNvPr>
            <p:cNvSpPr/>
            <p:nvPr/>
          </p:nvSpPr>
          <p:spPr>
            <a:xfrm>
              <a:off x="4708478" y="2825087"/>
              <a:ext cx="2183641" cy="2183641"/>
            </a:xfrm>
            <a:prstGeom prst="ellipse">
              <a:avLst/>
            </a:prstGeom>
            <a:solidFill>
              <a:srgbClr val="0070C0"/>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solidFill>
                  <a:latin typeface="Times New Roman" panose="02020603050405020304" pitchFamily="18" charset="0"/>
                  <a:cs typeface="Times New Roman" panose="02020603050405020304" pitchFamily="18" charset="0"/>
                </a:rPr>
                <a:t>THE IAC RESIDENT</a:t>
              </a:r>
            </a:p>
          </p:txBody>
        </p:sp>
        <p:sp>
          <p:nvSpPr>
            <p:cNvPr id="5" name="TextBox 4">
              <a:extLst>
                <a:ext uri="{FF2B5EF4-FFF2-40B4-BE49-F238E27FC236}">
                  <a16:creationId xmlns:a16="http://schemas.microsoft.com/office/drawing/2014/main" id="{768B7FE9-AAEB-458C-7A3D-B89958ACA3DC}"/>
                </a:ext>
              </a:extLst>
            </p:cNvPr>
            <p:cNvSpPr txBox="1"/>
            <p:nvPr/>
          </p:nvSpPr>
          <p:spPr>
            <a:xfrm>
              <a:off x="2969321" y="4830605"/>
              <a:ext cx="2743200"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Forums</a:t>
              </a:r>
            </a:p>
          </p:txBody>
        </p:sp>
        <p:sp>
          <p:nvSpPr>
            <p:cNvPr id="6" name="TextBox 5">
              <a:extLst>
                <a:ext uri="{FF2B5EF4-FFF2-40B4-BE49-F238E27FC236}">
                  <a16:creationId xmlns:a16="http://schemas.microsoft.com/office/drawing/2014/main" id="{7CDA8E59-E03D-383E-E330-825C0176C962}"/>
                </a:ext>
              </a:extLst>
            </p:cNvPr>
            <p:cNvSpPr txBox="1"/>
            <p:nvPr/>
          </p:nvSpPr>
          <p:spPr>
            <a:xfrm>
              <a:off x="4428698" y="1132260"/>
              <a:ext cx="2743200" cy="954107"/>
            </a:xfrm>
            <a:prstGeom prst="rect">
              <a:avLst/>
            </a:prstGeom>
            <a:noFill/>
            <a:ln>
              <a:noFill/>
            </a:ln>
          </p:spPr>
          <p:txBody>
            <a:bodyPr wrap="square" rtlCol="0">
              <a:spAutoFit/>
            </a:bodyPr>
            <a:lstStyle/>
            <a:p>
              <a:pPr algn="ctr"/>
              <a:r>
                <a:rPr lang="en-US" sz="2800" b="1" dirty="0">
                  <a:latin typeface="Times New Roman" panose="02020603050405020304" pitchFamily="18" charset="0"/>
                  <a:cs typeface="Times New Roman" panose="02020603050405020304" pitchFamily="18" charset="0"/>
                </a:rPr>
                <a:t>Industry Conferences</a:t>
              </a:r>
            </a:p>
          </p:txBody>
        </p:sp>
        <p:sp>
          <p:nvSpPr>
            <p:cNvPr id="7" name="TextBox 6">
              <a:extLst>
                <a:ext uri="{FF2B5EF4-FFF2-40B4-BE49-F238E27FC236}">
                  <a16:creationId xmlns:a16="http://schemas.microsoft.com/office/drawing/2014/main" id="{191B5639-45FB-2D6D-B335-40365D5577D4}"/>
                </a:ext>
              </a:extLst>
            </p:cNvPr>
            <p:cNvSpPr txBox="1"/>
            <p:nvPr/>
          </p:nvSpPr>
          <p:spPr>
            <a:xfrm>
              <a:off x="7112757" y="2194117"/>
              <a:ext cx="2743200"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TED Talks</a:t>
              </a:r>
            </a:p>
          </p:txBody>
        </p:sp>
        <p:sp>
          <p:nvSpPr>
            <p:cNvPr id="9" name="TextBox 8">
              <a:extLst>
                <a:ext uri="{FF2B5EF4-FFF2-40B4-BE49-F238E27FC236}">
                  <a16:creationId xmlns:a16="http://schemas.microsoft.com/office/drawing/2014/main" id="{8FE4283F-413A-1106-58E8-08B099E931AE}"/>
                </a:ext>
              </a:extLst>
            </p:cNvPr>
            <p:cNvSpPr txBox="1"/>
            <p:nvPr/>
          </p:nvSpPr>
          <p:spPr>
            <a:xfrm>
              <a:off x="2158889" y="2193387"/>
              <a:ext cx="2743200"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Documentaries</a:t>
              </a:r>
            </a:p>
          </p:txBody>
        </p:sp>
        <p:cxnSp>
          <p:nvCxnSpPr>
            <p:cNvPr id="11" name="Straight Arrow Connector 10">
              <a:extLst>
                <a:ext uri="{FF2B5EF4-FFF2-40B4-BE49-F238E27FC236}">
                  <a16:creationId xmlns:a16="http://schemas.microsoft.com/office/drawing/2014/main" id="{7B007F86-E3A5-89C9-99F4-58BF010D6A06}"/>
                </a:ext>
              </a:extLst>
            </p:cNvPr>
            <p:cNvCxnSpPr>
              <a:stCxn id="6" idx="2"/>
              <a:endCxn id="4" idx="0"/>
            </p:cNvCxnSpPr>
            <p:nvPr/>
          </p:nvCxnSpPr>
          <p:spPr>
            <a:xfrm>
              <a:off x="5800298" y="2086367"/>
              <a:ext cx="1" cy="738720"/>
            </a:xfrm>
            <a:prstGeom prst="straightConnector1">
              <a:avLst/>
            </a:prstGeom>
            <a:ln w="76200">
              <a:solidFill>
                <a:schemeClr val="tx1"/>
              </a:solidFill>
              <a:tailEnd type="triangle"/>
            </a:ln>
          </p:spPr>
          <p:style>
            <a:lnRef idx="2">
              <a:schemeClr val="accent3"/>
            </a:lnRef>
            <a:fillRef idx="0">
              <a:schemeClr val="accent3"/>
            </a:fillRef>
            <a:effectRef idx="1">
              <a:schemeClr val="accent3"/>
            </a:effectRef>
            <a:fontRef idx="minor">
              <a:schemeClr val="tx1"/>
            </a:fontRef>
          </p:style>
        </p:cxnSp>
        <p:cxnSp>
          <p:nvCxnSpPr>
            <p:cNvPr id="13" name="Straight Arrow Connector 12">
              <a:extLst>
                <a:ext uri="{FF2B5EF4-FFF2-40B4-BE49-F238E27FC236}">
                  <a16:creationId xmlns:a16="http://schemas.microsoft.com/office/drawing/2014/main" id="{755F2E7A-C345-A45F-A5BC-5757F2DDBBFC}"/>
                </a:ext>
              </a:extLst>
            </p:cNvPr>
            <p:cNvCxnSpPr>
              <a:cxnSpLocks/>
            </p:cNvCxnSpPr>
            <p:nvPr/>
          </p:nvCxnSpPr>
          <p:spPr>
            <a:xfrm flipH="1" flipV="1">
              <a:off x="6705602" y="4509915"/>
              <a:ext cx="650541" cy="498813"/>
            </a:xfrm>
            <a:prstGeom prst="straightConnector1">
              <a:avLst/>
            </a:prstGeom>
            <a:ln w="76200">
              <a:solidFill>
                <a:schemeClr val="tx1"/>
              </a:solidFill>
              <a:tailEnd type="triangle"/>
            </a:ln>
          </p:spPr>
          <p:style>
            <a:lnRef idx="2">
              <a:schemeClr val="accent3"/>
            </a:lnRef>
            <a:fillRef idx="0">
              <a:schemeClr val="accent3"/>
            </a:fillRef>
            <a:effectRef idx="1">
              <a:schemeClr val="accent3"/>
            </a:effectRef>
            <a:fontRef idx="minor">
              <a:schemeClr val="tx1"/>
            </a:fontRef>
          </p:style>
        </p:cxnSp>
        <p:cxnSp>
          <p:nvCxnSpPr>
            <p:cNvPr id="14" name="Straight Arrow Connector 13">
              <a:extLst>
                <a:ext uri="{FF2B5EF4-FFF2-40B4-BE49-F238E27FC236}">
                  <a16:creationId xmlns:a16="http://schemas.microsoft.com/office/drawing/2014/main" id="{60C48AA6-B09D-889C-8B28-2EE7055765CD}"/>
                </a:ext>
              </a:extLst>
            </p:cNvPr>
            <p:cNvCxnSpPr>
              <a:cxnSpLocks/>
            </p:cNvCxnSpPr>
            <p:nvPr/>
          </p:nvCxnSpPr>
          <p:spPr>
            <a:xfrm flipV="1">
              <a:off x="4340921" y="4646332"/>
              <a:ext cx="647134" cy="382138"/>
            </a:xfrm>
            <a:prstGeom prst="straightConnector1">
              <a:avLst/>
            </a:prstGeom>
            <a:ln w="76200">
              <a:solidFill>
                <a:schemeClr val="tx1"/>
              </a:solidFill>
              <a:tailEnd type="triangle"/>
            </a:ln>
          </p:spPr>
          <p:style>
            <a:lnRef idx="2">
              <a:schemeClr val="accent3"/>
            </a:lnRef>
            <a:fillRef idx="0">
              <a:schemeClr val="accent3"/>
            </a:fillRef>
            <a:effectRef idx="1">
              <a:schemeClr val="accent3"/>
            </a:effectRef>
            <a:fontRef idx="minor">
              <a:schemeClr val="tx1"/>
            </a:fontRef>
          </p:style>
        </p:cxnSp>
        <p:cxnSp>
          <p:nvCxnSpPr>
            <p:cNvPr id="15" name="Straight Arrow Connector 14">
              <a:extLst>
                <a:ext uri="{FF2B5EF4-FFF2-40B4-BE49-F238E27FC236}">
                  <a16:creationId xmlns:a16="http://schemas.microsoft.com/office/drawing/2014/main" id="{C76E109E-52ED-A45A-9498-373AF790CA98}"/>
                </a:ext>
              </a:extLst>
            </p:cNvPr>
            <p:cNvCxnSpPr>
              <a:cxnSpLocks/>
            </p:cNvCxnSpPr>
            <p:nvPr/>
          </p:nvCxnSpPr>
          <p:spPr>
            <a:xfrm>
              <a:off x="4551326" y="2608127"/>
              <a:ext cx="464226" cy="527714"/>
            </a:xfrm>
            <a:prstGeom prst="straightConnector1">
              <a:avLst/>
            </a:prstGeom>
            <a:ln w="76200">
              <a:solidFill>
                <a:schemeClr val="tx1"/>
              </a:solidFill>
              <a:tailEnd type="triangle"/>
            </a:ln>
          </p:spPr>
          <p:style>
            <a:lnRef idx="2">
              <a:schemeClr val="accent3"/>
            </a:lnRef>
            <a:fillRef idx="0">
              <a:schemeClr val="accent3"/>
            </a:fillRef>
            <a:effectRef idx="1">
              <a:schemeClr val="accent3"/>
            </a:effectRef>
            <a:fontRef idx="minor">
              <a:schemeClr val="tx1"/>
            </a:fontRef>
          </p:style>
        </p:cxnSp>
        <p:cxnSp>
          <p:nvCxnSpPr>
            <p:cNvPr id="16" name="Straight Arrow Connector 15">
              <a:extLst>
                <a:ext uri="{FF2B5EF4-FFF2-40B4-BE49-F238E27FC236}">
                  <a16:creationId xmlns:a16="http://schemas.microsoft.com/office/drawing/2014/main" id="{5F17067F-457A-7743-0900-35B816BF8DCA}"/>
                </a:ext>
              </a:extLst>
            </p:cNvPr>
            <p:cNvCxnSpPr>
              <a:cxnSpLocks/>
              <a:endCxn id="4" idx="7"/>
            </p:cNvCxnSpPr>
            <p:nvPr/>
          </p:nvCxnSpPr>
          <p:spPr>
            <a:xfrm flipH="1">
              <a:off x="6572332" y="2576816"/>
              <a:ext cx="583643" cy="568058"/>
            </a:xfrm>
            <a:prstGeom prst="straightConnector1">
              <a:avLst/>
            </a:prstGeom>
            <a:ln w="76200">
              <a:solidFill>
                <a:schemeClr val="tx1"/>
              </a:solidFill>
              <a:tailEnd type="triangle"/>
            </a:ln>
          </p:spPr>
          <p:style>
            <a:lnRef idx="2">
              <a:schemeClr val="accent3"/>
            </a:lnRef>
            <a:fillRef idx="0">
              <a:schemeClr val="accent3"/>
            </a:fillRef>
            <a:effectRef idx="1">
              <a:schemeClr val="accent3"/>
            </a:effectRef>
            <a:fontRef idx="minor">
              <a:schemeClr val="tx1"/>
            </a:fontRef>
          </p:style>
        </p:cxnSp>
        <p:sp>
          <p:nvSpPr>
            <p:cNvPr id="26" name="TextBox 25">
              <a:extLst>
                <a:ext uri="{FF2B5EF4-FFF2-40B4-BE49-F238E27FC236}">
                  <a16:creationId xmlns:a16="http://schemas.microsoft.com/office/drawing/2014/main" id="{5D526E60-E565-03C5-C232-F7D253A5C767}"/>
                </a:ext>
              </a:extLst>
            </p:cNvPr>
            <p:cNvSpPr txBox="1"/>
            <p:nvPr/>
          </p:nvSpPr>
          <p:spPr>
            <a:xfrm>
              <a:off x="3411939" y="5419662"/>
              <a:ext cx="4776717" cy="954107"/>
            </a:xfrm>
            <a:prstGeom prst="rect">
              <a:avLst/>
            </a:prstGeom>
            <a:noFill/>
          </p:spPr>
          <p:txBody>
            <a:bodyPr wrap="square" rtlCol="0">
              <a:spAutoFit/>
            </a:bodyPr>
            <a:lstStyle/>
            <a:p>
              <a:pPr algn="ctr"/>
              <a:r>
                <a:rPr lang="en-US" sz="2800" b="1" dirty="0">
                  <a:latin typeface="Times New Roman" panose="02020603050405020304" pitchFamily="18" charset="0"/>
                  <a:cs typeface="Times New Roman" panose="02020603050405020304" pitchFamily="18" charset="0"/>
                </a:rPr>
                <a:t>BUILDING AWARENESS and PERSPECTIVES</a:t>
              </a:r>
            </a:p>
          </p:txBody>
        </p:sp>
      </p:grpSp>
    </p:spTree>
    <p:extLst>
      <p:ext uri="{BB962C8B-B14F-4D97-AF65-F5344CB8AC3E}">
        <p14:creationId xmlns:p14="http://schemas.microsoft.com/office/powerpoint/2010/main" val="24792948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088F8C-7CE9-55F9-19EE-2C9A3AD1C239}"/>
              </a:ext>
            </a:extLst>
          </p:cNvPr>
          <p:cNvSpPr/>
          <p:nvPr/>
        </p:nvSpPr>
        <p:spPr>
          <a:xfrm>
            <a:off x="-159224" y="0"/>
            <a:ext cx="12351224" cy="6858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0"/>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DEPLOYING THE TECHNOLOGY</a:t>
            </a:r>
          </a:p>
        </p:txBody>
      </p:sp>
      <p:sp>
        <p:nvSpPr>
          <p:cNvPr id="2" name="Subtitle 2">
            <a:extLst>
              <a:ext uri="{FF2B5EF4-FFF2-40B4-BE49-F238E27FC236}">
                <a16:creationId xmlns:a16="http://schemas.microsoft.com/office/drawing/2014/main" id="{30E813FC-3CE0-78B0-D08D-1B6490A772C2}"/>
              </a:ext>
            </a:extLst>
          </p:cNvPr>
          <p:cNvSpPr txBox="1">
            <a:spLocks/>
          </p:cNvSpPr>
          <p:nvPr/>
        </p:nvSpPr>
        <p:spPr>
          <a:xfrm>
            <a:off x="948817" y="1461461"/>
            <a:ext cx="9808830" cy="2744779"/>
          </a:xfrm>
          <a:prstGeom prst="rect">
            <a:avLst/>
          </a:prstGeom>
          <a:solidFill>
            <a:schemeClr val="tx1"/>
          </a:solidFill>
          <a:ln>
            <a:solidFill>
              <a:schemeClr val="bg1"/>
            </a:solidFill>
          </a:ln>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R="0" lvl="0">
              <a:lnSpc>
                <a:spcPct val="115000"/>
              </a:lnSpc>
              <a:spcBef>
                <a:spcPts val="0"/>
              </a:spcBef>
              <a:spcAft>
                <a:spcPts val="0"/>
              </a:spcAft>
            </a:pPr>
            <a:r>
              <a:rPr lang="en-US" sz="2800" b="1" dirty="0">
                <a:solidFill>
                  <a:srgbClr val="FFC000"/>
                </a:solidFill>
                <a:effectLst/>
                <a:latin typeface="Times New Roman" panose="02020603050405020304" pitchFamily="18" charset="0"/>
                <a:ea typeface="Times New Roman" panose="02020603050405020304" pitchFamily="18" charset="0"/>
                <a:cs typeface="Times New Roman" panose="02020603050405020304" pitchFamily="18" charset="0"/>
              </a:rPr>
              <a:t>THE SCALING CHALLENGE</a:t>
            </a:r>
          </a:p>
          <a:p>
            <a:pPr marL="398463" marR="0" lvl="0" indent="-398463" algn="l">
              <a:lnSpc>
                <a:spcPct val="115000"/>
              </a:lnSpc>
              <a:spcBef>
                <a:spcPts val="0"/>
              </a:spcBef>
              <a:spcAft>
                <a:spcPts val="0"/>
              </a:spcAft>
              <a:buFont typeface="+mj-lt"/>
              <a:buAutoNum type="arabicPeriod" startAt="7"/>
            </a:pPr>
            <a:r>
              <a:rPr lang="en-US" sz="2800" b="1" dirty="0">
                <a:solidFill>
                  <a:srgbClr val="FFC000"/>
                </a:solidFill>
                <a:latin typeface="Times New Roman" panose="02020603050405020304" pitchFamily="18" charset="0"/>
                <a:ea typeface="Times New Roman" panose="02020603050405020304" pitchFamily="18" charset="0"/>
                <a:cs typeface="Times New Roman" panose="02020603050405020304" pitchFamily="18" charset="0"/>
              </a:rPr>
              <a:t>Configuring the Regional TeleCenter</a:t>
            </a:r>
          </a:p>
          <a:p>
            <a:pPr marL="398463" marR="0" lvl="0" indent="-398463" algn="l">
              <a:lnSpc>
                <a:spcPct val="115000"/>
              </a:lnSpc>
              <a:spcBef>
                <a:spcPts val="0"/>
              </a:spcBef>
              <a:spcAft>
                <a:spcPts val="0"/>
              </a:spcAft>
              <a:buFont typeface="+mj-lt"/>
              <a:buAutoNum type="arabicPeriod" startAt="7"/>
            </a:pPr>
            <a:r>
              <a:rPr lang="en-US" sz="2800" b="1" dirty="0">
                <a:solidFill>
                  <a:srgbClr val="FFC000"/>
                </a:solidFill>
                <a:latin typeface="Times New Roman" panose="02020603050405020304" pitchFamily="18" charset="0"/>
                <a:ea typeface="Times New Roman" panose="02020603050405020304" pitchFamily="18" charset="0"/>
                <a:cs typeface="Times New Roman" panose="02020603050405020304" pitchFamily="18" charset="0"/>
              </a:rPr>
              <a:t>Scaling a Community Lens &amp; TeleCenter</a:t>
            </a:r>
          </a:p>
          <a:p>
            <a:pPr marL="342900" marR="0" lvl="0" indent="-342900" algn="l">
              <a:lnSpc>
                <a:spcPct val="115000"/>
              </a:lnSpc>
              <a:spcBef>
                <a:spcPts val="0"/>
              </a:spcBef>
              <a:spcAft>
                <a:spcPts val="0"/>
              </a:spcAft>
              <a:buFont typeface="+mj-lt"/>
              <a:buAutoNum type="arabicPeriod" startAt="7"/>
            </a:pPr>
            <a:r>
              <a:rPr lang="en-US" sz="2800" b="1" dirty="0">
                <a:solidFill>
                  <a:srgbClr val="FFC000"/>
                </a:solidFill>
                <a:effectLst/>
                <a:latin typeface="Times New Roman" panose="02020603050405020304" pitchFamily="18" charset="0"/>
                <a:ea typeface="Times New Roman" panose="02020603050405020304" pitchFamily="18" charset="0"/>
                <a:cs typeface="Times New Roman" panose="02020603050405020304" pitchFamily="18" charset="0"/>
              </a:rPr>
              <a:t>Developing a Technology Plan, with licensing, content and divide responsibilities for maintenance</a:t>
            </a:r>
          </a:p>
        </p:txBody>
      </p:sp>
      <p:sp>
        <p:nvSpPr>
          <p:cNvPr id="6" name="Subtitle 2">
            <a:extLst>
              <a:ext uri="{FF2B5EF4-FFF2-40B4-BE49-F238E27FC236}">
                <a16:creationId xmlns:a16="http://schemas.microsoft.com/office/drawing/2014/main" id="{C5550148-67FD-CD68-1AE1-82315039BA84}"/>
              </a:ext>
            </a:extLst>
          </p:cNvPr>
          <p:cNvSpPr txBox="1">
            <a:spLocks/>
          </p:cNvSpPr>
          <p:nvPr/>
        </p:nvSpPr>
        <p:spPr>
          <a:xfrm>
            <a:off x="-159224" y="4673208"/>
            <a:ext cx="12067939" cy="1555470"/>
          </a:xfrm>
          <a:prstGeom prst="rect">
            <a:avLst/>
          </a:prstGeom>
        </p:spPr>
        <p:txBody>
          <a:bodyPr vert="horz" lIns="91440" tIns="45720" rIns="91440" bIns="45720" rtlCol="0">
            <a:normAutofit fontScale="2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7200" b="1" dirty="0">
                <a:solidFill>
                  <a:schemeClr val="bg1"/>
                </a:solidFill>
                <a:latin typeface="Times New Roman" panose="02020603050405020304" pitchFamily="18" charset="0"/>
                <a:cs typeface="Times New Roman" panose="02020603050405020304" pitchFamily="18" charset="0"/>
              </a:rPr>
              <a:t>Q&amp;A</a:t>
            </a:r>
          </a:p>
          <a:p>
            <a:r>
              <a:rPr lang="en-US" sz="5600" b="1" dirty="0">
                <a:solidFill>
                  <a:schemeClr val="bg1"/>
                </a:solidFill>
                <a:latin typeface="Times New Roman" panose="02020603050405020304" pitchFamily="18" charset="0"/>
                <a:cs typeface="Times New Roman" panose="02020603050405020304" pitchFamily="18" charset="0"/>
              </a:rPr>
              <a:t>John Sanger, President, Tele-Commuter Resources, Inc.</a:t>
            </a:r>
          </a:p>
          <a:p>
            <a:r>
              <a:rPr lang="en-US" sz="5600" b="1" dirty="0">
                <a:solidFill>
                  <a:schemeClr val="bg1"/>
                </a:solidFill>
                <a:latin typeface="Times New Roman" panose="02020603050405020304" pitchFamily="18" charset="0"/>
                <a:cs typeface="Times New Roman" panose="02020603050405020304" pitchFamily="18" charset="0"/>
                <a:hlinkClick r:id="rId2"/>
              </a:rPr>
              <a:t>jfsanger@telecommuter.org</a:t>
            </a:r>
            <a:endParaRPr lang="en-US" sz="5600" b="1" dirty="0">
              <a:solidFill>
                <a:schemeClr val="bg1"/>
              </a:solidFill>
              <a:latin typeface="Times New Roman" panose="02020603050405020304" pitchFamily="18" charset="0"/>
              <a:cs typeface="Times New Roman" panose="02020603050405020304" pitchFamily="18" charset="0"/>
            </a:endParaRPr>
          </a:p>
          <a:p>
            <a:r>
              <a:rPr lang="en-US" sz="5600" b="1" dirty="0">
                <a:solidFill>
                  <a:schemeClr val="bg1"/>
                </a:solidFill>
                <a:latin typeface="Times New Roman" panose="02020603050405020304" pitchFamily="18" charset="0"/>
                <a:cs typeface="Times New Roman" panose="02020603050405020304" pitchFamily="18" charset="0"/>
              </a:rPr>
              <a:t>651-486—8408</a:t>
            </a:r>
          </a:p>
          <a:p>
            <a:r>
              <a:rPr lang="en-US" sz="5600" b="1" dirty="0">
                <a:solidFill>
                  <a:schemeClr val="bg1"/>
                </a:solidFill>
                <a:latin typeface="Times New Roman" panose="02020603050405020304" pitchFamily="18" charset="0"/>
                <a:cs typeface="Times New Roman" panose="02020603050405020304" pitchFamily="18" charset="0"/>
                <a:hlinkClick r:id="rId3"/>
              </a:rPr>
              <a:t>www.telecommuter.org</a:t>
            </a:r>
            <a:endParaRPr lang="en-US" sz="5600" b="1" dirty="0">
              <a:solidFill>
                <a:schemeClr val="bg1"/>
              </a:solidFill>
              <a:latin typeface="Times New Roman" panose="02020603050405020304" pitchFamily="18" charset="0"/>
              <a:cs typeface="Times New Roman" panose="02020603050405020304" pitchFamily="18" charset="0"/>
            </a:endParaRPr>
          </a:p>
          <a:p>
            <a:r>
              <a:rPr lang="en-US" sz="5600" b="1" dirty="0">
                <a:solidFill>
                  <a:schemeClr val="bg1"/>
                </a:solidFill>
                <a:latin typeface="Times New Roman" panose="02020603050405020304" pitchFamily="18" charset="0"/>
                <a:cs typeface="Times New Roman" panose="02020603050405020304" pitchFamily="18" charset="0"/>
                <a:hlinkClick r:id="rId4"/>
              </a:rPr>
              <a:t>www.infoagecommunity.org</a:t>
            </a:r>
            <a:r>
              <a:rPr lang="en-US" sz="5600" b="1" dirty="0">
                <a:solidFill>
                  <a:schemeClr val="bg1"/>
                </a:solidFill>
                <a:latin typeface="Times New Roman" panose="02020603050405020304" pitchFamily="18" charset="0"/>
                <a:cs typeface="Times New Roman" panose="02020603050405020304" pitchFamily="18" charset="0"/>
              </a:rPr>
              <a:t>  (under development</a:t>
            </a:r>
          </a:p>
        </p:txBody>
      </p:sp>
    </p:spTree>
    <p:extLst>
      <p:ext uri="{BB962C8B-B14F-4D97-AF65-F5344CB8AC3E}">
        <p14:creationId xmlns:p14="http://schemas.microsoft.com/office/powerpoint/2010/main" val="380542048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088F8C-7CE9-55F9-19EE-2C9A3AD1C239}"/>
              </a:ext>
            </a:extLst>
          </p:cNvPr>
          <p:cNvSpPr/>
          <p:nvPr/>
        </p:nvSpPr>
        <p:spPr>
          <a:xfrm>
            <a:off x="-79612" y="0"/>
            <a:ext cx="12351224" cy="6858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0"/>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DATA STRUCTURE</a:t>
            </a:r>
          </a:p>
        </p:txBody>
      </p:sp>
      <p:sp>
        <p:nvSpPr>
          <p:cNvPr id="4" name="Subtitle 2">
            <a:extLst>
              <a:ext uri="{FF2B5EF4-FFF2-40B4-BE49-F238E27FC236}">
                <a16:creationId xmlns:a16="http://schemas.microsoft.com/office/drawing/2014/main" id="{15615D0E-6F01-16F0-E511-C12A8AE8B49A}"/>
              </a:ext>
            </a:extLst>
          </p:cNvPr>
          <p:cNvSpPr txBox="1">
            <a:spLocks/>
          </p:cNvSpPr>
          <p:nvPr/>
        </p:nvSpPr>
        <p:spPr>
          <a:xfrm>
            <a:off x="361950" y="984913"/>
            <a:ext cx="4800600" cy="4072862"/>
          </a:xfrm>
          <a:prstGeom prst="rect">
            <a:avLst/>
          </a:prstGeom>
        </p:spPr>
        <p:txBody>
          <a:bodyPr vert="horz" lIns="91440" tIns="45720" rIns="91440" bIns="45720" rtlCol="0">
            <a:normAutofit fontScale="2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marR="0" lvl="0" indent="-342900" algn="l">
              <a:lnSpc>
                <a:spcPct val="115000"/>
              </a:lnSpc>
              <a:spcBef>
                <a:spcPts val="0"/>
              </a:spcBef>
              <a:spcAft>
                <a:spcPts val="0"/>
              </a:spcAft>
              <a:buFont typeface="+mj-lt"/>
              <a:buAutoNum type="romanLcPeriod"/>
              <a:tabLst>
                <a:tab pos="228600" algn="l"/>
                <a:tab pos="457200" algn="l"/>
              </a:tabLst>
            </a:pPr>
            <a:r>
              <a:rPr lang="en-US" sz="6400" i="1" u="sng"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Data Structure</a:t>
            </a:r>
            <a:r>
              <a:rPr lang="en-US" sz="6400" i="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6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The Information Age Community maintains a database that supports those engine inquiries</a:t>
            </a:r>
          </a:p>
          <a:p>
            <a:pPr marL="342900" marR="0" lvl="0" indent="-342900" algn="l">
              <a:lnSpc>
                <a:spcPct val="115000"/>
              </a:lnSpc>
              <a:spcBef>
                <a:spcPts val="0"/>
              </a:spcBef>
              <a:spcAft>
                <a:spcPts val="0"/>
              </a:spcAft>
              <a:buFont typeface="+mj-lt"/>
              <a:buAutoNum type="romanLcPeriod"/>
              <a:tabLst>
                <a:tab pos="228600" algn="l"/>
                <a:tab pos="457200" algn="l"/>
              </a:tabLst>
            </a:pPr>
            <a:endParaRPr lang="en-US" sz="6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romanLcPeriod"/>
            </a:pPr>
            <a:r>
              <a:rPr lang="en-US" sz="6400" b="0" i="1" u="sng" kern="0" dirty="0">
                <a:solidFill>
                  <a:schemeClr val="bg1"/>
                </a:solidFill>
                <a:effectLst/>
                <a:latin typeface="Times New Roman" panose="02020603050405020304" pitchFamily="18" charset="0"/>
                <a:ea typeface="MS Gothic" panose="020B0609070205080204" pitchFamily="49" charset="-128"/>
                <a:cs typeface="Times New Roman" panose="02020603050405020304" pitchFamily="18" charset="0"/>
              </a:rPr>
              <a:t>Data Structure-  </a:t>
            </a:r>
            <a:r>
              <a:rPr lang="en-US" sz="6400" b="0" kern="0" dirty="0">
                <a:solidFill>
                  <a:schemeClr val="bg1"/>
                </a:solidFill>
                <a:effectLst/>
                <a:latin typeface="Times New Roman" panose="02020603050405020304" pitchFamily="18" charset="0"/>
                <a:ea typeface="MS Gothic" panose="020B0609070205080204" pitchFamily="49" charset="-128"/>
                <a:cs typeface="Times New Roman" panose="02020603050405020304" pitchFamily="18" charset="0"/>
              </a:rPr>
              <a:t>The IAC data structure is designed to look back at historical data, integrate present data and forecast trends for future data.  Using AI, it is being developed to integrate the relevant data to support community inquiries across all data sets. Developed at the zip code level, it not only profiles every small town but it also aggregates the data to the Community Level as this process is describing. </a:t>
            </a:r>
            <a:endParaRPr lang="en-US" sz="6400" b="1" kern="0" dirty="0">
              <a:solidFill>
                <a:schemeClr val="bg1"/>
              </a:solidFill>
              <a:effectLst/>
              <a:latin typeface="Times New Roman" panose="02020603050405020304" pitchFamily="18" charset="0"/>
              <a:ea typeface="MS Gothic" panose="020B0609070205080204" pitchFamily="49" charset="-128"/>
              <a:cs typeface="Times New Roman" panose="02020603050405020304" pitchFamily="18" charset="0"/>
            </a:endParaRPr>
          </a:p>
          <a:p>
            <a:pPr marL="0" marR="0" algn="l">
              <a:lnSpc>
                <a:spcPct val="115000"/>
              </a:lnSpc>
              <a:spcBef>
                <a:spcPts val="0"/>
              </a:spcBef>
              <a:spcAft>
                <a:spcPts val="0"/>
              </a:spcAft>
            </a:pPr>
            <a:r>
              <a:rPr lang="en-US" sz="6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 </a:t>
            </a:r>
          </a:p>
          <a:p>
            <a:pPr marL="0" marR="0" algn="l">
              <a:lnSpc>
                <a:spcPct val="115000"/>
              </a:lnSpc>
              <a:spcBef>
                <a:spcPts val="0"/>
              </a:spcBef>
              <a:spcAft>
                <a:spcPts val="0"/>
              </a:spcAft>
            </a:pPr>
            <a:r>
              <a:rPr lang="en-US" sz="6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 </a:t>
            </a:r>
          </a:p>
          <a:p>
            <a:pPr marL="342900" marR="0" lvl="0" indent="-342900" algn="l">
              <a:lnSpc>
                <a:spcPct val="115000"/>
              </a:lnSpc>
              <a:spcBef>
                <a:spcPts val="0"/>
              </a:spcBef>
              <a:spcAft>
                <a:spcPts val="0"/>
              </a:spcAft>
              <a:buFont typeface="+mj-lt"/>
              <a:buAutoNum type="romanLcPeriod"/>
              <a:tabLst>
                <a:tab pos="228600" algn="l"/>
                <a:tab pos="457200" algn="l"/>
              </a:tabLst>
            </a:pPr>
            <a:endParaRPr lang="en-US" sz="24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2" name="Subtitle 2">
            <a:extLst>
              <a:ext uri="{FF2B5EF4-FFF2-40B4-BE49-F238E27FC236}">
                <a16:creationId xmlns:a16="http://schemas.microsoft.com/office/drawing/2014/main" id="{80E8A6E5-983E-5340-C39E-0DB4806FD26C}"/>
              </a:ext>
            </a:extLst>
          </p:cNvPr>
          <p:cNvSpPr txBox="1">
            <a:spLocks/>
          </p:cNvSpPr>
          <p:nvPr/>
        </p:nvSpPr>
        <p:spPr>
          <a:xfrm>
            <a:off x="5468558" y="984913"/>
            <a:ext cx="3549413" cy="5644487"/>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514350" marR="0" lvl="0" indent="-514350" algn="l">
              <a:lnSpc>
                <a:spcPct val="115000"/>
              </a:lnSpc>
              <a:spcBef>
                <a:spcPts val="0"/>
              </a:spcBef>
              <a:spcAft>
                <a:spcPts val="0"/>
              </a:spcAft>
              <a:buFont typeface="+mj-lt"/>
              <a:buAutoNum type="romanUcPeriod"/>
              <a:tabLst>
                <a:tab pos="228600" algn="l"/>
                <a:tab pos="457200" algn="l"/>
              </a:tabLst>
            </a:pPr>
            <a:r>
              <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Infrastructure</a:t>
            </a:r>
          </a:p>
          <a:p>
            <a:pPr marL="514350" marR="0" lvl="0" indent="-514350" algn="l">
              <a:lnSpc>
                <a:spcPct val="115000"/>
              </a:lnSpc>
              <a:spcBef>
                <a:spcPts val="0"/>
              </a:spcBef>
              <a:spcAft>
                <a:spcPts val="0"/>
              </a:spcAft>
              <a:buFont typeface="+mj-lt"/>
              <a:buAutoNum type="romanU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Services</a:t>
            </a:r>
          </a:p>
          <a:p>
            <a:pPr marL="971550" lvl="1" indent="-514350" algn="l">
              <a:lnSpc>
                <a:spcPct val="115000"/>
              </a:lnSpc>
              <a:spcBef>
                <a:spcPts val="0"/>
              </a:spcBef>
              <a:buFont typeface="+mj-lt"/>
              <a:buAutoNum type="alphaUcPeriod"/>
              <a:tabLst>
                <a:tab pos="228600" algn="l"/>
                <a:tab pos="457200" algn="l"/>
              </a:tabLst>
            </a:pPr>
            <a:r>
              <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Health Care &amp; Services</a:t>
            </a:r>
          </a:p>
          <a:p>
            <a:pPr marL="1257300" lvl="2" indent="-342900" algn="l">
              <a:lnSpc>
                <a:spcPct val="115000"/>
              </a:lnSpc>
              <a:spcBef>
                <a:spcPts val="0"/>
              </a:spcBef>
              <a:buFont typeface="+mj-lt"/>
              <a:buAutoNum type="arabi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Community Coverage</a:t>
            </a:r>
          </a:p>
          <a:p>
            <a:pPr marL="1257300" lvl="2" indent="-342900" algn="l">
              <a:lnSpc>
                <a:spcPct val="115000"/>
              </a:lnSpc>
              <a:spcBef>
                <a:spcPts val="0"/>
              </a:spcBef>
              <a:buFont typeface="+mj-lt"/>
              <a:buAutoNum type="arabi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Specialty Services</a:t>
            </a:r>
          </a:p>
          <a:p>
            <a:pPr marL="1257300" lvl="2" indent="-342900" algn="l">
              <a:lnSpc>
                <a:spcPct val="115000"/>
              </a:lnSpc>
              <a:spcBef>
                <a:spcPts val="0"/>
              </a:spcBef>
              <a:buFont typeface="+mj-lt"/>
              <a:buAutoNum type="arabi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Preventative Care</a:t>
            </a:r>
          </a:p>
          <a:p>
            <a:pPr marL="1257300" lvl="2" indent="-342900" algn="l">
              <a:lnSpc>
                <a:spcPct val="115000"/>
              </a:lnSpc>
              <a:spcBef>
                <a:spcPts val="0"/>
              </a:spcBef>
              <a:buFont typeface="+mj-lt"/>
              <a:buAutoNum type="arabi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Maternal &amp; Child Health</a:t>
            </a:r>
          </a:p>
          <a:p>
            <a:pPr marL="1257300" lvl="2" indent="-342900" algn="l">
              <a:lnSpc>
                <a:spcPct val="115000"/>
              </a:lnSpc>
              <a:spcBef>
                <a:spcPts val="0"/>
              </a:spcBef>
              <a:buFont typeface="+mj-lt"/>
              <a:buAutoNum type="arabi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Geriatric Care</a:t>
            </a:r>
          </a:p>
          <a:p>
            <a:pPr marL="1257300" lvl="2" indent="-342900" algn="l">
              <a:lnSpc>
                <a:spcPct val="115000"/>
              </a:lnSpc>
              <a:spcBef>
                <a:spcPts val="0"/>
              </a:spcBef>
              <a:buFont typeface="+mj-lt"/>
              <a:buAutoNum type="arabi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Disability Support</a:t>
            </a:r>
          </a:p>
          <a:p>
            <a:pPr marL="800100" lvl="1" indent="-342900" algn="l">
              <a:lnSpc>
                <a:spcPct val="115000"/>
              </a:lnSpc>
              <a:spcBef>
                <a:spcPts val="0"/>
              </a:spcBef>
              <a:buFont typeface="+mj-lt"/>
              <a:buAutoNum type="alphaU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Educational Performance</a:t>
            </a:r>
          </a:p>
          <a:p>
            <a:pPr marL="800100" lvl="1" indent="-342900" algn="l">
              <a:lnSpc>
                <a:spcPct val="115000"/>
              </a:lnSpc>
              <a:spcBef>
                <a:spcPts val="0"/>
              </a:spcBef>
              <a:buFont typeface="+mj-lt"/>
              <a:buAutoNum type="alphaU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Public Safety</a:t>
            </a:r>
          </a:p>
          <a:p>
            <a:pPr marL="800100" lvl="1" indent="-342900" algn="l">
              <a:lnSpc>
                <a:spcPct val="115000"/>
              </a:lnSpc>
              <a:spcBef>
                <a:spcPts val="0"/>
              </a:spcBef>
              <a:buFont typeface="+mj-lt"/>
              <a:buAutoNum type="alphaU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Human Support</a:t>
            </a:r>
          </a:p>
          <a:p>
            <a:pPr marL="800100" lvl="1" indent="-342900" algn="l">
              <a:lnSpc>
                <a:spcPct val="115000"/>
              </a:lnSpc>
              <a:spcBef>
                <a:spcPts val="0"/>
              </a:spcBef>
              <a:buFont typeface="+mj-lt"/>
              <a:buAutoNum type="alphaU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Communications</a:t>
            </a:r>
          </a:p>
          <a:p>
            <a:pPr marL="342900" indent="-342900" algn="l">
              <a:lnSpc>
                <a:spcPct val="115000"/>
              </a:lnSpc>
              <a:spcBef>
                <a:spcPts val="0"/>
              </a:spcBef>
              <a:buFont typeface="+mj-lt"/>
              <a:buAutoNum type="romanU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ENVIRONMENT</a:t>
            </a:r>
          </a:p>
          <a:p>
            <a:pPr marL="342900" indent="-342900" algn="l">
              <a:lnSpc>
                <a:spcPct val="115000"/>
              </a:lnSpc>
              <a:spcBef>
                <a:spcPts val="0"/>
              </a:spcBef>
              <a:buFont typeface="+mj-lt"/>
              <a:buAutoNum type="romanU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ECONOMY</a:t>
            </a:r>
          </a:p>
          <a:p>
            <a:pPr marL="342900" indent="-342900" algn="l">
              <a:lnSpc>
                <a:spcPct val="115000"/>
              </a:lnSpc>
              <a:spcBef>
                <a:spcPts val="0"/>
              </a:spcBef>
              <a:buFont typeface="+mj-lt"/>
              <a:buAutoNum type="romanU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DEMOGRAPHICS</a:t>
            </a:r>
          </a:p>
          <a:p>
            <a:pPr marL="342900" indent="-342900" algn="l">
              <a:lnSpc>
                <a:spcPct val="115000"/>
              </a:lnSpc>
              <a:spcBef>
                <a:spcPts val="0"/>
              </a:spcBef>
              <a:buFont typeface="+mj-lt"/>
              <a:buAutoNum type="romanUcPeriod"/>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GOVERNANCE</a:t>
            </a:r>
          </a:p>
          <a:p>
            <a:pPr marL="800100" lvl="1" indent="-342900" algn="l">
              <a:lnSpc>
                <a:spcPct val="115000"/>
              </a:lnSpc>
              <a:spcBef>
                <a:spcPts val="0"/>
              </a:spcBef>
              <a:buFont typeface="+mj-lt"/>
              <a:buAutoNum type="alphaUcPeriod"/>
              <a:tabLst>
                <a:tab pos="228600" algn="l"/>
                <a:tab pos="457200" algn="l"/>
              </a:tabLst>
            </a:pPr>
            <a:endParaRPr lang="en-US"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1257300" lvl="2" indent="-342900" algn="l">
              <a:lnSpc>
                <a:spcPct val="115000"/>
              </a:lnSpc>
              <a:spcBef>
                <a:spcPts val="0"/>
              </a:spcBef>
              <a:buFont typeface="+mj-lt"/>
              <a:buAutoNum type="arabicPeriod"/>
              <a:tabLst>
                <a:tab pos="228600" algn="l"/>
                <a:tab pos="457200" algn="l"/>
              </a:tabLst>
            </a:pPr>
            <a:endParaRPr lang="en-US"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6" name="Subtitle 2">
            <a:extLst>
              <a:ext uri="{FF2B5EF4-FFF2-40B4-BE49-F238E27FC236}">
                <a16:creationId xmlns:a16="http://schemas.microsoft.com/office/drawing/2014/main" id="{22D929C2-DFE4-0D13-0700-BE1CAB892176}"/>
              </a:ext>
            </a:extLst>
          </p:cNvPr>
          <p:cNvSpPr txBox="1">
            <a:spLocks/>
          </p:cNvSpPr>
          <p:nvPr/>
        </p:nvSpPr>
        <p:spPr>
          <a:xfrm>
            <a:off x="9323980" y="1007801"/>
            <a:ext cx="2868020" cy="1887799"/>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28600" marR="0" lvl="0" indent="-228600" algn="l">
              <a:lnSpc>
                <a:spcPct val="115000"/>
              </a:lnSpc>
              <a:spcBef>
                <a:spcPts val="0"/>
              </a:spcBef>
              <a:spcAft>
                <a:spcPts val="0"/>
              </a:spcAft>
              <a:buFont typeface="+mj-lt"/>
              <a:buAutoNum type="romanUcPeriod"/>
            </a:pPr>
            <a:r>
              <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Categories</a:t>
            </a:r>
          </a:p>
          <a:p>
            <a:pPr marL="342900" lvl="2" algn="l">
              <a:lnSpc>
                <a:spcPct val="115000"/>
              </a:lnSpc>
              <a:spcBef>
                <a:spcPts val="0"/>
              </a:spcBef>
              <a:tabLst>
                <a:tab pos="228600" algn="l"/>
                <a:tab pos="457200" algn="l"/>
              </a:tabLst>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A. Topics</a:t>
            </a:r>
          </a:p>
          <a:p>
            <a:pPr marL="685800" lvl="2" algn="l">
              <a:lnSpc>
                <a:spcPct val="115000"/>
              </a:lnSpc>
              <a:spcBef>
                <a:spcPts val="0"/>
              </a:spcBef>
            </a:pPr>
            <a:r>
              <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1. Components</a:t>
            </a:r>
          </a:p>
          <a:p>
            <a:pPr marL="971550" lvl="2" algn="l">
              <a:lnSpc>
                <a:spcPct val="115000"/>
              </a:lnSpc>
              <a:spcBef>
                <a:spcPts val="0"/>
              </a:spcBef>
            </a:pPr>
            <a:r>
              <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a) Clusters</a:t>
            </a:r>
          </a:p>
          <a:p>
            <a:pPr marL="1428750" lvl="2" indent="-114300" algn="l">
              <a:lnSpc>
                <a:spcPct val="115000"/>
              </a:lnSpc>
              <a:spcBef>
                <a:spcPts val="0"/>
              </a:spcBef>
              <a:buAutoNum type="romanLcParenR"/>
            </a:pPr>
            <a:r>
              <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 Indicators</a:t>
            </a:r>
          </a:p>
          <a:p>
            <a:pPr marL="1600200" lvl="2" indent="-285750" algn="l">
              <a:lnSpc>
                <a:spcPct val="115000"/>
              </a:lnSpc>
              <a:spcBef>
                <a:spcPts val="0"/>
              </a:spcBef>
              <a:buAutoNum type="romanLcParenR"/>
            </a:pPr>
            <a:endParaRPr lang="en-US" sz="16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57150" algn="l">
              <a:lnSpc>
                <a:spcPct val="115000"/>
              </a:lnSpc>
              <a:spcBef>
                <a:spcPts val="0"/>
              </a:spcBef>
            </a:pPr>
            <a:r>
              <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Based upon the implementation of the Research protocol, the final indicators will be defined.</a:t>
            </a:r>
          </a:p>
        </p:txBody>
      </p:sp>
    </p:spTree>
    <p:extLst>
      <p:ext uri="{BB962C8B-B14F-4D97-AF65-F5344CB8AC3E}">
        <p14:creationId xmlns:p14="http://schemas.microsoft.com/office/powerpoint/2010/main" val="226264835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8BD9530-E2DD-F1EB-2D2D-E5AE1AD71EF7}"/>
              </a:ext>
            </a:extLst>
          </p:cNvPr>
          <p:cNvSpPr txBox="1"/>
          <p:nvPr/>
        </p:nvSpPr>
        <p:spPr>
          <a:xfrm rot="16200000">
            <a:off x="-4182653" y="3003102"/>
            <a:ext cx="6858002" cy="769441"/>
          </a:xfrm>
          <a:prstGeom prst="rect">
            <a:avLst/>
          </a:prstGeom>
          <a:solidFill>
            <a:schemeClr val="tx1"/>
          </a:solidFill>
        </p:spPr>
        <p:txBody>
          <a:bodyPr wrap="square" rtlCol="0">
            <a:spAutoFit/>
          </a:bodyPr>
          <a:lstStyle/>
          <a:p>
            <a:pPr algn="ctr"/>
            <a:r>
              <a:rPr lang="en-US" sz="4400" b="1" dirty="0">
                <a:solidFill>
                  <a:schemeClr val="bg1"/>
                </a:solidFill>
                <a:latin typeface="Stencil" panose="040409050D0802020404" pitchFamily="82" charset="0"/>
              </a:rPr>
              <a:t>THE STRATeGIC  PLAN</a:t>
            </a:r>
          </a:p>
        </p:txBody>
      </p:sp>
      <p:sp>
        <p:nvSpPr>
          <p:cNvPr id="13" name="TextBox 12">
            <a:extLst>
              <a:ext uri="{FF2B5EF4-FFF2-40B4-BE49-F238E27FC236}">
                <a16:creationId xmlns:a16="http://schemas.microsoft.com/office/drawing/2014/main" id="{87AD4B88-4203-9CC4-AD5D-0ABF55A005F0}"/>
              </a:ext>
            </a:extLst>
          </p:cNvPr>
          <p:cNvSpPr txBox="1"/>
          <p:nvPr/>
        </p:nvSpPr>
        <p:spPr>
          <a:xfrm>
            <a:off x="0" y="184379"/>
            <a:ext cx="12529225" cy="769441"/>
          </a:xfrm>
          <a:prstGeom prst="rect">
            <a:avLst/>
          </a:prstGeom>
          <a:noFill/>
        </p:spPr>
        <p:txBody>
          <a:bodyPr wrap="square" rtlCol="0">
            <a:spAutoFit/>
          </a:bodyPr>
          <a:lstStyle/>
          <a:p>
            <a:pPr algn="ctr"/>
            <a:r>
              <a:rPr lang="en-US" sz="4400" b="1" dirty="0">
                <a:solidFill>
                  <a:schemeClr val="bg1"/>
                </a:solidFill>
                <a:latin typeface="Times New Roman" panose="02020603050405020304" pitchFamily="18" charset="0"/>
                <a:cs typeface="Times New Roman" panose="02020603050405020304" pitchFamily="18" charset="0"/>
              </a:rPr>
              <a:t>GOVERNED BY THE COMMUNITY</a:t>
            </a:r>
          </a:p>
        </p:txBody>
      </p:sp>
      <p:pic>
        <p:nvPicPr>
          <p:cNvPr id="2" name="Picture 1" descr="A diagram of a service model&#10;&#10;AI-generated content may be incorrect.">
            <a:extLst>
              <a:ext uri="{FF2B5EF4-FFF2-40B4-BE49-F238E27FC236}">
                <a16:creationId xmlns:a16="http://schemas.microsoft.com/office/drawing/2014/main" id="{D1B2D5C1-879F-06F1-1097-628009A0E465}"/>
              </a:ext>
            </a:extLst>
          </p:cNvPr>
          <p:cNvPicPr>
            <a:picLocks noChangeAspect="1"/>
          </p:cNvPicPr>
          <p:nvPr/>
        </p:nvPicPr>
        <p:blipFill>
          <a:blip r:embed="rId2">
            <a:extLst>
              <a:ext uri="{28A0092B-C50C-407E-A947-70E740481C1C}">
                <a14:useLocalDpi xmlns:a14="http://schemas.microsoft.com/office/drawing/2010/main" val="0"/>
              </a:ext>
            </a:extLst>
          </a:blip>
          <a:srcRect l="45997"/>
          <a:stretch/>
        </p:blipFill>
        <p:spPr>
          <a:xfrm>
            <a:off x="1325462" y="-1506163"/>
            <a:ext cx="1857375" cy="1483834"/>
          </a:xfrm>
          <a:prstGeom prst="rect">
            <a:avLst/>
          </a:prstGeom>
        </p:spPr>
      </p:pic>
      <p:sp>
        <p:nvSpPr>
          <p:cNvPr id="27" name="TextBox 26">
            <a:extLst>
              <a:ext uri="{FF2B5EF4-FFF2-40B4-BE49-F238E27FC236}">
                <a16:creationId xmlns:a16="http://schemas.microsoft.com/office/drawing/2014/main" id="{B95D4E35-7BD0-7B95-FBBE-EAB8A68DEA26}"/>
              </a:ext>
            </a:extLst>
          </p:cNvPr>
          <p:cNvSpPr txBox="1"/>
          <p:nvPr/>
        </p:nvSpPr>
        <p:spPr>
          <a:xfrm>
            <a:off x="8735681" y="1014550"/>
            <a:ext cx="2566322" cy="1877437"/>
          </a:xfrm>
          <a:prstGeom prst="rect">
            <a:avLst/>
          </a:prstGeom>
          <a:noFill/>
        </p:spPr>
        <p:txBody>
          <a:bodyPr wrap="square" rtlCol="0">
            <a:spAutoFit/>
          </a:bodyPr>
          <a:lstStyle/>
          <a:p>
            <a:r>
              <a:rPr lang="en-US" b="1" dirty="0">
                <a:solidFill>
                  <a:schemeClr val="bg1"/>
                </a:solidFill>
                <a:latin typeface="Times New Roman" panose="02020603050405020304" pitchFamily="18" charset="0"/>
                <a:cs typeface="Times New Roman" panose="02020603050405020304" pitchFamily="18" charset="0"/>
              </a:rPr>
              <a:t>COLLABORATVIES:</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Educational</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Formation</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Economic Development</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Legal</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Marketing</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Funding</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Political Engagement</a:t>
            </a:r>
          </a:p>
        </p:txBody>
      </p:sp>
      <p:sp>
        <p:nvSpPr>
          <p:cNvPr id="3" name="Oval 2">
            <a:extLst>
              <a:ext uri="{FF2B5EF4-FFF2-40B4-BE49-F238E27FC236}">
                <a16:creationId xmlns:a16="http://schemas.microsoft.com/office/drawing/2014/main" id="{B320A2CE-DF10-7C81-3335-18163E7CD0AA}"/>
              </a:ext>
            </a:extLst>
          </p:cNvPr>
          <p:cNvSpPr/>
          <p:nvPr/>
        </p:nvSpPr>
        <p:spPr>
          <a:xfrm>
            <a:off x="5163934" y="1256711"/>
            <a:ext cx="2346408" cy="738663"/>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Executive  Committee</a:t>
            </a:r>
          </a:p>
        </p:txBody>
      </p:sp>
      <p:sp>
        <p:nvSpPr>
          <p:cNvPr id="4" name="Oval 3">
            <a:extLst>
              <a:ext uri="{FF2B5EF4-FFF2-40B4-BE49-F238E27FC236}">
                <a16:creationId xmlns:a16="http://schemas.microsoft.com/office/drawing/2014/main" id="{401534D8-65F9-6496-2551-2D612790491B}"/>
              </a:ext>
            </a:extLst>
          </p:cNvPr>
          <p:cNvSpPr/>
          <p:nvPr/>
        </p:nvSpPr>
        <p:spPr>
          <a:xfrm>
            <a:off x="5163934" y="2279115"/>
            <a:ext cx="2346408" cy="738663"/>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IAC BOARD </a:t>
            </a:r>
          </a:p>
        </p:txBody>
      </p:sp>
      <p:sp>
        <p:nvSpPr>
          <p:cNvPr id="8" name="Oval 7">
            <a:extLst>
              <a:ext uri="{FF2B5EF4-FFF2-40B4-BE49-F238E27FC236}">
                <a16:creationId xmlns:a16="http://schemas.microsoft.com/office/drawing/2014/main" id="{849DD261-3505-A37F-B2F6-14AD929319B1}"/>
              </a:ext>
            </a:extLst>
          </p:cNvPr>
          <p:cNvSpPr/>
          <p:nvPr/>
        </p:nvSpPr>
        <p:spPr>
          <a:xfrm>
            <a:off x="8160972" y="3229659"/>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Transit Deployment</a:t>
            </a:r>
          </a:p>
        </p:txBody>
      </p:sp>
      <p:sp>
        <p:nvSpPr>
          <p:cNvPr id="9" name="Oval 8">
            <a:extLst>
              <a:ext uri="{FF2B5EF4-FFF2-40B4-BE49-F238E27FC236}">
                <a16:creationId xmlns:a16="http://schemas.microsoft.com/office/drawing/2014/main" id="{799EED02-5DD9-88ED-3873-0825429F10E3}"/>
              </a:ext>
            </a:extLst>
          </p:cNvPr>
          <p:cNvSpPr/>
          <p:nvPr/>
        </p:nvSpPr>
        <p:spPr>
          <a:xfrm>
            <a:off x="2346309" y="3261881"/>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rPr>
              <a:t>TeleCenter Network</a:t>
            </a:r>
          </a:p>
        </p:txBody>
      </p:sp>
      <p:sp>
        <p:nvSpPr>
          <p:cNvPr id="10" name="Oval 9">
            <a:extLst>
              <a:ext uri="{FF2B5EF4-FFF2-40B4-BE49-F238E27FC236}">
                <a16:creationId xmlns:a16="http://schemas.microsoft.com/office/drawing/2014/main" id="{CD6309B7-21AC-0CF7-5221-62E4436AC81E}"/>
              </a:ext>
            </a:extLst>
          </p:cNvPr>
          <p:cNvSpPr/>
          <p:nvPr/>
        </p:nvSpPr>
        <p:spPr>
          <a:xfrm>
            <a:off x="5167243" y="3269413"/>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rPr>
              <a:t>Leadership</a:t>
            </a:r>
          </a:p>
        </p:txBody>
      </p:sp>
      <p:sp>
        <p:nvSpPr>
          <p:cNvPr id="12" name="TextBox 11">
            <a:extLst>
              <a:ext uri="{FF2B5EF4-FFF2-40B4-BE49-F238E27FC236}">
                <a16:creationId xmlns:a16="http://schemas.microsoft.com/office/drawing/2014/main" id="{608149C2-6419-D726-4F78-DFDB78BD8038}"/>
              </a:ext>
            </a:extLst>
          </p:cNvPr>
          <p:cNvSpPr txBox="1"/>
          <p:nvPr/>
        </p:nvSpPr>
        <p:spPr>
          <a:xfrm>
            <a:off x="4454787" y="4898779"/>
            <a:ext cx="2566322" cy="1384995"/>
          </a:xfrm>
          <a:prstGeom prst="rect">
            <a:avLst/>
          </a:prstGeom>
          <a:noFill/>
        </p:spPr>
        <p:txBody>
          <a:bodyPr wrap="square" rtlCol="0">
            <a:spAutoFit/>
          </a:bodyPr>
          <a:lstStyle/>
          <a:p>
            <a:r>
              <a:rPr lang="en-US" sz="1400" b="1" dirty="0">
                <a:solidFill>
                  <a:schemeClr val="bg1"/>
                </a:solidFill>
                <a:latin typeface="Times New Roman" panose="02020603050405020304" pitchFamily="18" charset="0"/>
                <a:cs typeface="Times New Roman" panose="02020603050405020304" pitchFamily="18" charset="0"/>
              </a:rPr>
              <a:t>Service Center Committees</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Application Management</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Distribution </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Operations &amp; Recruitment</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Services Advisors</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Technology</a:t>
            </a:r>
          </a:p>
        </p:txBody>
      </p:sp>
      <p:sp>
        <p:nvSpPr>
          <p:cNvPr id="16" name="Oval 15">
            <a:extLst>
              <a:ext uri="{FF2B5EF4-FFF2-40B4-BE49-F238E27FC236}">
                <a16:creationId xmlns:a16="http://schemas.microsoft.com/office/drawing/2014/main" id="{088B0554-A100-3C10-5A86-128382DC0155}"/>
              </a:ext>
            </a:extLst>
          </p:cNvPr>
          <p:cNvSpPr/>
          <p:nvPr/>
        </p:nvSpPr>
        <p:spPr>
          <a:xfrm>
            <a:off x="3678230" y="4119929"/>
            <a:ext cx="2323204"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rPr>
              <a:t>SoTA Development </a:t>
            </a:r>
          </a:p>
        </p:txBody>
      </p:sp>
      <p:sp>
        <p:nvSpPr>
          <p:cNvPr id="17" name="Oval 16">
            <a:extLst>
              <a:ext uri="{FF2B5EF4-FFF2-40B4-BE49-F238E27FC236}">
                <a16:creationId xmlns:a16="http://schemas.microsoft.com/office/drawing/2014/main" id="{DCE66CEF-FD33-A41C-4D03-DFCE2E983CCD}"/>
              </a:ext>
            </a:extLst>
          </p:cNvPr>
          <p:cNvSpPr/>
          <p:nvPr/>
        </p:nvSpPr>
        <p:spPr>
          <a:xfrm>
            <a:off x="6754239" y="4058891"/>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rPr>
              <a:t>Visioning</a:t>
            </a:r>
          </a:p>
        </p:txBody>
      </p:sp>
      <p:sp>
        <p:nvSpPr>
          <p:cNvPr id="18" name="TextBox 17">
            <a:extLst>
              <a:ext uri="{FF2B5EF4-FFF2-40B4-BE49-F238E27FC236}">
                <a16:creationId xmlns:a16="http://schemas.microsoft.com/office/drawing/2014/main" id="{D1F4BF91-59C8-97BD-E2E4-1C242D4A5826}"/>
              </a:ext>
            </a:extLst>
          </p:cNvPr>
          <p:cNvSpPr txBox="1"/>
          <p:nvPr/>
        </p:nvSpPr>
        <p:spPr>
          <a:xfrm>
            <a:off x="8051015" y="4858592"/>
            <a:ext cx="2566322" cy="738664"/>
          </a:xfrm>
          <a:prstGeom prst="rect">
            <a:avLst/>
          </a:prstGeom>
          <a:noFill/>
        </p:spPr>
        <p:txBody>
          <a:bodyPr wrap="square" rtlCol="0">
            <a:spAutoFit/>
          </a:bodyPr>
          <a:lstStyle/>
          <a:p>
            <a:pPr marL="166688" indent="-166688">
              <a:buFont typeface="Arial" panose="020B0604020202020204" pitchFamily="34" charset="0"/>
              <a:buChar char="•"/>
            </a:pPr>
            <a:r>
              <a:rPr lang="en-US" sz="1400" b="1" dirty="0">
                <a:solidFill>
                  <a:schemeClr val="bg1"/>
                </a:solidFill>
                <a:latin typeface="Times New Roman" panose="02020603050405020304" pitchFamily="18" charset="0"/>
                <a:cs typeface="Times New Roman" panose="02020603050405020304" pitchFamily="18" charset="0"/>
              </a:rPr>
              <a:t>Regional  Monitor</a:t>
            </a:r>
          </a:p>
          <a:p>
            <a:pPr marL="166688" indent="-166688">
              <a:buFont typeface="Arial" panose="020B0604020202020204" pitchFamily="34" charset="0"/>
              <a:buChar char="•"/>
            </a:pPr>
            <a:r>
              <a:rPr lang="en-US" sz="1400" b="1" dirty="0">
                <a:solidFill>
                  <a:schemeClr val="bg1"/>
                </a:solidFill>
                <a:latin typeface="Times New Roman" panose="02020603050405020304" pitchFamily="18" charset="0"/>
                <a:cs typeface="Times New Roman" panose="02020603050405020304" pitchFamily="18" charset="0"/>
              </a:rPr>
              <a:t>TechTrek</a:t>
            </a:r>
          </a:p>
          <a:p>
            <a:pPr marL="166688" indent="-166688">
              <a:buFont typeface="Arial" panose="020B0604020202020204" pitchFamily="34" charset="0"/>
              <a:buChar char="•"/>
            </a:pPr>
            <a:r>
              <a:rPr lang="en-US" sz="1400" b="1" dirty="0">
                <a:solidFill>
                  <a:schemeClr val="bg1"/>
                </a:solidFill>
                <a:latin typeface="Times New Roman" panose="02020603050405020304" pitchFamily="18" charset="0"/>
                <a:cs typeface="Times New Roman" panose="02020603050405020304" pitchFamily="18" charset="0"/>
              </a:rPr>
              <a:t>Metrix Tracking</a:t>
            </a:r>
          </a:p>
        </p:txBody>
      </p:sp>
      <p:cxnSp>
        <p:nvCxnSpPr>
          <p:cNvPr id="21" name="Straight Connector 20">
            <a:extLst>
              <a:ext uri="{FF2B5EF4-FFF2-40B4-BE49-F238E27FC236}">
                <a16:creationId xmlns:a16="http://schemas.microsoft.com/office/drawing/2014/main" id="{912856CC-DA42-4C3D-3719-278191D6E0C0}"/>
              </a:ext>
            </a:extLst>
          </p:cNvPr>
          <p:cNvCxnSpPr>
            <a:stCxn id="3" idx="4"/>
            <a:endCxn id="4" idx="0"/>
          </p:cNvCxnSpPr>
          <p:nvPr/>
        </p:nvCxnSpPr>
        <p:spPr>
          <a:xfrm>
            <a:off x="6337138" y="1995374"/>
            <a:ext cx="0" cy="283741"/>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DEFF657A-8CD6-9024-D261-8AA0B3E7F719}"/>
              </a:ext>
            </a:extLst>
          </p:cNvPr>
          <p:cNvCxnSpPr>
            <a:cxnSpLocks/>
            <a:stCxn id="4" idx="2"/>
            <a:endCxn id="9" idx="7"/>
          </p:cNvCxnSpPr>
          <p:nvPr/>
        </p:nvCxnSpPr>
        <p:spPr>
          <a:xfrm flipH="1">
            <a:off x="4349094" y="2648447"/>
            <a:ext cx="814840" cy="72160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AAA4578D-18BB-47C9-51A5-66B06BF5E640}"/>
              </a:ext>
            </a:extLst>
          </p:cNvPr>
          <p:cNvCxnSpPr>
            <a:cxnSpLocks/>
          </p:cNvCxnSpPr>
          <p:nvPr/>
        </p:nvCxnSpPr>
        <p:spPr>
          <a:xfrm>
            <a:off x="7195663" y="2909603"/>
            <a:ext cx="760724" cy="1149288"/>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2A96704A-A7AD-F85F-1426-C5E11C79D6AA}"/>
              </a:ext>
            </a:extLst>
          </p:cNvPr>
          <p:cNvCxnSpPr>
            <a:cxnSpLocks/>
            <a:stCxn id="4" idx="3"/>
            <a:endCxn id="16" idx="0"/>
          </p:cNvCxnSpPr>
          <p:nvPr/>
        </p:nvCxnSpPr>
        <p:spPr>
          <a:xfrm flipH="1">
            <a:off x="4839832" y="2909603"/>
            <a:ext cx="667725" cy="1210326"/>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2CC5152-5B57-50DF-4CC5-93F37F659B4E}"/>
              </a:ext>
            </a:extLst>
          </p:cNvPr>
          <p:cNvCxnSpPr>
            <a:cxnSpLocks/>
            <a:stCxn id="4" idx="4"/>
            <a:endCxn id="10" idx="0"/>
          </p:cNvCxnSpPr>
          <p:nvPr/>
        </p:nvCxnSpPr>
        <p:spPr>
          <a:xfrm>
            <a:off x="6337138" y="3017778"/>
            <a:ext cx="3309" cy="251635"/>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7797555D-9FFE-2018-1D46-EB2200AE12D0}"/>
              </a:ext>
            </a:extLst>
          </p:cNvPr>
          <p:cNvCxnSpPr>
            <a:cxnSpLocks/>
            <a:stCxn id="4" idx="6"/>
            <a:endCxn id="8" idx="1"/>
          </p:cNvCxnSpPr>
          <p:nvPr/>
        </p:nvCxnSpPr>
        <p:spPr>
          <a:xfrm>
            <a:off x="7510342" y="2648447"/>
            <a:ext cx="994253" cy="689387"/>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60" name="TextBox 59">
            <a:extLst>
              <a:ext uri="{FF2B5EF4-FFF2-40B4-BE49-F238E27FC236}">
                <a16:creationId xmlns:a16="http://schemas.microsoft.com/office/drawing/2014/main" id="{1FE0FB7A-3CBC-BB93-B508-88AF20F2D03D}"/>
              </a:ext>
            </a:extLst>
          </p:cNvPr>
          <p:cNvSpPr txBox="1"/>
          <p:nvPr/>
        </p:nvSpPr>
        <p:spPr>
          <a:xfrm>
            <a:off x="632764" y="5439804"/>
            <a:ext cx="1956691" cy="738664"/>
          </a:xfrm>
          <a:prstGeom prst="rect">
            <a:avLst/>
          </a:prstGeom>
          <a:noFill/>
        </p:spPr>
        <p:txBody>
          <a:bodyPr wrap="square" rtlCol="0">
            <a:spAutoFit/>
          </a:bodyPr>
          <a:lstStyle/>
          <a:p>
            <a:r>
              <a:rPr lang="en-US" sz="1400" b="1" dirty="0">
                <a:solidFill>
                  <a:schemeClr val="bg1"/>
                </a:solidFill>
                <a:latin typeface="Times New Roman" panose="02020603050405020304" pitchFamily="18" charset="0"/>
                <a:cs typeface="Times New Roman" panose="02020603050405020304" pitchFamily="18" charset="0"/>
              </a:rPr>
              <a:t>Service Center Board</a:t>
            </a:r>
          </a:p>
          <a:p>
            <a:pPr marL="285750" indent="-173038">
              <a:buFont typeface="Arial" panose="020B0604020202020204" pitchFamily="34" charset="0"/>
              <a:buChar char="•"/>
              <a:tabLst>
                <a:tab pos="168275" algn="l"/>
              </a:tabLst>
            </a:pPr>
            <a:r>
              <a:rPr lang="en-US" sz="1400" b="1" dirty="0">
                <a:solidFill>
                  <a:schemeClr val="bg1"/>
                </a:solidFill>
                <a:latin typeface="Times New Roman" panose="02020603050405020304" pitchFamily="18" charset="0"/>
                <a:cs typeface="Times New Roman" panose="02020603050405020304" pitchFamily="18" charset="0"/>
              </a:rPr>
              <a:t>Sector Appointees</a:t>
            </a:r>
          </a:p>
          <a:p>
            <a:pPr marL="285750" indent="-173038">
              <a:buFont typeface="Arial" panose="020B0604020202020204" pitchFamily="34" charset="0"/>
              <a:buChar char="•"/>
              <a:tabLst>
                <a:tab pos="168275" algn="l"/>
              </a:tabLst>
            </a:pPr>
            <a:endParaRPr lang="en-US" sz="1400" b="1" dirty="0">
              <a:solidFill>
                <a:schemeClr val="bg1"/>
              </a:solidFill>
              <a:latin typeface="Times New Roman" panose="02020603050405020304" pitchFamily="18" charset="0"/>
              <a:cs typeface="Times New Roman" panose="02020603050405020304" pitchFamily="18" charset="0"/>
            </a:endParaRPr>
          </a:p>
        </p:txBody>
      </p:sp>
      <p:cxnSp>
        <p:nvCxnSpPr>
          <p:cNvPr id="61" name="Straight Connector 60">
            <a:extLst>
              <a:ext uri="{FF2B5EF4-FFF2-40B4-BE49-F238E27FC236}">
                <a16:creationId xmlns:a16="http://schemas.microsoft.com/office/drawing/2014/main" id="{F5F12667-FFFE-CD86-4706-56BA2193FA5D}"/>
              </a:ext>
            </a:extLst>
          </p:cNvPr>
          <p:cNvCxnSpPr>
            <a:cxnSpLocks/>
          </p:cNvCxnSpPr>
          <p:nvPr/>
        </p:nvCxnSpPr>
        <p:spPr>
          <a:xfrm flipH="1">
            <a:off x="3470871" y="4708455"/>
            <a:ext cx="406185" cy="88135"/>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24" name="Oval 23">
            <a:extLst>
              <a:ext uri="{FF2B5EF4-FFF2-40B4-BE49-F238E27FC236}">
                <a16:creationId xmlns:a16="http://schemas.microsoft.com/office/drawing/2014/main" id="{CB3E6B48-BB55-7440-75A9-24F88042336E}"/>
              </a:ext>
            </a:extLst>
          </p:cNvPr>
          <p:cNvSpPr/>
          <p:nvPr/>
        </p:nvSpPr>
        <p:spPr>
          <a:xfrm>
            <a:off x="2384911" y="3261881"/>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rPr>
              <a:t>TeleCenter Network</a:t>
            </a:r>
          </a:p>
        </p:txBody>
      </p:sp>
      <p:sp>
        <p:nvSpPr>
          <p:cNvPr id="25" name="Oval 24">
            <a:extLst>
              <a:ext uri="{FF2B5EF4-FFF2-40B4-BE49-F238E27FC236}">
                <a16:creationId xmlns:a16="http://schemas.microsoft.com/office/drawing/2014/main" id="{31AFED72-485B-CEB4-1995-A52A9EC8B660}"/>
              </a:ext>
            </a:extLst>
          </p:cNvPr>
          <p:cNvSpPr/>
          <p:nvPr/>
        </p:nvSpPr>
        <p:spPr>
          <a:xfrm>
            <a:off x="5205845" y="3269413"/>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rPr>
              <a:t>Leadership</a:t>
            </a:r>
          </a:p>
        </p:txBody>
      </p:sp>
      <p:sp>
        <p:nvSpPr>
          <p:cNvPr id="26" name="Oval 25">
            <a:extLst>
              <a:ext uri="{FF2B5EF4-FFF2-40B4-BE49-F238E27FC236}">
                <a16:creationId xmlns:a16="http://schemas.microsoft.com/office/drawing/2014/main" id="{C029847E-DACC-C2DB-6988-1DB112D1A06B}"/>
              </a:ext>
            </a:extLst>
          </p:cNvPr>
          <p:cNvSpPr/>
          <p:nvPr/>
        </p:nvSpPr>
        <p:spPr>
          <a:xfrm>
            <a:off x="3693628" y="4119929"/>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rPr>
              <a:t>SoTA Development </a:t>
            </a:r>
          </a:p>
        </p:txBody>
      </p:sp>
      <p:cxnSp>
        <p:nvCxnSpPr>
          <p:cNvPr id="28" name="Straight Connector 27">
            <a:extLst>
              <a:ext uri="{FF2B5EF4-FFF2-40B4-BE49-F238E27FC236}">
                <a16:creationId xmlns:a16="http://schemas.microsoft.com/office/drawing/2014/main" id="{22433E0C-3501-86EA-B25C-687CD7F147B5}"/>
              </a:ext>
            </a:extLst>
          </p:cNvPr>
          <p:cNvCxnSpPr>
            <a:cxnSpLocks/>
          </p:cNvCxnSpPr>
          <p:nvPr/>
        </p:nvCxnSpPr>
        <p:spPr>
          <a:xfrm>
            <a:off x="7195663" y="2940182"/>
            <a:ext cx="760724" cy="1149288"/>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30" name="Oval 29">
            <a:extLst>
              <a:ext uri="{FF2B5EF4-FFF2-40B4-BE49-F238E27FC236}">
                <a16:creationId xmlns:a16="http://schemas.microsoft.com/office/drawing/2014/main" id="{FA66610C-FFDB-17BB-5E17-C2C6D79B9311}"/>
              </a:ext>
            </a:extLst>
          </p:cNvPr>
          <p:cNvSpPr/>
          <p:nvPr/>
        </p:nvSpPr>
        <p:spPr>
          <a:xfrm>
            <a:off x="2384911" y="3292460"/>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rPr>
              <a:t>TeleCenter Network</a:t>
            </a:r>
          </a:p>
        </p:txBody>
      </p:sp>
      <p:sp>
        <p:nvSpPr>
          <p:cNvPr id="31" name="Oval 30">
            <a:extLst>
              <a:ext uri="{FF2B5EF4-FFF2-40B4-BE49-F238E27FC236}">
                <a16:creationId xmlns:a16="http://schemas.microsoft.com/office/drawing/2014/main" id="{B20B8FB7-8D6B-EF1E-4101-1C77817E5F0E}"/>
              </a:ext>
            </a:extLst>
          </p:cNvPr>
          <p:cNvSpPr/>
          <p:nvPr/>
        </p:nvSpPr>
        <p:spPr>
          <a:xfrm>
            <a:off x="5205845" y="3299992"/>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rPr>
              <a:t>Leadership</a:t>
            </a:r>
          </a:p>
        </p:txBody>
      </p:sp>
      <p:sp>
        <p:nvSpPr>
          <p:cNvPr id="33" name="Oval 32">
            <a:extLst>
              <a:ext uri="{FF2B5EF4-FFF2-40B4-BE49-F238E27FC236}">
                <a16:creationId xmlns:a16="http://schemas.microsoft.com/office/drawing/2014/main" id="{A098A440-7A4D-878F-FC39-70959438939C}"/>
              </a:ext>
            </a:extLst>
          </p:cNvPr>
          <p:cNvSpPr/>
          <p:nvPr/>
        </p:nvSpPr>
        <p:spPr>
          <a:xfrm>
            <a:off x="3693628" y="4150508"/>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Times New Roman" panose="02020603050405020304" pitchFamily="18" charset="0"/>
                <a:cs typeface="Times New Roman" panose="02020603050405020304" pitchFamily="18" charset="0"/>
              </a:rPr>
              <a:t>SoTA Development </a:t>
            </a:r>
          </a:p>
        </p:txBody>
      </p:sp>
      <p:sp>
        <p:nvSpPr>
          <p:cNvPr id="35" name="Oval 34">
            <a:extLst>
              <a:ext uri="{FF2B5EF4-FFF2-40B4-BE49-F238E27FC236}">
                <a16:creationId xmlns:a16="http://schemas.microsoft.com/office/drawing/2014/main" id="{9C8BD777-7C49-83D0-6503-C9F242C60450}"/>
              </a:ext>
            </a:extLst>
          </p:cNvPr>
          <p:cNvSpPr/>
          <p:nvPr/>
        </p:nvSpPr>
        <p:spPr>
          <a:xfrm>
            <a:off x="6779914" y="4058891"/>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Visioning</a:t>
            </a:r>
          </a:p>
        </p:txBody>
      </p:sp>
      <p:cxnSp>
        <p:nvCxnSpPr>
          <p:cNvPr id="37" name="Straight Connector 36">
            <a:extLst>
              <a:ext uri="{FF2B5EF4-FFF2-40B4-BE49-F238E27FC236}">
                <a16:creationId xmlns:a16="http://schemas.microsoft.com/office/drawing/2014/main" id="{C0A7A25B-07A4-65CF-474D-AD303024A07C}"/>
              </a:ext>
            </a:extLst>
          </p:cNvPr>
          <p:cNvCxnSpPr>
            <a:cxnSpLocks/>
          </p:cNvCxnSpPr>
          <p:nvPr/>
        </p:nvCxnSpPr>
        <p:spPr>
          <a:xfrm>
            <a:off x="7280633" y="2940182"/>
            <a:ext cx="760724" cy="1149288"/>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38" name="Oval 37">
            <a:extLst>
              <a:ext uri="{FF2B5EF4-FFF2-40B4-BE49-F238E27FC236}">
                <a16:creationId xmlns:a16="http://schemas.microsoft.com/office/drawing/2014/main" id="{3A7F313A-A84E-6732-9272-30E64FA17FCF}"/>
              </a:ext>
            </a:extLst>
          </p:cNvPr>
          <p:cNvSpPr/>
          <p:nvPr/>
        </p:nvSpPr>
        <p:spPr>
          <a:xfrm>
            <a:off x="1173105" y="4584807"/>
            <a:ext cx="2346408" cy="733538"/>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Service Center Coordination</a:t>
            </a:r>
          </a:p>
        </p:txBody>
      </p:sp>
      <p:sp>
        <p:nvSpPr>
          <p:cNvPr id="39" name="Oval 38">
            <a:extLst>
              <a:ext uri="{FF2B5EF4-FFF2-40B4-BE49-F238E27FC236}">
                <a16:creationId xmlns:a16="http://schemas.microsoft.com/office/drawing/2014/main" id="{F233CBE8-060D-95C5-F9C9-BE90C9C9A21E}"/>
              </a:ext>
            </a:extLst>
          </p:cNvPr>
          <p:cNvSpPr/>
          <p:nvPr/>
        </p:nvSpPr>
        <p:spPr>
          <a:xfrm>
            <a:off x="2377839" y="3269412"/>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TeleCenter Network</a:t>
            </a:r>
          </a:p>
        </p:txBody>
      </p:sp>
      <p:sp>
        <p:nvSpPr>
          <p:cNvPr id="41" name="Oval 40">
            <a:extLst>
              <a:ext uri="{FF2B5EF4-FFF2-40B4-BE49-F238E27FC236}">
                <a16:creationId xmlns:a16="http://schemas.microsoft.com/office/drawing/2014/main" id="{8B3F185E-1DEF-3368-9A38-F5B553B0D570}"/>
              </a:ext>
            </a:extLst>
          </p:cNvPr>
          <p:cNvSpPr/>
          <p:nvPr/>
        </p:nvSpPr>
        <p:spPr>
          <a:xfrm>
            <a:off x="5197570" y="3284702"/>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Leadership</a:t>
            </a:r>
          </a:p>
        </p:txBody>
      </p:sp>
      <p:sp>
        <p:nvSpPr>
          <p:cNvPr id="42" name="Oval 41">
            <a:extLst>
              <a:ext uri="{FF2B5EF4-FFF2-40B4-BE49-F238E27FC236}">
                <a16:creationId xmlns:a16="http://schemas.microsoft.com/office/drawing/2014/main" id="{811F1D33-E6F3-EB2D-A0CF-CF3C88AE6B76}"/>
              </a:ext>
            </a:extLst>
          </p:cNvPr>
          <p:cNvSpPr/>
          <p:nvPr/>
        </p:nvSpPr>
        <p:spPr>
          <a:xfrm>
            <a:off x="3703905" y="4127461"/>
            <a:ext cx="2346408" cy="738663"/>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SoTA Development </a:t>
            </a:r>
          </a:p>
        </p:txBody>
      </p:sp>
      <p:cxnSp>
        <p:nvCxnSpPr>
          <p:cNvPr id="5" name="Straight Connector 4">
            <a:extLst>
              <a:ext uri="{FF2B5EF4-FFF2-40B4-BE49-F238E27FC236}">
                <a16:creationId xmlns:a16="http://schemas.microsoft.com/office/drawing/2014/main" id="{B174D095-FAC5-22A5-AB8B-04B3CA381120}"/>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396D7496-AD5D-A3FF-5340-7D2AD3CA83ED}"/>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Tree>
    <p:extLst>
      <p:ext uri="{BB962C8B-B14F-4D97-AF65-F5344CB8AC3E}">
        <p14:creationId xmlns:p14="http://schemas.microsoft.com/office/powerpoint/2010/main" val="3544490357"/>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088F8C-7CE9-55F9-19EE-2C9A3AD1C239}"/>
              </a:ext>
            </a:extLst>
          </p:cNvPr>
          <p:cNvSpPr/>
          <p:nvPr/>
        </p:nvSpPr>
        <p:spPr>
          <a:xfrm>
            <a:off x="-79612" y="0"/>
            <a:ext cx="12351224" cy="6858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0"/>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THE VIABILITY OF THE COMMUNITY SECTOR</a:t>
            </a:r>
          </a:p>
        </p:txBody>
      </p:sp>
      <p:sp>
        <p:nvSpPr>
          <p:cNvPr id="4" name="Subtitle 2">
            <a:extLst>
              <a:ext uri="{FF2B5EF4-FFF2-40B4-BE49-F238E27FC236}">
                <a16:creationId xmlns:a16="http://schemas.microsoft.com/office/drawing/2014/main" id="{15615D0E-6F01-16F0-E511-C12A8AE8B49A}"/>
              </a:ext>
            </a:extLst>
          </p:cNvPr>
          <p:cNvSpPr txBox="1">
            <a:spLocks/>
          </p:cNvSpPr>
          <p:nvPr/>
        </p:nvSpPr>
        <p:spPr>
          <a:xfrm>
            <a:off x="598120" y="1170844"/>
            <a:ext cx="11593880" cy="60422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b="1" dirty="0">
                <a:solidFill>
                  <a:schemeClr val="bg1"/>
                </a:solidFill>
                <a:latin typeface="Times New Roman" panose="02020603050405020304" pitchFamily="18" charset="0"/>
                <a:cs typeface="Times New Roman" panose="02020603050405020304" pitchFamily="18" charset="0"/>
              </a:rPr>
              <a:t>      DIVISIVE FUNDING                         COMPARATIVE MANAGEMENT</a:t>
            </a:r>
          </a:p>
        </p:txBody>
      </p:sp>
      <p:pic>
        <p:nvPicPr>
          <p:cNvPr id="9" name="Picture 8">
            <a:extLst>
              <a:ext uri="{FF2B5EF4-FFF2-40B4-BE49-F238E27FC236}">
                <a16:creationId xmlns:a16="http://schemas.microsoft.com/office/drawing/2014/main" id="{61D5919A-6D1B-9236-D3C5-0C09150B3E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8503" y="1775065"/>
            <a:ext cx="4512922" cy="3567176"/>
          </a:xfrm>
          <a:prstGeom prst="rect">
            <a:avLst/>
          </a:prstGeom>
        </p:spPr>
      </p:pic>
      <p:pic>
        <p:nvPicPr>
          <p:cNvPr id="11" name="Picture 10">
            <a:extLst>
              <a:ext uri="{FF2B5EF4-FFF2-40B4-BE49-F238E27FC236}">
                <a16:creationId xmlns:a16="http://schemas.microsoft.com/office/drawing/2014/main" id="{D6949839-5C5D-8FF7-C8B3-25A2432D9E69}"/>
              </a:ext>
            </a:extLst>
          </p:cNvPr>
          <p:cNvPicPr>
            <a:picLocks noChangeAspect="1"/>
          </p:cNvPicPr>
          <p:nvPr/>
        </p:nvPicPr>
        <p:blipFill>
          <a:blip r:embed="rId3">
            <a:extLst>
              <a:ext uri="{28A0092B-C50C-407E-A947-70E740481C1C}">
                <a14:useLocalDpi xmlns:a14="http://schemas.microsoft.com/office/drawing/2010/main" val="0"/>
              </a:ext>
            </a:extLst>
          </a:blip>
          <a:srcRect l="4814" t="7870" r="5693" b="25598"/>
          <a:stretch/>
        </p:blipFill>
        <p:spPr>
          <a:xfrm>
            <a:off x="4967565" y="1813104"/>
            <a:ext cx="6938682" cy="2063409"/>
          </a:xfrm>
          <a:prstGeom prst="rect">
            <a:avLst/>
          </a:prstGeom>
        </p:spPr>
      </p:pic>
      <p:pic>
        <p:nvPicPr>
          <p:cNvPr id="12" name="Picture 11">
            <a:extLst>
              <a:ext uri="{FF2B5EF4-FFF2-40B4-BE49-F238E27FC236}">
                <a16:creationId xmlns:a16="http://schemas.microsoft.com/office/drawing/2014/main" id="{99E4AB78-D257-1261-3BB2-44018AC38F11}"/>
              </a:ext>
            </a:extLst>
          </p:cNvPr>
          <p:cNvPicPr>
            <a:picLocks noChangeAspect="1"/>
          </p:cNvPicPr>
          <p:nvPr/>
        </p:nvPicPr>
        <p:blipFill>
          <a:blip r:embed="rId3">
            <a:extLst>
              <a:ext uri="{28A0092B-C50C-407E-A947-70E740481C1C}">
                <a14:useLocalDpi xmlns:a14="http://schemas.microsoft.com/office/drawing/2010/main" val="0"/>
              </a:ext>
            </a:extLst>
          </a:blip>
          <a:srcRect l="17315" t="74405" r="18815" b="-296"/>
          <a:stretch/>
        </p:blipFill>
        <p:spPr>
          <a:xfrm>
            <a:off x="5067517" y="4259059"/>
            <a:ext cx="6680728" cy="1083182"/>
          </a:xfrm>
          <a:prstGeom prst="rect">
            <a:avLst/>
          </a:prstGeom>
        </p:spPr>
      </p:pic>
    </p:spTree>
    <p:extLst>
      <p:ext uri="{BB962C8B-B14F-4D97-AF65-F5344CB8AC3E}">
        <p14:creationId xmlns:p14="http://schemas.microsoft.com/office/powerpoint/2010/main" val="16244245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088F8C-7CE9-55F9-19EE-2C9A3AD1C239}"/>
              </a:ext>
            </a:extLst>
          </p:cNvPr>
          <p:cNvSpPr/>
          <p:nvPr/>
        </p:nvSpPr>
        <p:spPr>
          <a:xfrm>
            <a:off x="-79612" y="0"/>
            <a:ext cx="12351224" cy="6858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0"/>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THE INFORMATION AGE COMMUNITY</a:t>
            </a:r>
          </a:p>
        </p:txBody>
      </p:sp>
      <p:sp>
        <p:nvSpPr>
          <p:cNvPr id="4" name="Subtitle 2">
            <a:extLst>
              <a:ext uri="{FF2B5EF4-FFF2-40B4-BE49-F238E27FC236}">
                <a16:creationId xmlns:a16="http://schemas.microsoft.com/office/drawing/2014/main" id="{15615D0E-6F01-16F0-E511-C12A8AE8B49A}"/>
              </a:ext>
            </a:extLst>
          </p:cNvPr>
          <p:cNvSpPr txBox="1">
            <a:spLocks/>
          </p:cNvSpPr>
          <p:nvPr/>
        </p:nvSpPr>
        <p:spPr>
          <a:xfrm>
            <a:off x="6180559" y="1228725"/>
            <a:ext cx="6045061" cy="5200650"/>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b="1" dirty="0">
                <a:solidFill>
                  <a:schemeClr val="bg1"/>
                </a:solidFill>
                <a:latin typeface="Times New Roman" panose="02020603050405020304" pitchFamily="18" charset="0"/>
                <a:cs typeface="Times New Roman" panose="02020603050405020304" pitchFamily="18" charset="0"/>
              </a:rPr>
              <a:t>The Minneapolis-St Paul IAC</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Redefines Minneapolis-St Paul “Community”-</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Restores Viability to six unique Living Environments</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Restructures Community Hierarchy</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Establishes 80 “Communities”</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Restores the Community Voice </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Empowers the Community Sector</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Market-based- not political jurisdictions</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National Prototype: 1 of 32 potential IACs</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Supports AI based decision-making</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Full, Rural-Urban, Economic Integration</a:t>
            </a:r>
          </a:p>
          <a:p>
            <a:pPr marL="342900" indent="-171450" algn="l">
              <a:spcBef>
                <a:spcPts val="600"/>
              </a:spcBef>
              <a:spcAft>
                <a:spcPts val="600"/>
              </a:spcAft>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Principles of Collaboration &amp; Critical Mass</a:t>
            </a:r>
          </a:p>
          <a:p>
            <a:pPr marL="342900" lvl="1" indent="-171450" algn="l">
              <a:buFont typeface="Arial" panose="020B0604020202020204" pitchFamily="34" charset="0"/>
              <a:buChar char="•"/>
            </a:pPr>
            <a:r>
              <a:rPr lang="en-US" sz="2200" dirty="0">
                <a:solidFill>
                  <a:schemeClr val="bg1"/>
                </a:solidFill>
                <a:latin typeface="Times New Roman" panose="02020603050405020304" pitchFamily="18" charset="0"/>
                <a:cs typeface="Times New Roman" panose="02020603050405020304" pitchFamily="18" charset="0"/>
              </a:rPr>
              <a:t>Assures Equal access to all services</a:t>
            </a:r>
          </a:p>
          <a:p>
            <a:pPr marL="342900" indent="-171450" algn="l">
              <a:buFont typeface="Arial" panose="020B0604020202020204" pitchFamily="34" charset="0"/>
              <a:buChar char="•"/>
            </a:pPr>
            <a:endParaRPr lang="en-US" b="1" dirty="0">
              <a:solidFill>
                <a:schemeClr val="bg1"/>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0A84009D-CF37-31DD-BDF8-84766738E2A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9116" y="1228725"/>
            <a:ext cx="5501443" cy="3228975"/>
          </a:xfrm>
          <a:prstGeom prst="rect">
            <a:avLst/>
          </a:prstGeom>
        </p:spPr>
      </p:pic>
    </p:spTree>
    <p:extLst>
      <p:ext uri="{BB962C8B-B14F-4D97-AF65-F5344CB8AC3E}">
        <p14:creationId xmlns:p14="http://schemas.microsoft.com/office/powerpoint/2010/main" val="5550623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088F8C-7CE9-55F9-19EE-2C9A3AD1C239}"/>
              </a:ext>
            </a:extLst>
          </p:cNvPr>
          <p:cNvSpPr/>
          <p:nvPr/>
        </p:nvSpPr>
        <p:spPr>
          <a:xfrm>
            <a:off x="0" y="-37310"/>
            <a:ext cx="12192000" cy="693261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0"/>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6. APPLYING THE TOOLS</a:t>
            </a:r>
            <a:endParaRPr lang="en-US" sz="4000" b="1" dirty="0">
              <a:solidFill>
                <a:srgbClr val="FFC000"/>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DEFF71B2-049C-4393-DA0C-92583F03C904}"/>
              </a:ext>
            </a:extLst>
          </p:cNvPr>
          <p:cNvSpPr txBox="1"/>
          <p:nvPr/>
        </p:nvSpPr>
        <p:spPr>
          <a:xfrm>
            <a:off x="520192" y="705284"/>
            <a:ext cx="6318891" cy="1261884"/>
          </a:xfrm>
          <a:prstGeom prst="rect">
            <a:avLst/>
          </a:prstGeom>
          <a:noFill/>
        </p:spPr>
        <p:txBody>
          <a:bodyPr wrap="square" rtlCol="0">
            <a:spAutoFit/>
          </a:bodyPr>
          <a:lstStyle/>
          <a:p>
            <a:r>
              <a:rPr lang="en-US" sz="2800" b="1" u="sng" dirty="0">
                <a:solidFill>
                  <a:schemeClr val="bg1"/>
                </a:solidFill>
                <a:latin typeface="Times New Roman" panose="02020603050405020304" pitchFamily="18" charset="0"/>
                <a:cs typeface="Times New Roman" panose="02020603050405020304" pitchFamily="18" charset="0"/>
              </a:rPr>
              <a:t>e-CONSENSUS</a:t>
            </a:r>
          </a:p>
          <a:p>
            <a:pPr marL="342900" indent="-342900">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Convene, Explore, Resolve, Plan</a:t>
            </a:r>
          </a:p>
          <a:p>
            <a:pPr marL="342900" indent="-342900">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Budget, Prioritize, </a:t>
            </a:r>
          </a:p>
        </p:txBody>
      </p:sp>
      <p:sp>
        <p:nvSpPr>
          <p:cNvPr id="8" name="TextBox 7">
            <a:extLst>
              <a:ext uri="{FF2B5EF4-FFF2-40B4-BE49-F238E27FC236}">
                <a16:creationId xmlns:a16="http://schemas.microsoft.com/office/drawing/2014/main" id="{6AF02A2C-54D1-A9CF-6893-FC7A54F43DE5}"/>
              </a:ext>
            </a:extLst>
          </p:cNvPr>
          <p:cNvSpPr txBox="1"/>
          <p:nvPr/>
        </p:nvSpPr>
        <p:spPr>
          <a:xfrm>
            <a:off x="5864870" y="3286146"/>
            <a:ext cx="6057767" cy="3693319"/>
          </a:xfrm>
          <a:prstGeom prst="rect">
            <a:avLst/>
          </a:prstGeom>
          <a:noFill/>
        </p:spPr>
        <p:txBody>
          <a:bodyPr wrap="square" rtlCol="0">
            <a:spAutoFit/>
          </a:bodyPr>
          <a:lstStyle/>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Annual Consensus Budgeting Cycle</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E-Consensus Prioritizes the Issues</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Viability Index Evaluates Top Priority Issues</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Perform a CIA (Community Impact Analysis)*</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Viability Index identifies those affected- form a Task Force</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Apply e-Consensus, AI and Viability Index to reveal causes / sources of the problem </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Fund the project via the Funding Collaborative</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Develop a Workplan with the  IAC Collaboratives including scaling it to variously impacted communities</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Execute the plan </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Facilitate Solution Implementation</a:t>
            </a:r>
          </a:p>
          <a:p>
            <a:pPr marL="342900" indent="-342900">
              <a:buFont typeface="+mj-lt"/>
              <a:buAutoNum type="arabicPeriod"/>
            </a:pPr>
            <a:r>
              <a:rPr lang="en-US" dirty="0">
                <a:solidFill>
                  <a:schemeClr val="bg1"/>
                </a:solidFill>
                <a:latin typeface="Times New Roman" panose="02020603050405020304" pitchFamily="18" charset="0"/>
                <a:cs typeface="Times New Roman" panose="02020603050405020304" pitchFamily="18" charset="0"/>
              </a:rPr>
              <a:t>Monitor Results with Viability Index</a:t>
            </a:r>
          </a:p>
        </p:txBody>
      </p:sp>
      <p:cxnSp>
        <p:nvCxnSpPr>
          <p:cNvPr id="9" name="Straight Connector 8">
            <a:extLst>
              <a:ext uri="{FF2B5EF4-FFF2-40B4-BE49-F238E27FC236}">
                <a16:creationId xmlns:a16="http://schemas.microsoft.com/office/drawing/2014/main" id="{C8F19259-4D8A-913A-4DA5-D2DDCA16CF5E}"/>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ECFF1CB-95A0-5B1E-3CCF-15652DF138E8}"/>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11" name="TextBox 10">
            <a:extLst>
              <a:ext uri="{FF2B5EF4-FFF2-40B4-BE49-F238E27FC236}">
                <a16:creationId xmlns:a16="http://schemas.microsoft.com/office/drawing/2014/main" id="{FB732297-91F6-2163-E1AF-9B2D479ABA57}"/>
              </a:ext>
            </a:extLst>
          </p:cNvPr>
          <p:cNvSpPr txBox="1"/>
          <p:nvPr/>
        </p:nvSpPr>
        <p:spPr>
          <a:xfrm>
            <a:off x="520190" y="2011488"/>
            <a:ext cx="6318891" cy="1261884"/>
          </a:xfrm>
          <a:prstGeom prst="rect">
            <a:avLst/>
          </a:prstGeom>
          <a:noFill/>
        </p:spPr>
        <p:txBody>
          <a:bodyPr wrap="square" rtlCol="0">
            <a:spAutoFit/>
          </a:bodyPr>
          <a:lstStyle/>
          <a:p>
            <a:r>
              <a:rPr lang="en-US" sz="2800" b="1" u="sng" dirty="0">
                <a:solidFill>
                  <a:schemeClr val="bg1"/>
                </a:solidFill>
                <a:latin typeface="Times New Roman" panose="02020603050405020304" pitchFamily="18" charset="0"/>
                <a:cs typeface="Times New Roman" panose="02020603050405020304" pitchFamily="18" charset="0"/>
              </a:rPr>
              <a:t>VIABILITY INDEX</a:t>
            </a:r>
          </a:p>
          <a:p>
            <a:pPr marL="342900" indent="-342900">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Gather, Trend, Analyze, </a:t>
            </a:r>
          </a:p>
          <a:p>
            <a:pPr marL="342900" indent="-342900">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Calculate, Profile </a:t>
            </a:r>
          </a:p>
        </p:txBody>
      </p:sp>
      <p:sp>
        <p:nvSpPr>
          <p:cNvPr id="12" name="TextBox 11">
            <a:extLst>
              <a:ext uri="{FF2B5EF4-FFF2-40B4-BE49-F238E27FC236}">
                <a16:creationId xmlns:a16="http://schemas.microsoft.com/office/drawing/2014/main" id="{12D862A0-0630-FDB3-207C-8AF2BA6959C1}"/>
              </a:ext>
            </a:extLst>
          </p:cNvPr>
          <p:cNvSpPr txBox="1"/>
          <p:nvPr/>
        </p:nvSpPr>
        <p:spPr>
          <a:xfrm>
            <a:off x="520191" y="3473563"/>
            <a:ext cx="6318891" cy="1261884"/>
          </a:xfrm>
          <a:prstGeom prst="rect">
            <a:avLst/>
          </a:prstGeom>
          <a:noFill/>
        </p:spPr>
        <p:txBody>
          <a:bodyPr wrap="square" rtlCol="0">
            <a:spAutoFit/>
          </a:bodyPr>
          <a:lstStyle/>
          <a:p>
            <a:r>
              <a:rPr lang="en-US" sz="2800" b="1" u="sng" dirty="0">
                <a:solidFill>
                  <a:schemeClr val="bg1"/>
                </a:solidFill>
                <a:latin typeface="Times New Roman" panose="02020603050405020304" pitchFamily="18" charset="0"/>
                <a:cs typeface="Times New Roman" panose="02020603050405020304" pitchFamily="18" charset="0"/>
              </a:rPr>
              <a:t>ZIP CODE DATABASE</a:t>
            </a:r>
          </a:p>
          <a:p>
            <a:pPr marL="342900" indent="-342900">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Convene, Explore, Resolve, Plan</a:t>
            </a:r>
          </a:p>
          <a:p>
            <a:pPr marL="342900" indent="-342900">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Budget, Prioritize, </a:t>
            </a:r>
          </a:p>
        </p:txBody>
      </p:sp>
      <p:sp>
        <p:nvSpPr>
          <p:cNvPr id="13" name="Rectangle: Rounded Corners 12">
            <a:extLst>
              <a:ext uri="{FF2B5EF4-FFF2-40B4-BE49-F238E27FC236}">
                <a16:creationId xmlns:a16="http://schemas.microsoft.com/office/drawing/2014/main" id="{3057E947-1420-F1EB-3D96-17F9677BBD2C}"/>
              </a:ext>
            </a:extLst>
          </p:cNvPr>
          <p:cNvSpPr/>
          <p:nvPr/>
        </p:nvSpPr>
        <p:spPr>
          <a:xfrm>
            <a:off x="10175496" y="6157518"/>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2">
                  <a:extLst>
                    <a:ext uri="{A12FA001-AC4F-418D-AE19-62706E023703}">
                      <ahyp:hlinkClr xmlns:ahyp="http://schemas.microsoft.com/office/drawing/2018/hyperlinkcolor" val="tx"/>
                    </a:ext>
                  </a:extLst>
                </a:hlinkClick>
              </a:rPr>
              <a:t> </a:t>
            </a:r>
            <a:r>
              <a:rPr lang="en-US" dirty="0">
                <a:solidFill>
                  <a:schemeClr val="bg1"/>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Load the LENS</a:t>
            </a:r>
            <a:endParaRPr lang="en-US" dirty="0">
              <a:solidFill>
                <a:schemeClr val="bg1"/>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5725DB06-6563-EE12-0CDC-46A8E28B5D56}"/>
              </a:ext>
            </a:extLst>
          </p:cNvPr>
          <p:cNvSpPr txBox="1"/>
          <p:nvPr/>
        </p:nvSpPr>
        <p:spPr>
          <a:xfrm>
            <a:off x="5864870" y="601160"/>
            <a:ext cx="6318891" cy="1261884"/>
          </a:xfrm>
          <a:prstGeom prst="rect">
            <a:avLst/>
          </a:prstGeom>
          <a:noFill/>
        </p:spPr>
        <p:txBody>
          <a:bodyPr wrap="square" rtlCol="0">
            <a:spAutoFit/>
          </a:bodyPr>
          <a:lstStyle/>
          <a:p>
            <a:r>
              <a:rPr lang="en-US" sz="2800" b="1" u="sng" dirty="0">
                <a:solidFill>
                  <a:schemeClr val="bg1"/>
                </a:solidFill>
                <a:latin typeface="Times New Roman" panose="02020603050405020304" pitchFamily="18" charset="0"/>
                <a:cs typeface="Times New Roman" panose="02020603050405020304" pitchFamily="18" charset="0"/>
              </a:rPr>
              <a:t>LENS</a:t>
            </a:r>
          </a:p>
          <a:p>
            <a:pPr marL="342900" indent="-342900">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Convene, Explore, Resolve, Plan</a:t>
            </a:r>
          </a:p>
          <a:p>
            <a:pPr marL="342900" indent="-342900">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Budget, Prioritize, </a:t>
            </a:r>
          </a:p>
        </p:txBody>
      </p:sp>
      <p:sp>
        <p:nvSpPr>
          <p:cNvPr id="15" name="TextBox 14">
            <a:extLst>
              <a:ext uri="{FF2B5EF4-FFF2-40B4-BE49-F238E27FC236}">
                <a16:creationId xmlns:a16="http://schemas.microsoft.com/office/drawing/2014/main" id="{20CE96C5-803F-6521-0C93-95F83855ED12}"/>
              </a:ext>
            </a:extLst>
          </p:cNvPr>
          <p:cNvSpPr txBox="1"/>
          <p:nvPr/>
        </p:nvSpPr>
        <p:spPr>
          <a:xfrm>
            <a:off x="5864869" y="2088023"/>
            <a:ext cx="6318891" cy="1261884"/>
          </a:xfrm>
          <a:prstGeom prst="rect">
            <a:avLst/>
          </a:prstGeom>
          <a:noFill/>
        </p:spPr>
        <p:txBody>
          <a:bodyPr wrap="square" rtlCol="0">
            <a:spAutoFit/>
          </a:bodyPr>
          <a:lstStyle/>
          <a:p>
            <a:r>
              <a:rPr lang="en-US" sz="2800" b="1" u="sng" dirty="0">
                <a:solidFill>
                  <a:schemeClr val="bg1"/>
                </a:solidFill>
                <a:latin typeface="Times New Roman" panose="02020603050405020304" pitchFamily="18" charset="0"/>
                <a:cs typeface="Times New Roman" panose="02020603050405020304" pitchFamily="18" charset="0"/>
              </a:rPr>
              <a:t>STRUCTURE</a:t>
            </a:r>
          </a:p>
          <a:p>
            <a:pPr marL="342900" indent="-342900">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Convene, Explore, Resolve, Plan</a:t>
            </a:r>
          </a:p>
          <a:p>
            <a:pPr marL="342900" indent="-342900">
              <a:buFont typeface="Arial" panose="020B0604020202020204" pitchFamily="34" charset="0"/>
              <a:buChar char="•"/>
            </a:pPr>
            <a:r>
              <a:rPr lang="en-US" sz="2400" dirty="0">
                <a:solidFill>
                  <a:schemeClr val="bg1"/>
                </a:solidFill>
                <a:latin typeface="Times New Roman" panose="02020603050405020304" pitchFamily="18" charset="0"/>
                <a:cs typeface="Times New Roman" panose="02020603050405020304" pitchFamily="18" charset="0"/>
              </a:rPr>
              <a:t>Budget, Prioritize, </a:t>
            </a:r>
          </a:p>
        </p:txBody>
      </p:sp>
    </p:spTree>
    <p:extLst>
      <p:ext uri="{BB962C8B-B14F-4D97-AF65-F5344CB8AC3E}">
        <p14:creationId xmlns:p14="http://schemas.microsoft.com/office/powerpoint/2010/main" val="16253186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088F8C-7CE9-55F9-19EE-2C9A3AD1C239}"/>
              </a:ext>
            </a:extLst>
          </p:cNvPr>
          <p:cNvSpPr/>
          <p:nvPr/>
        </p:nvSpPr>
        <p:spPr>
          <a:xfrm>
            <a:off x="0" y="0"/>
            <a:ext cx="12351224" cy="6858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63058EFB-C7E1-B5A1-7072-CD7B9F74EC16}"/>
              </a:ext>
            </a:extLst>
          </p:cNvPr>
          <p:cNvSpPr>
            <a:spLocks noGrp="1"/>
          </p:cNvSpPr>
          <p:nvPr>
            <p:ph type="subTitle" idx="1"/>
          </p:nvPr>
        </p:nvSpPr>
        <p:spPr>
          <a:xfrm>
            <a:off x="0" y="0"/>
            <a:ext cx="12192000" cy="723331"/>
          </a:xfrm>
        </p:spPr>
        <p:txBody>
          <a:bodyPr>
            <a:normAutofit/>
          </a:bodyPr>
          <a:lstStyle/>
          <a:p>
            <a:r>
              <a:rPr lang="en-US" sz="4000" b="1" dirty="0">
                <a:solidFill>
                  <a:schemeClr val="bg1"/>
                </a:solidFill>
                <a:latin typeface="Times New Roman" panose="02020603050405020304" pitchFamily="18" charset="0"/>
                <a:cs typeface="Times New Roman" panose="02020603050405020304" pitchFamily="18" charset="0"/>
              </a:rPr>
              <a:t>6. THE COMMUNICATION CHALLENGE</a:t>
            </a:r>
          </a:p>
        </p:txBody>
      </p:sp>
      <p:sp>
        <p:nvSpPr>
          <p:cNvPr id="4" name="Subtitle 2">
            <a:extLst>
              <a:ext uri="{FF2B5EF4-FFF2-40B4-BE49-F238E27FC236}">
                <a16:creationId xmlns:a16="http://schemas.microsoft.com/office/drawing/2014/main" id="{15615D0E-6F01-16F0-E511-C12A8AE8B49A}"/>
              </a:ext>
            </a:extLst>
          </p:cNvPr>
          <p:cNvSpPr txBox="1">
            <a:spLocks/>
          </p:cNvSpPr>
          <p:nvPr/>
        </p:nvSpPr>
        <p:spPr>
          <a:xfrm>
            <a:off x="1295400" y="862711"/>
            <a:ext cx="10896600" cy="561163"/>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15000"/>
              </a:lnSpc>
              <a:spcBef>
                <a:spcPts val="0"/>
              </a:spcBef>
            </a:pPr>
            <a:r>
              <a:rPr lang="en-US" sz="28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Funding     </a:t>
            </a:r>
            <a:r>
              <a:rPr lang="en-US" sz="28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                    Critical Mass                 Message &amp; Sequence</a:t>
            </a:r>
          </a:p>
          <a:p>
            <a:pPr algn="l">
              <a:lnSpc>
                <a:spcPct val="115000"/>
              </a:lnSpc>
              <a:spcBef>
                <a:spcPts val="0"/>
              </a:spcBef>
            </a:pPr>
            <a:endParaRPr lang="en-US" sz="28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indent="-342900" algn="l">
              <a:lnSpc>
                <a:spcPct val="115000"/>
              </a:lnSpc>
              <a:spcBef>
                <a:spcPts val="0"/>
              </a:spcBef>
              <a:buFont typeface="+mj-lt"/>
              <a:buAutoNum type="arabicPeriod"/>
            </a:pPr>
            <a:endParaRPr lang="en-US" sz="28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indent="-342900" algn="l">
              <a:lnSpc>
                <a:spcPct val="115000"/>
              </a:lnSpc>
              <a:spcBef>
                <a:spcPts val="0"/>
              </a:spcBef>
              <a:buFont typeface="+mj-lt"/>
              <a:buAutoNum type="arabicPeriod"/>
            </a:pPr>
            <a:endParaRPr lang="en-US" sz="28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algn="l">
              <a:lnSpc>
                <a:spcPct val="115000"/>
              </a:lnSpc>
              <a:spcBef>
                <a:spcPts val="0"/>
              </a:spcBef>
            </a:pPr>
            <a:endParaRPr lang="en-US" sz="28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indent="-342900" algn="l">
              <a:lnSpc>
                <a:spcPct val="115000"/>
              </a:lnSpc>
              <a:spcBef>
                <a:spcPts val="0"/>
              </a:spcBef>
              <a:buFont typeface="+mj-lt"/>
              <a:buAutoNum type="arabicPeriod"/>
            </a:pPr>
            <a:endParaRPr lang="en-US" sz="28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28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28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28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28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28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28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28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28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rabicPeriod"/>
            </a:pPr>
            <a:endParaRPr lang="en-US" sz="28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2" name="Subtitle 2">
            <a:extLst>
              <a:ext uri="{FF2B5EF4-FFF2-40B4-BE49-F238E27FC236}">
                <a16:creationId xmlns:a16="http://schemas.microsoft.com/office/drawing/2014/main" id="{D25AB567-7132-BB1A-02E8-003662A5A8AE}"/>
              </a:ext>
            </a:extLst>
          </p:cNvPr>
          <p:cNvSpPr txBox="1">
            <a:spLocks/>
          </p:cNvSpPr>
          <p:nvPr/>
        </p:nvSpPr>
        <p:spPr>
          <a:xfrm>
            <a:off x="419100" y="1176516"/>
            <a:ext cx="3333750" cy="4872962"/>
          </a:xfrm>
          <a:prstGeom prst="rect">
            <a:avLst/>
          </a:prstGeom>
        </p:spPr>
        <p:txBody>
          <a:bodyPr vert="horz" lIns="91440" tIns="45720" rIns="91440" bIns="45720" rtlCol="0">
            <a:normAutofit fontScale="92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15000"/>
              </a:lnSpc>
              <a:spcBef>
                <a:spcPts val="0"/>
              </a:spcBef>
            </a:pPr>
            <a:r>
              <a:rPr lang="en-US" sz="1600"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  </a:t>
            </a:r>
          </a:p>
          <a:p>
            <a:pPr marL="342900" indent="-342900" algn="l">
              <a:lnSpc>
                <a:spcPct val="115000"/>
              </a:lnSpc>
              <a:spcBef>
                <a:spcPts val="0"/>
              </a:spcBef>
              <a:buFont typeface="+mj-lt"/>
              <a:buAutoNum type="alphaU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Foundations and Agencies focus on:</a:t>
            </a:r>
          </a:p>
          <a:p>
            <a:pPr marL="800100" lvl="1" indent="-342900" algn="l">
              <a:lnSpc>
                <a:spcPct val="115000"/>
              </a:lnSpc>
              <a:spcBef>
                <a:spcPts val="0"/>
              </a:spcBef>
              <a:buFont typeface="+mj-lt"/>
              <a:buAutoNum type="arabi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Silo grants</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Jurisdictional boundaries</a:t>
            </a: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indent="-342900" algn="l">
              <a:lnSpc>
                <a:spcPct val="115000"/>
              </a:lnSpc>
              <a:spcBef>
                <a:spcPts val="0"/>
              </a:spcBef>
              <a:buFont typeface="+mj-lt"/>
              <a:buAutoNum type="alphaU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Bush &amp; Deloitte are supporting transformation funding</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But their history is silos</a:t>
            </a:r>
          </a:p>
          <a:p>
            <a:pPr marL="800100" lvl="1" indent="-342900" algn="l">
              <a:lnSpc>
                <a:spcPct val="115000"/>
              </a:lnSpc>
              <a:spcBef>
                <a:spcPts val="0"/>
              </a:spcBef>
              <a:buFont typeface="+mj-lt"/>
              <a:buAutoNum type="arabi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None of the IAC components are familiar to them</a:t>
            </a:r>
          </a:p>
          <a:p>
            <a:pPr marL="342900" indent="-342900" algn="l">
              <a:lnSpc>
                <a:spcPct val="115000"/>
              </a:lnSpc>
              <a:spcBef>
                <a:spcPts val="0"/>
              </a:spcBef>
              <a:buFont typeface="+mj-lt"/>
              <a:buAutoNum type="alphaUcPeriod"/>
            </a:pPr>
            <a:r>
              <a:rPr 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The IAC is a Partnership</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Technology- Starlink</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Health Care- Mayo</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Transit- Podways</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The Alliance- Media?</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Education- Modern States</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Technology- many---</a:t>
            </a:r>
          </a:p>
          <a:p>
            <a:pPr marL="1257300" lvl="2" indent="-342900" algn="l">
              <a:lnSpc>
                <a:spcPct val="115000"/>
              </a:lnSpc>
              <a:spcBef>
                <a:spcPts val="0"/>
              </a:spcBef>
              <a:buFont typeface="+mj-lt"/>
              <a:buAutoNum type="alphaLcPeriod"/>
            </a:pPr>
            <a:r>
              <a:rPr lang="en-US" sz="14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Regional TeleCenter</a:t>
            </a:r>
          </a:p>
          <a:p>
            <a:pPr marL="1257300" lvl="2" indent="-342900" algn="l">
              <a:lnSpc>
                <a:spcPct val="115000"/>
              </a:lnSpc>
              <a:spcBef>
                <a:spcPts val="0"/>
              </a:spcBef>
              <a:buFont typeface="+mj-lt"/>
              <a:buAutoNum type="alphaLcPeriod"/>
            </a:pPr>
            <a:r>
              <a:rPr lang="en-US" sz="14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Community TeleCenters</a:t>
            </a:r>
          </a:p>
          <a:p>
            <a:pPr marL="1257300" lvl="2" indent="-342900" algn="l">
              <a:lnSpc>
                <a:spcPct val="115000"/>
              </a:lnSpc>
              <a:spcBef>
                <a:spcPts val="0"/>
              </a:spcBef>
              <a:buFont typeface="+mj-lt"/>
              <a:buAutoNum type="alphaLcPeriod"/>
            </a:pPr>
            <a:r>
              <a:rPr lang="en-US" sz="14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E-Consensus</a:t>
            </a:r>
          </a:p>
          <a:p>
            <a:pPr marL="1257300" lvl="2" indent="-342900" algn="l">
              <a:lnSpc>
                <a:spcPct val="115000"/>
              </a:lnSpc>
              <a:spcBef>
                <a:spcPts val="0"/>
              </a:spcBef>
              <a:buFont typeface="+mj-lt"/>
              <a:buAutoNum type="alphaLcPeriod"/>
            </a:pPr>
            <a:r>
              <a:rPr lang="en-US" sz="14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TCR</a:t>
            </a:r>
          </a:p>
          <a:p>
            <a:pPr marL="1257300" lvl="2" indent="-342900" algn="l">
              <a:lnSpc>
                <a:spcPct val="115000"/>
              </a:lnSpc>
              <a:spcBef>
                <a:spcPts val="0"/>
              </a:spcBef>
              <a:buFont typeface="+mj-lt"/>
              <a:buAutoNum type="alphaLcPeriod"/>
            </a:pPr>
            <a:endParaRPr lang="en-US" sz="14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800100" lvl="1" indent="-342900" algn="l">
              <a:lnSpc>
                <a:spcPct val="115000"/>
              </a:lnSpc>
              <a:spcBef>
                <a:spcPts val="0"/>
              </a:spcBef>
              <a:buFont typeface="+mj-lt"/>
              <a:buAutoNum type="arabi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800100" lvl="1" indent="-342900" algn="l">
              <a:lnSpc>
                <a:spcPct val="115000"/>
              </a:lnSpc>
              <a:spcBef>
                <a:spcPts val="0"/>
              </a:spcBef>
              <a:buFont typeface="+mj-lt"/>
              <a:buAutoNum type="arabi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indent="-342900" algn="l">
              <a:lnSpc>
                <a:spcPct val="115000"/>
              </a:lnSpc>
              <a:spcBef>
                <a:spcPts val="0"/>
              </a:spcBef>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indent="-342900" algn="l">
              <a:lnSpc>
                <a:spcPct val="115000"/>
              </a:lnSpc>
              <a:spcBef>
                <a:spcPts val="0"/>
              </a:spcBef>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indent="-342900" algn="l">
              <a:lnSpc>
                <a:spcPct val="115000"/>
              </a:lnSpc>
              <a:spcBef>
                <a:spcPts val="0"/>
              </a:spcBef>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indent="-342900" algn="l">
              <a:lnSpc>
                <a:spcPct val="115000"/>
              </a:lnSpc>
              <a:spcBef>
                <a:spcPts val="0"/>
              </a:spcBef>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indent="-342900" algn="l">
              <a:lnSpc>
                <a:spcPct val="115000"/>
              </a:lnSpc>
              <a:spcBef>
                <a:spcPts val="0"/>
              </a:spcBef>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16" name="Subtitle 2">
            <a:extLst>
              <a:ext uri="{FF2B5EF4-FFF2-40B4-BE49-F238E27FC236}">
                <a16:creationId xmlns:a16="http://schemas.microsoft.com/office/drawing/2014/main" id="{F268D25E-79A9-D6E6-04B5-7221EE384C56}"/>
              </a:ext>
            </a:extLst>
          </p:cNvPr>
          <p:cNvSpPr txBox="1">
            <a:spLocks/>
          </p:cNvSpPr>
          <p:nvPr/>
        </p:nvSpPr>
        <p:spPr>
          <a:xfrm>
            <a:off x="4476749" y="1469876"/>
            <a:ext cx="3676295" cy="339739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lnSpc>
                <a:spcPct val="115000"/>
              </a:lnSpc>
              <a:spcBef>
                <a:spcPts val="0"/>
              </a:spcBef>
              <a:buFont typeface="+mj-lt"/>
              <a:buAutoNum type="alphaU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The IAC is comprehensive and integrated-</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Must be designed</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Must have partners</a:t>
            </a:r>
          </a:p>
          <a:p>
            <a:pPr marL="800100" lvl="1" indent="-342900" algn="l">
              <a:lnSpc>
                <a:spcPct val="115000"/>
              </a:lnSpc>
              <a:spcBef>
                <a:spcPts val="0"/>
              </a:spcBef>
              <a:buFont typeface="+mj-lt"/>
              <a:buAutoNum type="arabi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Must be Integrated</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Must be understood</a:t>
            </a:r>
          </a:p>
          <a:p>
            <a:pPr marL="342900" indent="-342900" algn="l">
              <a:lnSpc>
                <a:spcPct val="115000"/>
              </a:lnSpc>
              <a:spcBef>
                <a:spcPts val="0"/>
              </a:spcBef>
              <a:buFont typeface="+mj-lt"/>
              <a:buAutoNum type="alphaU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It will be the Community’s Choice</a:t>
            </a: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800100" lvl="1" indent="-342900" algn="l">
              <a:lnSpc>
                <a:spcPct val="115000"/>
              </a:lnSpc>
              <a:spcBef>
                <a:spcPts val="0"/>
              </a:spcBef>
              <a:buFont typeface="+mj-lt"/>
              <a:buAutoNum type="arabi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Must be credible</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Must have buy-in</a:t>
            </a:r>
          </a:p>
          <a:p>
            <a:pPr marL="800100" lvl="1" indent="-342900" algn="l">
              <a:lnSpc>
                <a:spcPct val="115000"/>
              </a:lnSpc>
              <a:spcBef>
                <a:spcPts val="0"/>
              </a:spcBef>
              <a:buFont typeface="+mj-lt"/>
              <a:buAutoNum type="arabi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Must have Board</a:t>
            </a:r>
          </a:p>
          <a:p>
            <a:pPr marL="800100" lvl="1" indent="-342900" algn="l">
              <a:lnSpc>
                <a:spcPct val="115000"/>
              </a:lnSpc>
              <a:spcBef>
                <a:spcPts val="0"/>
              </a:spcBef>
              <a:buFont typeface="+mj-lt"/>
              <a:buAutoNum type="arabi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Must have collaboratives</a:t>
            </a: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indent="-342900" algn="l">
              <a:lnSpc>
                <a:spcPct val="115000"/>
              </a:lnSpc>
              <a:spcBef>
                <a:spcPts val="0"/>
              </a:spcBef>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17" name="Subtitle 2">
            <a:extLst>
              <a:ext uri="{FF2B5EF4-FFF2-40B4-BE49-F238E27FC236}">
                <a16:creationId xmlns:a16="http://schemas.microsoft.com/office/drawing/2014/main" id="{08E9DDB0-A8EC-1B17-44E1-FA06CCC7AEA0}"/>
              </a:ext>
            </a:extLst>
          </p:cNvPr>
          <p:cNvSpPr txBox="1">
            <a:spLocks/>
          </p:cNvSpPr>
          <p:nvPr/>
        </p:nvSpPr>
        <p:spPr>
          <a:xfrm>
            <a:off x="8731369" y="1469876"/>
            <a:ext cx="3041531" cy="417844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lnSpc>
                <a:spcPct val="115000"/>
              </a:lnSpc>
              <a:spcBef>
                <a:spcPts val="0"/>
              </a:spcBef>
              <a:buFont typeface="+mj-lt"/>
              <a:buAutoNum type="alphaU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The Need</a:t>
            </a:r>
          </a:p>
          <a:p>
            <a:pPr marL="342900" indent="-342900" algn="l">
              <a:lnSpc>
                <a:spcPct val="115000"/>
              </a:lnSpc>
              <a:spcBef>
                <a:spcPts val="0"/>
              </a:spcBef>
              <a:buFont typeface="+mj-lt"/>
              <a:buAutoNum type="alphaU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The Solution</a:t>
            </a:r>
          </a:p>
          <a:p>
            <a:pPr marL="342900" indent="-342900" algn="l">
              <a:lnSpc>
                <a:spcPct val="115000"/>
              </a:lnSpc>
              <a:spcBef>
                <a:spcPts val="0"/>
              </a:spcBef>
              <a:buFont typeface="+mj-lt"/>
              <a:buAutoNum type="alphaU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The Package</a:t>
            </a:r>
          </a:p>
          <a:p>
            <a:pPr marL="342900" indent="-342900" algn="l">
              <a:lnSpc>
                <a:spcPct val="115000"/>
              </a:lnSpc>
              <a:spcBef>
                <a:spcPts val="0"/>
              </a:spcBef>
              <a:buFont typeface="+mj-lt"/>
              <a:buAutoNum type="alphaU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Credibility</a:t>
            </a:r>
          </a:p>
          <a:p>
            <a:pPr marL="342900" indent="-342900" algn="l">
              <a:lnSpc>
                <a:spcPct val="115000"/>
              </a:lnSpc>
              <a:spcBef>
                <a:spcPts val="0"/>
              </a:spcBef>
              <a:buFont typeface="+mj-lt"/>
              <a:buAutoNum type="alphaU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The Structure</a:t>
            </a:r>
          </a:p>
          <a:p>
            <a:pPr algn="l">
              <a:lnSpc>
                <a:spcPct val="115000"/>
              </a:lnSpc>
              <a:spcBef>
                <a:spcPts val="0"/>
              </a:spcBef>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Funding vs Partners</a:t>
            </a:r>
          </a:p>
          <a:p>
            <a:pPr marL="342900" marR="0" lvl="0" indent="-342900" algn="l">
              <a:lnSpc>
                <a:spcPct val="115000"/>
              </a:lnSpc>
              <a:spcBef>
                <a:spcPts val="0"/>
              </a:spcBef>
              <a:spcAft>
                <a:spcPts val="0"/>
              </a:spcAft>
              <a:buFont typeface="+mj-lt"/>
              <a:buAutoNum type="alphaUcPeriod"/>
            </a:pP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Demo vs Request</a:t>
            </a:r>
          </a:p>
          <a:p>
            <a:pPr marL="342900" marR="0" lvl="0" indent="-342900" algn="l">
              <a:lnSpc>
                <a:spcPct val="115000"/>
              </a:lnSpc>
              <a:spcBef>
                <a:spcPts val="0"/>
              </a:spcBef>
              <a:spcAft>
                <a:spcPts val="0"/>
              </a:spcAft>
              <a:buFont typeface="+mj-lt"/>
              <a:buAutoNum type="alphaUcPeriod"/>
            </a:pPr>
            <a:r>
              <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rPr>
              <a:t>Rec</a:t>
            </a:r>
            <a:r>
              <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ruitment vs Package</a:t>
            </a: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gn="l">
              <a:lnSpc>
                <a:spcPct val="115000"/>
              </a:lnSpc>
              <a:spcBef>
                <a:spcPts val="0"/>
              </a:spcBef>
              <a:spcAft>
                <a:spcPts val="0"/>
              </a:spcAft>
              <a:buFont typeface="+mj-lt"/>
              <a:buAutoNum type="alphaUcPeriod"/>
            </a:pPr>
            <a:endParaRPr lang="en-US" sz="16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p:txBody>
      </p:sp>
      <p:cxnSp>
        <p:nvCxnSpPr>
          <p:cNvPr id="6" name="Straight Connector 5">
            <a:extLst>
              <a:ext uri="{FF2B5EF4-FFF2-40B4-BE49-F238E27FC236}">
                <a16:creationId xmlns:a16="http://schemas.microsoft.com/office/drawing/2014/main" id="{D631D10B-CE4E-B437-6A49-92081CB6CA6D}"/>
              </a:ext>
            </a:extLst>
          </p:cNvPr>
          <p:cNvCxnSpPr>
            <a:cxnSpLocks/>
          </p:cNvCxnSpPr>
          <p:nvPr/>
        </p:nvCxnSpPr>
        <p:spPr>
          <a:xfrm>
            <a:off x="0" y="6038850"/>
            <a:ext cx="12192000"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5D1211B6-134B-AEF0-F6F2-C896D7CB6CDD}"/>
              </a:ext>
            </a:extLst>
          </p:cNvPr>
          <p:cNvSpPr txBox="1"/>
          <p:nvPr/>
        </p:nvSpPr>
        <p:spPr>
          <a:xfrm>
            <a:off x="0" y="6115050"/>
            <a:ext cx="4867275" cy="584775"/>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Revitalizing Small Town America</a:t>
            </a:r>
          </a:p>
          <a:p>
            <a:r>
              <a:rPr lang="en-US" sz="1400" i="1" dirty="0">
                <a:solidFill>
                  <a:schemeClr val="bg1"/>
                </a:solidFill>
                <a:latin typeface="Times New Roman" panose="02020603050405020304" pitchFamily="18" charset="0"/>
                <a:cs typeface="Times New Roman" panose="02020603050405020304" pitchFamily="18" charset="0"/>
              </a:rPr>
              <a:t>© Tele-Commuter Resources, Inc  August, 2026</a:t>
            </a:r>
          </a:p>
        </p:txBody>
      </p:sp>
      <p:sp>
        <p:nvSpPr>
          <p:cNvPr id="8" name="Rectangle: Rounded Corners 7">
            <a:extLst>
              <a:ext uri="{FF2B5EF4-FFF2-40B4-BE49-F238E27FC236}">
                <a16:creationId xmlns:a16="http://schemas.microsoft.com/office/drawing/2014/main" id="{C4D6B2E8-FD38-DE31-8A23-97BE9AEC6EAB}"/>
              </a:ext>
            </a:extLst>
          </p:cNvPr>
          <p:cNvSpPr/>
          <p:nvPr/>
        </p:nvSpPr>
        <p:spPr>
          <a:xfrm>
            <a:off x="10175496" y="6157518"/>
            <a:ext cx="1733550" cy="619124"/>
          </a:xfrm>
          <a:prstGeom prst="roundRect">
            <a:avLst/>
          </a:prstGeom>
          <a:solidFill>
            <a:schemeClr val="tx2">
              <a:lumMod val="75000"/>
              <a:lumOff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Times New Roman" panose="02020603050405020304" pitchFamily="18" charset="0"/>
                <a:cs typeface="Times New Roman" panose="02020603050405020304" pitchFamily="18" charset="0"/>
                <a:hlinkClick r:id="rId2">
                  <a:extLst>
                    <a:ext uri="{A12FA001-AC4F-418D-AE19-62706E023703}">
                      <ahyp:hlinkClr xmlns:ahyp="http://schemas.microsoft.com/office/drawing/2018/hyperlinkcolor" val="tx"/>
                    </a:ext>
                  </a:extLst>
                </a:hlinkClick>
              </a:rPr>
              <a:t> </a:t>
            </a:r>
            <a:r>
              <a:rPr lang="en-US" dirty="0">
                <a:solidFill>
                  <a:schemeClr val="bg1"/>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Load the LENS</a:t>
            </a:r>
            <a:endParaRPr lang="en-US"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474320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11615</TotalTime>
  <Words>3770</Words>
  <Application>Microsoft Office PowerPoint</Application>
  <PresentationFormat>Widescreen</PresentationFormat>
  <Paragraphs>749</Paragraphs>
  <Slides>63</Slides>
  <Notes>2</Notes>
  <HiddenSlides>11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63</vt:i4>
      </vt:variant>
    </vt:vector>
  </HeadingPairs>
  <TitlesOfParts>
    <vt:vector size="69" baseType="lpstr">
      <vt:lpstr>Aptos</vt:lpstr>
      <vt:lpstr>Aptos Display</vt:lpstr>
      <vt:lpstr>Arial</vt:lpstr>
      <vt:lpstr>Stencil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Sanger</dc:creator>
  <cp:lastModifiedBy>John Sanger</cp:lastModifiedBy>
  <cp:revision>62</cp:revision>
  <dcterms:created xsi:type="dcterms:W3CDTF">2026-07-31T16:59:53Z</dcterms:created>
  <dcterms:modified xsi:type="dcterms:W3CDTF">2026-09-02T15:49:55Z</dcterms:modified>
</cp:coreProperties>
</file>