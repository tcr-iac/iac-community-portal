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84" r:id="rId2"/>
    <p:sldId id="327" r:id="rId3"/>
    <p:sldId id="258" r:id="rId4"/>
    <p:sldId id="256" r:id="rId5"/>
    <p:sldId id="282" r:id="rId6"/>
    <p:sldId id="334" r:id="rId7"/>
    <p:sldId id="328" r:id="rId8"/>
    <p:sldId id="324" r:id="rId9"/>
    <p:sldId id="332" r:id="rId10"/>
    <p:sldId id="333" r:id="rId11"/>
    <p:sldId id="280" r:id="rId12"/>
    <p:sldId id="259" r:id="rId13"/>
    <p:sldId id="281" r:id="rId14"/>
    <p:sldId id="329" r:id="rId15"/>
    <p:sldId id="330" r:id="rId16"/>
    <p:sldId id="294" r:id="rId17"/>
    <p:sldId id="316" r:id="rId18"/>
    <p:sldId id="335" r:id="rId19"/>
    <p:sldId id="326" r:id="rId20"/>
    <p:sldId id="325" r:id="rId21"/>
    <p:sldId id="336" r:id="rId22"/>
    <p:sldId id="331" r:id="rId23"/>
    <p:sldId id="338" r:id="rId24"/>
    <p:sldId id="337" r:id="rId25"/>
    <p:sldId id="339" r:id="rId26"/>
    <p:sldId id="340" r:id="rId27"/>
    <p:sldId id="285" r:id="rId28"/>
    <p:sldId id="323" r:id="rId29"/>
    <p:sldId id="264" r:id="rId30"/>
    <p:sldId id="263" r:id="rId31"/>
    <p:sldId id="322" r:id="rId32"/>
    <p:sldId id="269" r:id="rId33"/>
    <p:sldId id="265" r:id="rId34"/>
    <p:sldId id="27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1" d="100"/>
          <a:sy n="101" d="100"/>
        </p:scale>
        <p:origin x="840" y="10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11059-984B-482B-853D-84D823DCF0A5}" type="datetimeFigureOut">
              <a:rPr lang="en-US" smtClean="0"/>
              <a:t>8/14/2026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E74D84-3E4C-4333-A4BB-707EE2995693}" type="slidenum">
              <a:rPr lang="en-US" smtClean="0"/>
              <a:t>‹#›</a:t>
            </a:fld>
            <a:endParaRPr lang="en-US"/>
          </a:p>
        </p:txBody>
      </p:sp>
    </p:spTree>
    <p:extLst>
      <p:ext uri="{BB962C8B-B14F-4D97-AF65-F5344CB8AC3E}">
        <p14:creationId xmlns:p14="http://schemas.microsoft.com/office/powerpoint/2010/main" val="2166389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E1078-1D62-5582-713A-914146E74F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10BBCE-8CC3-BBFF-85C1-44B60C15A1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7462C6-808A-2313-F20A-81A65366F86E}"/>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5" name="Footer Placeholder 4">
            <a:extLst>
              <a:ext uri="{FF2B5EF4-FFF2-40B4-BE49-F238E27FC236}">
                <a16:creationId xmlns:a16="http://schemas.microsoft.com/office/drawing/2014/main" id="{A94578A1-6D90-4A15-4D6C-E4F143CB570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13F5A92-BEDE-41E6-A1CE-38DA30860286}"/>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3806544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A3778-FB37-13B9-1DDC-2C74C52240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888681-1E1B-992B-9E81-ECF41849F9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81CB1A-A3B6-9A7A-5109-0D4B2493D9B0}"/>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5" name="Footer Placeholder 4">
            <a:extLst>
              <a:ext uri="{FF2B5EF4-FFF2-40B4-BE49-F238E27FC236}">
                <a16:creationId xmlns:a16="http://schemas.microsoft.com/office/drawing/2014/main" id="{77193597-92CC-13A0-D19E-062EDF044BA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9AFB8C-D762-EBA5-6980-89225F4314FA}"/>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2065190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FEEA1-2E5F-2C99-1230-89827A7497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087C47-2B12-D5D2-489D-C58D11AF07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C6C3F7-1AE8-DE4D-C9BE-71B1CB409D18}"/>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5" name="Footer Placeholder 4">
            <a:extLst>
              <a:ext uri="{FF2B5EF4-FFF2-40B4-BE49-F238E27FC236}">
                <a16:creationId xmlns:a16="http://schemas.microsoft.com/office/drawing/2014/main" id="{12D3696A-8F55-984E-85B0-80BC7B380E7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BDE9F08-A32A-EFE1-FA9E-924C77254847}"/>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4206131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585BF-DC25-8DB5-B816-E2AFDC00F8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2F6B57-3DD7-9E1F-B00C-D8D6F66EDD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564EE7-8F8F-F467-F770-6729CA8D09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120F29-D4FA-4578-AA2C-8DF71A0617CE}"/>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6" name="Footer Placeholder 5">
            <a:extLst>
              <a:ext uri="{FF2B5EF4-FFF2-40B4-BE49-F238E27FC236}">
                <a16:creationId xmlns:a16="http://schemas.microsoft.com/office/drawing/2014/main" id="{960FEBEB-1FFD-61AD-62AC-002DC4586D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6041D39-F5A2-905B-8B8F-FC5D82D6FA07}"/>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2887083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FDC9-7D49-953F-0D53-5BD3C86697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66E394-9CA2-FCD8-FCAC-DD06E66DA3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FEE694-4423-302A-47EE-9323177161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DF3CC3-068A-E6AB-3150-00976E6AEB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CACDF8-CCDD-7645-B168-B3ABE315CB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6E53D1-7D0C-0775-6E84-82A1F26E279D}"/>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8" name="Footer Placeholder 7">
            <a:extLst>
              <a:ext uri="{FF2B5EF4-FFF2-40B4-BE49-F238E27FC236}">
                <a16:creationId xmlns:a16="http://schemas.microsoft.com/office/drawing/2014/main" id="{9CB9DDD8-5C95-19BF-16F3-2FAC0EF3C4D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84AEAF7-5FCD-135A-D8ED-08A54973F5D0}"/>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2299237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6FA53-5174-6062-CD81-8A41E3467F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DBC66D-953E-5B91-42DA-1143EDEF4A18}"/>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4" name="Footer Placeholder 3">
            <a:extLst>
              <a:ext uri="{FF2B5EF4-FFF2-40B4-BE49-F238E27FC236}">
                <a16:creationId xmlns:a16="http://schemas.microsoft.com/office/drawing/2014/main" id="{0072B11D-C8E8-ECDE-B699-ACEA6F75DD2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C460CBF-3037-A8CC-DF25-D6A8A19909DE}"/>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3657422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67822A-437C-C535-F404-989EF1A06EC5}"/>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3" name="Footer Placeholder 2">
            <a:extLst>
              <a:ext uri="{FF2B5EF4-FFF2-40B4-BE49-F238E27FC236}">
                <a16:creationId xmlns:a16="http://schemas.microsoft.com/office/drawing/2014/main" id="{1457489A-A26E-FA0B-990E-7DF8A3F6115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CCBDB6A-9109-141F-1627-C26092BBD2FA}"/>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255432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3BC0F-63DD-DFA2-1556-12D1EB9D80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C3DFEAC-F7BF-8478-4226-F30EADBD3B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B4106B-03EF-13A6-571C-4ACA361E8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5B0C92-F2D3-E177-9B0A-3A8AD9CC4C6B}"/>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6" name="Footer Placeholder 5">
            <a:extLst>
              <a:ext uri="{FF2B5EF4-FFF2-40B4-BE49-F238E27FC236}">
                <a16:creationId xmlns:a16="http://schemas.microsoft.com/office/drawing/2014/main" id="{F5D61457-912A-9974-9FBF-20C71B47D56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DEAA187-9B4C-5C4F-FE74-AB0B57746A63}"/>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3959660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7496-1F0A-B499-BE8E-7E26F26721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C54CB5-D6CF-9581-DEFB-349B5C0A96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568497A7-D053-4B9A-B2E9-A7345286FA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30B4C3-6FB7-57CC-B57B-B56BCEBBA7F6}"/>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6" name="Footer Placeholder 5">
            <a:extLst>
              <a:ext uri="{FF2B5EF4-FFF2-40B4-BE49-F238E27FC236}">
                <a16:creationId xmlns:a16="http://schemas.microsoft.com/office/drawing/2014/main" id="{0A4E2BFB-BBF8-E7B7-176F-AC03CF62A18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E70D440-6E40-8B8E-8F13-AAD9C75D72EA}"/>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2782116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E4C47-F954-0785-F3FF-7C16EC1F24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846DBE-2232-075F-2091-608EC7511A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167423-A657-DD90-209D-FC4CE9DF2A2C}"/>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5" name="Footer Placeholder 4">
            <a:extLst>
              <a:ext uri="{FF2B5EF4-FFF2-40B4-BE49-F238E27FC236}">
                <a16:creationId xmlns:a16="http://schemas.microsoft.com/office/drawing/2014/main" id="{920B8B8E-011D-3659-0722-46038CBEC4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1551F76-A9FD-44F0-DADB-DEFAAED29CD8}"/>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3040324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6AA19B-2087-E2C6-BEDB-F4E6F3D727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D72204-E02E-5A19-95E1-C51E38F49B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D6623-A5EE-5828-065C-20CD7AD0B170}"/>
              </a:ext>
            </a:extLst>
          </p:cNvPr>
          <p:cNvSpPr>
            <a:spLocks noGrp="1"/>
          </p:cNvSpPr>
          <p:nvPr>
            <p:ph type="dt" sz="half" idx="10"/>
          </p:nvPr>
        </p:nvSpPr>
        <p:spPr/>
        <p:txBody>
          <a:bodyPr/>
          <a:lstStyle/>
          <a:p>
            <a:fld id="{254D0F3F-D97D-4516-82EE-F5E724098CBF}" type="datetimeFigureOut">
              <a:rPr lang="en-US" smtClean="0"/>
              <a:t>8/14/2026</a:t>
            </a:fld>
            <a:endParaRPr lang="en-US" dirty="0"/>
          </a:p>
        </p:txBody>
      </p:sp>
      <p:sp>
        <p:nvSpPr>
          <p:cNvPr id="5" name="Footer Placeholder 4">
            <a:extLst>
              <a:ext uri="{FF2B5EF4-FFF2-40B4-BE49-F238E27FC236}">
                <a16:creationId xmlns:a16="http://schemas.microsoft.com/office/drawing/2014/main" id="{203DE48B-3F90-4CD7-957F-508A79EB1E8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E4EF6FD-466C-1F14-5154-98A35EE5F81B}"/>
              </a:ext>
            </a:extLst>
          </p:cNvPr>
          <p:cNvSpPr>
            <a:spLocks noGrp="1"/>
          </p:cNvSpPr>
          <p:nvPr>
            <p:ph type="sldNum" sz="quarter" idx="12"/>
          </p:nvPr>
        </p:nvSpPr>
        <p:spPr/>
        <p:txBody>
          <a:bodyPr/>
          <a:lstStyle/>
          <a:p>
            <a:fld id="{0B094978-4F61-44A6-9ADD-F3DA41521C6A}" type="slidenum">
              <a:rPr lang="en-US" smtClean="0"/>
              <a:t>‹#›</a:t>
            </a:fld>
            <a:endParaRPr lang="en-US" dirty="0"/>
          </a:p>
        </p:txBody>
      </p:sp>
    </p:spTree>
    <p:extLst>
      <p:ext uri="{BB962C8B-B14F-4D97-AF65-F5344CB8AC3E}">
        <p14:creationId xmlns:p14="http://schemas.microsoft.com/office/powerpoint/2010/main" val="2177218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3EA75C-94EF-FE31-E474-2800FE1D9A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248533-CFC6-79AE-D2A5-453E70DDB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12AB87-68FE-EFC6-9CE4-3239A9C431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4D0F3F-D97D-4516-82EE-F5E724098CBF}" type="datetimeFigureOut">
              <a:rPr lang="en-US" smtClean="0"/>
              <a:t>8/14/2026</a:t>
            </a:fld>
            <a:endParaRPr lang="en-US" dirty="0"/>
          </a:p>
        </p:txBody>
      </p:sp>
      <p:sp>
        <p:nvSpPr>
          <p:cNvPr id="5" name="Footer Placeholder 4">
            <a:extLst>
              <a:ext uri="{FF2B5EF4-FFF2-40B4-BE49-F238E27FC236}">
                <a16:creationId xmlns:a16="http://schemas.microsoft.com/office/drawing/2014/main" id="{5191FBB3-0F2B-9763-A9BC-221F0E6FF7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1D7F17C0-E254-C101-CF9F-83E3FEB9EC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094978-4F61-44A6-9ADD-F3DA41521C6A}" type="slidenum">
              <a:rPr lang="en-US" smtClean="0"/>
              <a:t>‹#›</a:t>
            </a:fld>
            <a:endParaRPr lang="en-US" dirty="0"/>
          </a:p>
        </p:txBody>
      </p:sp>
    </p:spTree>
    <p:extLst>
      <p:ext uri="{BB962C8B-B14F-4D97-AF65-F5344CB8AC3E}">
        <p14:creationId xmlns:p14="http://schemas.microsoft.com/office/powerpoint/2010/main" val="2501894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pixabay.com/en/tick-mark-correct-choice-sign-yes-40143/" TargetMode="External"/><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telecommuter.org/" TargetMode="External"/><Relationship Id="rId2" Type="http://schemas.openxmlformats.org/officeDocument/2006/relationships/hyperlink" Target="mailto:jfsanger@telecommuter.org" TargetMode="External"/><Relationship Id="rId1" Type="http://schemas.openxmlformats.org/officeDocument/2006/relationships/slideLayout" Target="../slideLayouts/slideLayout1.xml"/><Relationship Id="rId4" Type="http://schemas.openxmlformats.org/officeDocument/2006/relationships/hyperlink" Target="http://www.infoagecommunity.or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gif"/><Relationship Id="rId3" Type="http://schemas.openxmlformats.org/officeDocument/2006/relationships/image" Target="../media/image15.jpg"/><Relationship Id="rId7" Type="http://schemas.openxmlformats.org/officeDocument/2006/relationships/image" Target="../media/image19.jpg"/><Relationship Id="rId12" Type="http://schemas.openxmlformats.org/officeDocument/2006/relationships/image" Target="../media/image24.png"/><Relationship Id="rId17" Type="http://schemas.openxmlformats.org/officeDocument/2006/relationships/image" Target="../media/image29.jpg"/><Relationship Id="rId2" Type="http://schemas.openxmlformats.org/officeDocument/2006/relationships/image" Target="../media/image14.jpg"/><Relationship Id="rId16" Type="http://schemas.openxmlformats.org/officeDocument/2006/relationships/image" Target="../media/image28.jp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gif"/><Relationship Id="rId5" Type="http://schemas.openxmlformats.org/officeDocument/2006/relationships/image" Target="../media/image17.jpg"/><Relationship Id="rId15" Type="http://schemas.openxmlformats.org/officeDocument/2006/relationships/image" Target="../media/image27.jpg"/><Relationship Id="rId10" Type="http://schemas.openxmlformats.org/officeDocument/2006/relationships/image" Target="../media/image22.jpg"/><Relationship Id="rId4" Type="http://schemas.openxmlformats.org/officeDocument/2006/relationships/image" Target="../media/image16.JPG"/><Relationship Id="rId9" Type="http://schemas.openxmlformats.org/officeDocument/2006/relationships/image" Target="../media/image21.jpg"/><Relationship Id="rId14" Type="http://schemas.openxmlformats.org/officeDocument/2006/relationships/image" Target="../media/image26.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088F8C-7CE9-55F9-19EE-2C9A3AD1C239}"/>
              </a:ext>
            </a:extLst>
          </p:cNvPr>
          <p:cNvSpPr/>
          <p:nvPr/>
        </p:nvSpPr>
        <p:spPr>
          <a:xfrm>
            <a:off x="-79612" y="0"/>
            <a:ext cx="12351224"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0"/>
            <a:ext cx="12192000" cy="723331"/>
          </a:xfrm>
        </p:spPr>
        <p:txBody>
          <a:bodyPr>
            <a:normAutofit/>
          </a:bodyPr>
          <a:lstStyle/>
          <a:p>
            <a:r>
              <a:rPr lang="en-US" sz="4000" b="1" dirty="0">
                <a:solidFill>
                  <a:srgbClr val="FFFF00"/>
                </a:solidFill>
                <a:latin typeface="Times New Roman" panose="02020603050405020304" pitchFamily="18" charset="0"/>
                <a:cs typeface="Times New Roman" panose="02020603050405020304" pitchFamily="18" charset="0"/>
              </a:rPr>
              <a:t>AGENDA- MARKETING &amp; RECRUITMENT</a:t>
            </a:r>
          </a:p>
        </p:txBody>
      </p:sp>
      <p:sp>
        <p:nvSpPr>
          <p:cNvPr id="4" name="Subtitle 2">
            <a:extLst>
              <a:ext uri="{FF2B5EF4-FFF2-40B4-BE49-F238E27FC236}">
                <a16:creationId xmlns:a16="http://schemas.microsoft.com/office/drawing/2014/main" id="{15615D0E-6F01-16F0-E511-C12A8AE8B49A}"/>
              </a:ext>
            </a:extLst>
          </p:cNvPr>
          <p:cNvSpPr txBox="1">
            <a:spLocks/>
          </p:cNvSpPr>
          <p:nvPr/>
        </p:nvSpPr>
        <p:spPr>
          <a:xfrm>
            <a:off x="295276" y="723332"/>
            <a:ext cx="12055948" cy="595369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u="sng" dirty="0">
                <a:solidFill>
                  <a:schemeClr val="bg1"/>
                </a:solidFill>
                <a:latin typeface="Times New Roman" panose="02020603050405020304" pitchFamily="18" charset="0"/>
                <a:cs typeface="Times New Roman" panose="02020603050405020304" pitchFamily="18" charset="0"/>
              </a:rPr>
              <a:t>WHO IS TELE-COMMUTER RESOURCES?   WHAT ARE WE BUILDING?</a:t>
            </a:r>
          </a:p>
          <a:p>
            <a:pPr marL="342900" indent="-342900" algn="l">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A 501(c)3, Founded in 1992</a:t>
            </a:r>
          </a:p>
          <a:p>
            <a:pPr marL="800100" lvl="1" indent="-342900" algn="l">
              <a:buFont typeface="Arial" panose="020B0604020202020204" pitchFamily="34" charset="0"/>
              <a:buChar char="•"/>
            </a:pPr>
            <a:r>
              <a:rPr lang="en-US" sz="1000" dirty="0">
                <a:solidFill>
                  <a:schemeClr val="bg1"/>
                </a:solidFill>
                <a:latin typeface="Times New Roman" panose="02020603050405020304" pitchFamily="18" charset="0"/>
                <a:cs typeface="Times New Roman" panose="02020603050405020304" pitchFamily="18" charset="0"/>
              </a:rPr>
              <a:t>“Building Stronger Communities through Telecommuting”</a:t>
            </a:r>
          </a:p>
          <a:p>
            <a:pPr marL="800100" lvl="1" indent="-342900" algn="l">
              <a:buFont typeface="Arial" panose="020B0604020202020204" pitchFamily="34" charset="0"/>
              <a:buChar char="•"/>
            </a:pPr>
            <a:r>
              <a:rPr lang="en-US" sz="1000" dirty="0">
                <a:solidFill>
                  <a:schemeClr val="bg1"/>
                </a:solidFill>
                <a:latin typeface="Times New Roman" panose="02020603050405020304" pitchFamily="18" charset="0"/>
                <a:cs typeface="Times New Roman" panose="02020603050405020304" pitchFamily="18" charset="0"/>
              </a:rPr>
              <a:t>Historically unfunded but currently preparing 3 transformational grants</a:t>
            </a:r>
          </a:p>
          <a:p>
            <a:pPr marL="800100" lvl="1" indent="-342900" algn="l">
              <a:buFont typeface="Arial" panose="020B0604020202020204" pitchFamily="34" charset="0"/>
              <a:buChar char="•"/>
            </a:pPr>
            <a:r>
              <a:rPr lang="en-US" sz="1000" dirty="0">
                <a:solidFill>
                  <a:schemeClr val="bg1"/>
                </a:solidFill>
                <a:latin typeface="Times New Roman" panose="02020603050405020304" pitchFamily="18" charset="0"/>
                <a:cs typeface="Times New Roman" panose="02020603050405020304" pitchFamily="18" charset="0"/>
              </a:rPr>
              <a:t>Information Age Community - Concept Development- Trademark and 4 patents</a:t>
            </a:r>
          </a:p>
          <a:p>
            <a:pPr marL="800100" lvl="1" indent="-342900" algn="l">
              <a:buFont typeface="Arial" panose="020B0604020202020204" pitchFamily="34" charset="0"/>
              <a:buChar char="•"/>
            </a:pPr>
            <a:r>
              <a:rPr lang="en-US" sz="1000" dirty="0">
                <a:solidFill>
                  <a:schemeClr val="bg1"/>
                </a:solidFill>
                <a:latin typeface="Times New Roman" panose="02020603050405020304" pitchFamily="18" charset="0"/>
                <a:cs typeface="Times New Roman" panose="02020603050405020304" pitchFamily="18" charset="0"/>
              </a:rPr>
              <a:t>Transitioned to Implementation Pilot March.  2025 </a:t>
            </a:r>
          </a:p>
          <a:p>
            <a:pPr marL="1257300" lvl="2" indent="-342900" algn="l">
              <a:buFont typeface="Arial" panose="020B0604020202020204" pitchFamily="34" charset="0"/>
              <a:buChar char="•"/>
            </a:pPr>
            <a:r>
              <a:rPr lang="en-US" sz="1000" dirty="0">
                <a:solidFill>
                  <a:schemeClr val="bg1"/>
                </a:solidFill>
                <a:latin typeface="Times New Roman" panose="02020603050405020304" pitchFamily="18" charset="0"/>
                <a:cs typeface="Times New Roman" panose="02020603050405020304" pitchFamily="18" charset="0"/>
              </a:rPr>
              <a:t>(OPT)) Optional Practical Training Team: At peak, 35 volunteers most with 1 or more master degrees</a:t>
            </a:r>
          </a:p>
          <a:p>
            <a:pPr marL="1257300" lvl="2" indent="-342900" algn="l">
              <a:buFont typeface="Arial" panose="020B0604020202020204" pitchFamily="34" charset="0"/>
              <a:buChar char="•"/>
            </a:pPr>
            <a:endParaRPr lang="en-US" sz="1000" dirty="0">
              <a:solidFill>
                <a:schemeClr val="bg1"/>
              </a:solidFill>
              <a:latin typeface="Times New Roman" panose="02020603050405020304" pitchFamily="18" charset="0"/>
              <a:cs typeface="Times New Roman" panose="02020603050405020304" pitchFamily="18" charset="0"/>
            </a:endParaRPr>
          </a:p>
          <a:p>
            <a:pPr algn="l"/>
            <a:r>
              <a:rPr lang="en-US" b="1" u="sng" dirty="0">
                <a:solidFill>
                  <a:schemeClr val="bg1"/>
                </a:solidFill>
                <a:latin typeface="Times New Roman" panose="02020603050405020304" pitchFamily="18" charset="0"/>
                <a:cs typeface="Times New Roman" panose="02020603050405020304" pitchFamily="18" charset="0"/>
              </a:rPr>
              <a:t>WHAT’S OUR  STORY </a:t>
            </a:r>
            <a:r>
              <a:rPr lang="en-US" b="1" dirty="0">
                <a:solidFill>
                  <a:schemeClr val="bg1"/>
                </a:solidFill>
                <a:latin typeface="Times New Roman" panose="02020603050405020304" pitchFamily="18" charset="0"/>
                <a:cs typeface="Times New Roman" panose="02020603050405020304" pitchFamily="18" charset="0"/>
              </a:rPr>
              <a:t>            </a:t>
            </a:r>
            <a:r>
              <a:rPr lang="en-US" sz="1900" b="1" i="1" dirty="0">
                <a:solidFill>
                  <a:srgbClr val="FFFF00"/>
                </a:solidFill>
                <a:latin typeface="Times New Roman" panose="02020603050405020304" pitchFamily="18" charset="0"/>
                <a:cs typeface="Times New Roman" panose="02020603050405020304" pitchFamily="18" charset="0"/>
              </a:rPr>
              <a:t>A Community does not emerge from the simple aggregation of its parts,         </a:t>
            </a:r>
          </a:p>
          <a:p>
            <a:pPr lvl="5" algn="l"/>
            <a:r>
              <a:rPr lang="en-US" sz="1900" b="1" i="1" dirty="0">
                <a:solidFill>
                  <a:srgbClr val="FFFF00"/>
                </a:solidFill>
                <a:latin typeface="Times New Roman" panose="02020603050405020304" pitchFamily="18" charset="0"/>
                <a:cs typeface="Times New Roman" panose="02020603050405020304" pitchFamily="18" charset="0"/>
              </a:rPr>
              <a:t>				 but rather, it emerges from their integration”</a:t>
            </a:r>
          </a:p>
          <a:p>
            <a:pPr lvl="5" algn="l"/>
            <a:endParaRPr lang="en-US" sz="800" b="1" i="1" dirty="0">
              <a:solidFill>
                <a:schemeClr val="accent2">
                  <a:lumMod val="75000"/>
                </a:schemeClr>
              </a:solidFill>
              <a:latin typeface="Times New Roman" panose="02020603050405020304" pitchFamily="18" charset="0"/>
              <a:cs typeface="Times New Roman" panose="02020603050405020304" pitchFamily="18" charset="0"/>
            </a:endParaRPr>
          </a:p>
          <a:p>
            <a:pPr algn="l"/>
            <a:r>
              <a:rPr lang="en-US" b="1" u="sng" dirty="0">
                <a:solidFill>
                  <a:schemeClr val="bg1"/>
                </a:solidFill>
                <a:latin typeface="Times New Roman" panose="02020603050405020304" pitchFamily="18" charset="0"/>
                <a:cs typeface="Times New Roman" panose="02020603050405020304" pitchFamily="18" charset="0"/>
              </a:rPr>
              <a:t>WHAT DO  WE NEED</a:t>
            </a:r>
          </a:p>
          <a:p>
            <a:pPr marL="342900" indent="-342900" algn="l">
              <a:buFont typeface="Arial" panose="020B0604020202020204" pitchFamily="34" charset="0"/>
              <a:buChar char="•"/>
            </a:pPr>
            <a:r>
              <a:rPr lang="en-US" sz="1800" b="1" dirty="0">
                <a:solidFill>
                  <a:schemeClr val="bg1"/>
                </a:solidFill>
                <a:latin typeface="Times New Roman" panose="02020603050405020304" pitchFamily="18" charset="0"/>
                <a:cs typeface="Times New Roman" panose="02020603050405020304" pitchFamily="18" charset="0"/>
              </a:rPr>
              <a:t>Chicken or the egg--- build the coalition or get financing to lead it?</a:t>
            </a:r>
          </a:p>
          <a:p>
            <a:pPr marL="342900" indent="-342900" algn="l">
              <a:buFont typeface="Arial" panose="020B0604020202020204" pitchFamily="34" charset="0"/>
              <a:buChar char="•"/>
            </a:pPr>
            <a:r>
              <a:rPr lang="en-US" sz="1800" b="1" dirty="0">
                <a:solidFill>
                  <a:schemeClr val="bg1"/>
                </a:solidFill>
                <a:latin typeface="Times New Roman" panose="02020603050405020304" pitchFamily="18" charset="0"/>
                <a:cs typeface="Times New Roman" panose="02020603050405020304" pitchFamily="18" charset="0"/>
              </a:rPr>
              <a:t>Transformation is the goal but history is of Silos --- Use graphics v s text?</a:t>
            </a:r>
          </a:p>
          <a:p>
            <a:pPr marL="342900" indent="-342900" algn="l">
              <a:buFont typeface="Arial" panose="020B0604020202020204" pitchFamily="34" charset="0"/>
              <a:buChar char="•"/>
            </a:pPr>
            <a:r>
              <a:rPr lang="en-US" sz="1800" b="1" dirty="0">
                <a:solidFill>
                  <a:schemeClr val="bg1"/>
                </a:solidFill>
                <a:latin typeface="Times New Roman" panose="02020603050405020304" pitchFamily="18" charset="0"/>
                <a:cs typeface="Times New Roman" panose="02020603050405020304" pitchFamily="18" charset="0"/>
              </a:rPr>
              <a:t>Our Plan but there decision--- how do we structure Community to engage?</a:t>
            </a:r>
          </a:p>
          <a:p>
            <a:pPr algn="l"/>
            <a:endParaRPr lang="en-US" b="1" dirty="0">
              <a:solidFill>
                <a:schemeClr val="bg1"/>
              </a:solidFill>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566B149D-F2C7-8D1F-35AA-1B2D4E3CF3CD}"/>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1724CA8-2D0F-FB0B-3561-D1B3177A879E}"/>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7" name="TextBox 6">
            <a:extLst>
              <a:ext uri="{FF2B5EF4-FFF2-40B4-BE49-F238E27FC236}">
                <a16:creationId xmlns:a16="http://schemas.microsoft.com/office/drawing/2014/main" id="{7D2E7F37-229F-FC34-C82D-900A3C47B2F6}"/>
              </a:ext>
            </a:extLst>
          </p:cNvPr>
          <p:cNvSpPr txBox="1"/>
          <p:nvPr/>
        </p:nvSpPr>
        <p:spPr>
          <a:xfrm>
            <a:off x="7053261" y="1119122"/>
            <a:ext cx="4843463" cy="1569660"/>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OUR FOUNDATIONAL TOOLS</a:t>
            </a:r>
          </a:p>
          <a:p>
            <a:pPr marL="285750" indent="-114300">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Geo Structure</a:t>
            </a:r>
          </a:p>
          <a:p>
            <a:pPr marL="285750" indent="-114300">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Viability Index</a:t>
            </a:r>
          </a:p>
          <a:p>
            <a:pPr marL="285750" indent="-114300">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E-Consensus Forum</a:t>
            </a:r>
          </a:p>
          <a:p>
            <a:pPr marL="285750" indent="-114300">
              <a:buFont typeface="Arial" panose="020B0604020202020204" pitchFamily="34" charset="0"/>
              <a:buChar char="•"/>
            </a:pPr>
            <a:r>
              <a:rPr lang="en-US" b="1" dirty="0">
                <a:solidFill>
                  <a:schemeClr val="bg1"/>
                </a:solidFill>
                <a:latin typeface="Times New Roman" panose="02020603050405020304" pitchFamily="18" charset="0"/>
                <a:cs typeface="Times New Roman" panose="02020603050405020304" pitchFamily="18" charset="0"/>
              </a:rPr>
              <a:t>The Lens</a:t>
            </a:r>
          </a:p>
        </p:txBody>
      </p:sp>
    </p:spTree>
    <p:extLst>
      <p:ext uri="{BB962C8B-B14F-4D97-AF65-F5344CB8AC3E}">
        <p14:creationId xmlns:p14="http://schemas.microsoft.com/office/powerpoint/2010/main" val="3597402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2343151" y="1200151"/>
            <a:ext cx="7124700" cy="4154984"/>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The</a:t>
            </a:r>
          </a:p>
          <a:p>
            <a:pPr algn="ctr"/>
            <a:r>
              <a:rPr lang="en-US" sz="8800" dirty="0">
                <a:solidFill>
                  <a:schemeClr val="bg1"/>
                </a:solidFill>
                <a:latin typeface="Times New Roman" panose="02020603050405020304" pitchFamily="18" charset="0"/>
                <a:cs typeface="Times New Roman" panose="02020603050405020304" pitchFamily="18" charset="0"/>
              </a:rPr>
              <a:t>Geo-Structure</a:t>
            </a:r>
          </a:p>
          <a:p>
            <a:pPr algn="ctr"/>
            <a:r>
              <a:rPr lang="en-US" sz="8800" dirty="0">
                <a:solidFill>
                  <a:schemeClr val="bg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463773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168746"/>
            <a:ext cx="12192000" cy="723331"/>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THE </a:t>
            </a:r>
            <a:r>
              <a:rPr lang="en-US" sz="4000" b="1" dirty="0" err="1">
                <a:solidFill>
                  <a:schemeClr val="bg1"/>
                </a:solidFill>
                <a:latin typeface="Times New Roman" panose="02020603050405020304" pitchFamily="18" charset="0"/>
                <a:cs typeface="Times New Roman" panose="02020603050405020304" pitchFamily="18" charset="0"/>
              </a:rPr>
              <a:t>COMMUNCATION’s</a:t>
            </a:r>
            <a:r>
              <a:rPr lang="en-US" sz="4000" b="1" dirty="0">
                <a:solidFill>
                  <a:schemeClr val="bg1"/>
                </a:solidFill>
                <a:latin typeface="Times New Roman" panose="02020603050405020304" pitchFamily="18" charset="0"/>
                <a:cs typeface="Times New Roman" panose="02020603050405020304" pitchFamily="18" charset="0"/>
              </a:rPr>
              <a:t> CHALLENGE</a:t>
            </a:r>
          </a:p>
        </p:txBody>
      </p:sp>
      <p:sp>
        <p:nvSpPr>
          <p:cNvPr id="4" name="Subtitle 2">
            <a:extLst>
              <a:ext uri="{FF2B5EF4-FFF2-40B4-BE49-F238E27FC236}">
                <a16:creationId xmlns:a16="http://schemas.microsoft.com/office/drawing/2014/main" id="{15615D0E-6F01-16F0-E511-C12A8AE8B49A}"/>
              </a:ext>
            </a:extLst>
          </p:cNvPr>
          <p:cNvSpPr txBox="1">
            <a:spLocks/>
          </p:cNvSpPr>
          <p:nvPr/>
        </p:nvSpPr>
        <p:spPr>
          <a:xfrm>
            <a:off x="351090" y="1162051"/>
            <a:ext cx="12000134" cy="498238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5000"/>
              </a:lnSpc>
              <a:spcBef>
                <a:spcPts val="0"/>
              </a:spcBef>
            </a:pPr>
            <a:r>
              <a:rPr lang="en-US" sz="20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lang="en-US" sz="20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he ‘New’ Community                                                  The Zip Code Based Community Hierarchy</a:t>
            </a:r>
            <a:endPar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rabi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rabi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rabi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rabi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87911C72-E16B-8FCD-04A2-671FE82929D2}"/>
              </a:ext>
            </a:extLst>
          </p:cNvPr>
          <p:cNvGrpSpPr/>
          <p:nvPr/>
        </p:nvGrpSpPr>
        <p:grpSpPr>
          <a:xfrm>
            <a:off x="6571611" y="1436524"/>
            <a:ext cx="4734564" cy="2691780"/>
            <a:chOff x="279708" y="1918564"/>
            <a:chExt cx="4826016" cy="2849319"/>
          </a:xfrm>
        </p:grpSpPr>
        <p:sp>
          <p:nvSpPr>
            <p:cNvPr id="6" name="Oval 5">
              <a:extLst>
                <a:ext uri="{FF2B5EF4-FFF2-40B4-BE49-F238E27FC236}">
                  <a16:creationId xmlns:a16="http://schemas.microsoft.com/office/drawing/2014/main" id="{419DDB95-02FF-FF7A-0DE4-BBBDBD054303}"/>
                </a:ext>
              </a:extLst>
            </p:cNvPr>
            <p:cNvSpPr/>
            <p:nvPr/>
          </p:nvSpPr>
          <p:spPr>
            <a:xfrm>
              <a:off x="279708" y="2067718"/>
              <a:ext cx="2804337" cy="2700165"/>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D5D7843-48B9-7C64-74D9-F575125E16E8}"/>
                </a:ext>
              </a:extLst>
            </p:cNvPr>
            <p:cNvSpPr txBox="1"/>
            <p:nvPr/>
          </p:nvSpPr>
          <p:spPr>
            <a:xfrm>
              <a:off x="1280374" y="1918564"/>
              <a:ext cx="3825350" cy="586421"/>
            </a:xfrm>
            <a:prstGeom prst="rect">
              <a:avLst/>
            </a:prstGeom>
            <a:noFill/>
          </p:spPr>
          <p:txBody>
            <a:bodyPr wrap="square" rtlCol="0">
              <a:spAutoFit/>
            </a:bodyPr>
            <a:lstStyle/>
            <a:p>
              <a:r>
                <a:rPr lang="en-US" dirty="0"/>
                <a:t>__________</a:t>
              </a:r>
              <a:r>
                <a:rPr lang="en-US" sz="1200" b="1" dirty="0">
                  <a:solidFill>
                    <a:schemeClr val="bg1"/>
                  </a:solidFill>
                  <a:latin typeface="Times New Roman" panose="02020603050405020304" pitchFamily="18" charset="0"/>
                  <a:cs typeface="Times New Roman" panose="02020603050405020304" pitchFamily="18" charset="0"/>
                </a:rPr>
                <a:t>THE IAC / Global Service Center Center</a:t>
              </a:r>
              <a:endParaRPr lang="en-US" sz="1200" dirty="0"/>
            </a:p>
          </p:txBody>
        </p:sp>
        <p:sp>
          <p:nvSpPr>
            <p:cNvPr id="8" name="Oval 7">
              <a:extLst>
                <a:ext uri="{FF2B5EF4-FFF2-40B4-BE49-F238E27FC236}">
                  <a16:creationId xmlns:a16="http://schemas.microsoft.com/office/drawing/2014/main" id="{7C1A10A1-C8F2-AEDC-95AA-C0350EE3A93A}"/>
                </a:ext>
              </a:extLst>
            </p:cNvPr>
            <p:cNvSpPr/>
            <p:nvPr/>
          </p:nvSpPr>
          <p:spPr>
            <a:xfrm>
              <a:off x="529203" y="2287809"/>
              <a:ext cx="2308681" cy="2259985"/>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5092E19-4C28-27CC-0615-C99F7637CB6D}"/>
                </a:ext>
              </a:extLst>
            </p:cNvPr>
            <p:cNvSpPr txBox="1"/>
            <p:nvPr/>
          </p:nvSpPr>
          <p:spPr>
            <a:xfrm>
              <a:off x="1433039" y="2115399"/>
              <a:ext cx="2969598" cy="369332"/>
            </a:xfrm>
            <a:prstGeom prst="rect">
              <a:avLst/>
            </a:prstGeom>
            <a:noFill/>
          </p:spPr>
          <p:txBody>
            <a:bodyPr wrap="square" rtlCol="0">
              <a:spAutoFit/>
            </a:bodyPr>
            <a:lstStyle/>
            <a:p>
              <a:r>
                <a:rPr lang="en-US" dirty="0"/>
                <a:t>___________</a:t>
              </a:r>
              <a:r>
                <a:rPr lang="en-US" sz="1200" b="1" dirty="0">
                  <a:solidFill>
                    <a:schemeClr val="bg1"/>
                  </a:solidFill>
                  <a:latin typeface="Times New Roman" panose="02020603050405020304" pitchFamily="18" charset="0"/>
                  <a:cs typeface="Times New Roman" panose="02020603050405020304" pitchFamily="18" charset="0"/>
                </a:rPr>
                <a:t>The Service Anchors</a:t>
              </a:r>
              <a:endParaRPr lang="en-US" sz="1200" dirty="0"/>
            </a:p>
          </p:txBody>
        </p:sp>
        <p:sp>
          <p:nvSpPr>
            <p:cNvPr id="10" name="Oval 9">
              <a:extLst>
                <a:ext uri="{FF2B5EF4-FFF2-40B4-BE49-F238E27FC236}">
                  <a16:creationId xmlns:a16="http://schemas.microsoft.com/office/drawing/2014/main" id="{09BD9744-36CA-D9B5-FE43-8B3E11B91486}"/>
                </a:ext>
              </a:extLst>
            </p:cNvPr>
            <p:cNvSpPr/>
            <p:nvPr/>
          </p:nvSpPr>
          <p:spPr>
            <a:xfrm>
              <a:off x="775747" y="2487840"/>
              <a:ext cx="1815594" cy="1777298"/>
            </a:xfrm>
            <a:prstGeom prst="ellipse">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5603FCC1-2DC1-35BA-A614-2FA24906D2ED}"/>
                </a:ext>
              </a:extLst>
            </p:cNvPr>
            <p:cNvSpPr txBox="1"/>
            <p:nvPr/>
          </p:nvSpPr>
          <p:spPr>
            <a:xfrm>
              <a:off x="1525642" y="2346688"/>
              <a:ext cx="2969598" cy="369332"/>
            </a:xfrm>
            <a:prstGeom prst="rect">
              <a:avLst/>
            </a:prstGeom>
            <a:noFill/>
          </p:spPr>
          <p:txBody>
            <a:bodyPr wrap="square" rtlCol="0">
              <a:spAutoFit/>
            </a:bodyPr>
            <a:lstStyle/>
            <a:p>
              <a:r>
                <a:rPr lang="en-US" dirty="0"/>
                <a:t>_____________</a:t>
              </a:r>
              <a:r>
                <a:rPr lang="en-US" sz="1200" b="1" dirty="0">
                  <a:solidFill>
                    <a:schemeClr val="bg1"/>
                  </a:solidFill>
                  <a:latin typeface="Times New Roman" panose="02020603050405020304" pitchFamily="18" charset="0"/>
                  <a:cs typeface="Times New Roman" panose="02020603050405020304" pitchFamily="18" charset="0"/>
                </a:rPr>
                <a:t>The Service Centers</a:t>
              </a:r>
              <a:endParaRPr lang="en-US" sz="1200" dirty="0"/>
            </a:p>
          </p:txBody>
        </p:sp>
        <p:sp>
          <p:nvSpPr>
            <p:cNvPr id="12" name="Oval 11">
              <a:extLst>
                <a:ext uri="{FF2B5EF4-FFF2-40B4-BE49-F238E27FC236}">
                  <a16:creationId xmlns:a16="http://schemas.microsoft.com/office/drawing/2014/main" id="{424C49E1-2ED8-B74B-94C8-C2EB334608F2}"/>
                </a:ext>
              </a:extLst>
            </p:cNvPr>
            <p:cNvSpPr/>
            <p:nvPr/>
          </p:nvSpPr>
          <p:spPr>
            <a:xfrm>
              <a:off x="1050982" y="2716941"/>
              <a:ext cx="1308680" cy="1281077"/>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7620E96D-12A5-C0BB-F935-13403FE68A21}"/>
                </a:ext>
              </a:extLst>
            </p:cNvPr>
            <p:cNvSpPr txBox="1"/>
            <p:nvPr/>
          </p:nvSpPr>
          <p:spPr>
            <a:xfrm>
              <a:off x="1618245" y="2585461"/>
              <a:ext cx="2969598" cy="369332"/>
            </a:xfrm>
            <a:prstGeom prst="rect">
              <a:avLst/>
            </a:prstGeom>
            <a:noFill/>
          </p:spPr>
          <p:txBody>
            <a:bodyPr wrap="square" rtlCol="0">
              <a:spAutoFit/>
            </a:bodyPr>
            <a:lstStyle/>
            <a:p>
              <a:r>
                <a:rPr lang="en-US" dirty="0"/>
                <a:t>______________</a:t>
              </a:r>
              <a:r>
                <a:rPr lang="en-US" sz="1200" b="1" dirty="0">
                  <a:solidFill>
                    <a:schemeClr val="bg1"/>
                  </a:solidFill>
                  <a:latin typeface="Times New Roman" panose="02020603050405020304" pitchFamily="18" charset="0"/>
                  <a:cs typeface="Times New Roman" panose="02020603050405020304" pitchFamily="18" charset="0"/>
                </a:rPr>
                <a:t>The Community</a:t>
              </a:r>
              <a:endParaRPr lang="en-US" sz="1200" dirty="0"/>
            </a:p>
          </p:txBody>
        </p:sp>
        <p:sp>
          <p:nvSpPr>
            <p:cNvPr id="14" name="Oval 13">
              <a:extLst>
                <a:ext uri="{FF2B5EF4-FFF2-40B4-BE49-F238E27FC236}">
                  <a16:creationId xmlns:a16="http://schemas.microsoft.com/office/drawing/2014/main" id="{6D48D6FA-43A7-E780-A510-6C6530182225}"/>
                </a:ext>
              </a:extLst>
            </p:cNvPr>
            <p:cNvSpPr/>
            <p:nvPr/>
          </p:nvSpPr>
          <p:spPr>
            <a:xfrm>
              <a:off x="1342564" y="2990424"/>
              <a:ext cx="755292" cy="717532"/>
            </a:xfrm>
            <a:prstGeom prst="ellipse">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F1409975-19B0-D458-4896-3889FCD393D7}"/>
                </a:ext>
              </a:extLst>
            </p:cNvPr>
            <p:cNvSpPr txBox="1"/>
            <p:nvPr/>
          </p:nvSpPr>
          <p:spPr>
            <a:xfrm>
              <a:off x="1745507" y="2871970"/>
              <a:ext cx="3360217" cy="390948"/>
            </a:xfrm>
            <a:prstGeom prst="rect">
              <a:avLst/>
            </a:prstGeom>
            <a:noFill/>
          </p:spPr>
          <p:txBody>
            <a:bodyPr wrap="square" rtlCol="0">
              <a:spAutoFit/>
            </a:bodyPr>
            <a:lstStyle/>
            <a:p>
              <a:r>
                <a:rPr lang="en-US" dirty="0"/>
                <a:t>______________</a:t>
              </a:r>
              <a:r>
                <a:rPr lang="en-US" sz="1200" b="1" dirty="0">
                  <a:solidFill>
                    <a:schemeClr val="bg1"/>
                  </a:solidFill>
                  <a:latin typeface="Times New Roman" panose="02020603050405020304" pitchFamily="18" charset="0"/>
                  <a:cs typeface="Times New Roman" panose="02020603050405020304" pitchFamily="18" charset="0"/>
                </a:rPr>
                <a:t>The Neighborhood</a:t>
              </a:r>
              <a:endParaRPr lang="en-US" sz="1200" dirty="0"/>
            </a:p>
          </p:txBody>
        </p:sp>
        <p:sp>
          <p:nvSpPr>
            <p:cNvPr id="18" name="TextBox 17">
              <a:extLst>
                <a:ext uri="{FF2B5EF4-FFF2-40B4-BE49-F238E27FC236}">
                  <a16:creationId xmlns:a16="http://schemas.microsoft.com/office/drawing/2014/main" id="{5199103E-91A8-A23E-F2E4-E25B57FBE411}"/>
                </a:ext>
              </a:extLst>
            </p:cNvPr>
            <p:cNvSpPr txBox="1"/>
            <p:nvPr/>
          </p:nvSpPr>
          <p:spPr>
            <a:xfrm>
              <a:off x="1870586" y="3148485"/>
              <a:ext cx="3235138" cy="369332"/>
            </a:xfrm>
            <a:prstGeom prst="rect">
              <a:avLst/>
            </a:prstGeom>
            <a:noFill/>
          </p:spPr>
          <p:txBody>
            <a:bodyPr wrap="square" rtlCol="0">
              <a:spAutoFit/>
            </a:bodyPr>
            <a:lstStyle/>
            <a:p>
              <a:r>
                <a:rPr lang="en-US" dirty="0"/>
                <a:t>_______________</a:t>
              </a:r>
              <a:r>
                <a:rPr lang="en-US" sz="1200" b="1" dirty="0">
                  <a:solidFill>
                    <a:schemeClr val="bg1"/>
                  </a:solidFill>
                  <a:latin typeface="Times New Roman" panose="02020603050405020304" pitchFamily="18" charset="0"/>
                  <a:cs typeface="Times New Roman" panose="02020603050405020304" pitchFamily="18" charset="0"/>
                </a:rPr>
                <a:t>Dispersed Housing</a:t>
              </a:r>
              <a:endParaRPr lang="en-US" sz="1200" dirty="0"/>
            </a:p>
          </p:txBody>
        </p:sp>
      </p:grpSp>
      <p:cxnSp>
        <p:nvCxnSpPr>
          <p:cNvPr id="2" name="Straight Connector 1">
            <a:extLst>
              <a:ext uri="{FF2B5EF4-FFF2-40B4-BE49-F238E27FC236}">
                <a16:creationId xmlns:a16="http://schemas.microsoft.com/office/drawing/2014/main" id="{C09D7837-4CC7-E61D-3CC5-03BDE3276A6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40E73FEB-5C94-B44B-8820-01379D363F87}"/>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pic>
        <p:nvPicPr>
          <p:cNvPr id="20" name="Picture 19">
            <a:extLst>
              <a:ext uri="{FF2B5EF4-FFF2-40B4-BE49-F238E27FC236}">
                <a16:creationId xmlns:a16="http://schemas.microsoft.com/office/drawing/2014/main" id="{B368F4D5-14CB-AB27-75CD-B3FD5019C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825" y="1813455"/>
            <a:ext cx="4892429" cy="2106928"/>
          </a:xfrm>
          <a:prstGeom prst="rect">
            <a:avLst/>
          </a:prstGeom>
        </p:spPr>
      </p:pic>
    </p:spTree>
    <p:extLst>
      <p:ext uri="{BB962C8B-B14F-4D97-AF65-F5344CB8AC3E}">
        <p14:creationId xmlns:p14="http://schemas.microsoft.com/office/powerpoint/2010/main" val="1437107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088F8C-7CE9-55F9-19EE-2C9A3AD1C239}"/>
              </a:ext>
            </a:extLst>
          </p:cNvPr>
          <p:cNvSpPr/>
          <p:nvPr/>
        </p:nvSpPr>
        <p:spPr>
          <a:xfrm>
            <a:off x="-79612" y="0"/>
            <a:ext cx="12351224"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0"/>
            <a:ext cx="12192000" cy="723331"/>
          </a:xfrm>
        </p:spPr>
        <p:txBody>
          <a:bodyPr>
            <a:normAutofit fontScale="92500"/>
          </a:bodyPr>
          <a:lstStyle/>
          <a:p>
            <a:r>
              <a:rPr lang="en-US" sz="4000" b="1" dirty="0">
                <a:solidFill>
                  <a:schemeClr val="bg1"/>
                </a:solidFill>
                <a:latin typeface="Times New Roman" panose="02020603050405020304" pitchFamily="18" charset="0"/>
                <a:cs typeface="Times New Roman" panose="02020603050405020304" pitchFamily="18" charset="0"/>
              </a:rPr>
              <a:t>UNDERSTANDING THE UNDERLYING CHALLENGE</a:t>
            </a:r>
          </a:p>
        </p:txBody>
      </p:sp>
      <p:pic>
        <p:nvPicPr>
          <p:cNvPr id="7" name="Picture 6">
            <a:extLst>
              <a:ext uri="{FF2B5EF4-FFF2-40B4-BE49-F238E27FC236}">
                <a16:creationId xmlns:a16="http://schemas.microsoft.com/office/drawing/2014/main" id="{90715C55-FA59-012D-70E1-F5FA82826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330" y="1611597"/>
            <a:ext cx="3633604" cy="4269078"/>
          </a:xfrm>
          <a:prstGeom prst="rect">
            <a:avLst/>
          </a:prstGeom>
        </p:spPr>
      </p:pic>
      <p:sp>
        <p:nvSpPr>
          <p:cNvPr id="10" name="TextBox 9">
            <a:extLst>
              <a:ext uri="{FF2B5EF4-FFF2-40B4-BE49-F238E27FC236}">
                <a16:creationId xmlns:a16="http://schemas.microsoft.com/office/drawing/2014/main" id="{B36D33E7-5C4A-3FF2-D2BD-8A91C778071A}"/>
              </a:ext>
            </a:extLst>
          </p:cNvPr>
          <p:cNvSpPr txBox="1"/>
          <p:nvPr/>
        </p:nvSpPr>
        <p:spPr>
          <a:xfrm>
            <a:off x="484357" y="797944"/>
            <a:ext cx="10877549" cy="646331"/>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The Viability Index focuses on understanding community at the  zip code level and provides the tools to apply the information at three levels: Community, Project and Customized Analysis.  </a:t>
            </a:r>
          </a:p>
        </p:txBody>
      </p:sp>
      <p:pic>
        <p:nvPicPr>
          <p:cNvPr id="6" name="Picture 5">
            <a:extLst>
              <a:ext uri="{FF2B5EF4-FFF2-40B4-BE49-F238E27FC236}">
                <a16:creationId xmlns:a16="http://schemas.microsoft.com/office/drawing/2014/main" id="{EB333924-E663-47FD-2935-3F532DBB7A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7902" y="1719617"/>
            <a:ext cx="5791123" cy="3046051"/>
          </a:xfrm>
          <a:prstGeom prst="rect">
            <a:avLst/>
          </a:prstGeom>
        </p:spPr>
      </p:pic>
      <p:cxnSp>
        <p:nvCxnSpPr>
          <p:cNvPr id="11" name="Straight Connector 10">
            <a:extLst>
              <a:ext uri="{FF2B5EF4-FFF2-40B4-BE49-F238E27FC236}">
                <a16:creationId xmlns:a16="http://schemas.microsoft.com/office/drawing/2014/main" id="{2FD414DB-BB13-C0D3-71DD-4759AAD6E284}"/>
              </a:ext>
            </a:extLst>
          </p:cNvPr>
          <p:cNvCxnSpPr>
            <a:cxnSpLocks/>
          </p:cNvCxnSpPr>
          <p:nvPr/>
        </p:nvCxnSpPr>
        <p:spPr>
          <a:xfrm flipH="1">
            <a:off x="1460310" y="1719617"/>
            <a:ext cx="3997592" cy="3046051"/>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B154507-42E6-5455-3A74-8C3F69D0A782}"/>
              </a:ext>
            </a:extLst>
          </p:cNvPr>
          <p:cNvCxnSpPr>
            <a:cxnSpLocks/>
          </p:cNvCxnSpPr>
          <p:nvPr/>
        </p:nvCxnSpPr>
        <p:spPr>
          <a:xfrm flipH="1">
            <a:off x="2101755" y="4375298"/>
            <a:ext cx="5811032" cy="1083851"/>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677B88AA-5262-F655-1D23-277CB9B0C80E}"/>
              </a:ext>
            </a:extLst>
          </p:cNvPr>
          <p:cNvSpPr/>
          <p:nvPr/>
        </p:nvSpPr>
        <p:spPr>
          <a:xfrm>
            <a:off x="1460310" y="4765668"/>
            <a:ext cx="641445" cy="843562"/>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952D9207-12C4-DE7D-464B-D2A443AE7670}"/>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55D1BF7-CABE-870E-98EA-1FA6E196A8E5}"/>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Tree>
    <p:extLst>
      <p:ext uri="{BB962C8B-B14F-4D97-AF65-F5344CB8AC3E}">
        <p14:creationId xmlns:p14="http://schemas.microsoft.com/office/powerpoint/2010/main" val="1925355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a:extLst>
              <a:ext uri="{FF2B5EF4-FFF2-40B4-BE49-F238E27FC236}">
                <a16:creationId xmlns:a16="http://schemas.microsoft.com/office/drawing/2014/main" id="{9B74DCCF-7E11-2838-5AE9-61138C918A9B}"/>
              </a:ext>
            </a:extLst>
          </p:cNvPr>
          <p:cNvCxnSpPr>
            <a:cxnSpLocks/>
            <a:stCxn id="18" idx="1"/>
            <a:endCxn id="29" idx="5"/>
          </p:cNvCxnSpPr>
          <p:nvPr/>
        </p:nvCxnSpPr>
        <p:spPr>
          <a:xfrm flipH="1" flipV="1">
            <a:off x="1824832" y="3005698"/>
            <a:ext cx="5435736" cy="1604946"/>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114811"/>
            <a:ext cx="12192000" cy="723331"/>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THE VIABILITY DATA STRUCTURE</a:t>
            </a:r>
          </a:p>
        </p:txBody>
      </p:sp>
      <p:sp>
        <p:nvSpPr>
          <p:cNvPr id="17" name="Subtitle 2">
            <a:extLst>
              <a:ext uri="{FF2B5EF4-FFF2-40B4-BE49-F238E27FC236}">
                <a16:creationId xmlns:a16="http://schemas.microsoft.com/office/drawing/2014/main" id="{6B014F56-66AD-C2BE-564E-6C7732907784}"/>
              </a:ext>
            </a:extLst>
          </p:cNvPr>
          <p:cNvSpPr txBox="1">
            <a:spLocks/>
          </p:cNvSpPr>
          <p:nvPr/>
        </p:nvSpPr>
        <p:spPr>
          <a:xfrm>
            <a:off x="4429339" y="4593419"/>
            <a:ext cx="2452704" cy="102913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marR="0" lvl="0" indent="-2857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Profile Data</a:t>
            </a:r>
          </a:p>
          <a:p>
            <a:pPr marL="285750" marR="0" lvl="0" indent="-2857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Institutional Profile</a:t>
            </a:r>
          </a:p>
          <a:p>
            <a:pPr marL="285750" marR="0" lvl="0" indent="-285750" algn="l">
              <a:lnSpc>
                <a:spcPct val="115000"/>
              </a:lnSpc>
              <a:spcBef>
                <a:spcPts val="0"/>
              </a:spcBef>
              <a:spcAft>
                <a:spcPts val="0"/>
              </a:spcAft>
              <a:buFont typeface="Arial" panose="020B0604020202020204" pitchFamily="34" charset="0"/>
              <a:buChar char="•"/>
            </a:pPr>
            <a:r>
              <a:rPr lang="en-US"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Vision Statements etc</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marR="0" lvl="0" indent="-285750" algn="l">
              <a:lnSpc>
                <a:spcPct val="115000"/>
              </a:lnSpc>
              <a:spcBef>
                <a:spcPts val="0"/>
              </a:spcBef>
              <a:spcAft>
                <a:spcPts val="0"/>
              </a:spcAft>
              <a:buFont typeface="Arial" panose="020B0604020202020204" pitchFamily="34" charset="0"/>
              <a:buChar char="•"/>
            </a:pP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marR="0" lvl="0" indent="-285750" algn="l">
              <a:lnSpc>
                <a:spcPct val="115000"/>
              </a:lnSpc>
              <a:spcBef>
                <a:spcPts val="0"/>
              </a:spcBef>
              <a:spcAft>
                <a:spcPts val="0"/>
              </a:spcAft>
              <a:buFont typeface="Arial" panose="020B0604020202020204" pitchFamily="34" charset="0"/>
              <a:buChar char="•"/>
            </a:pP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6441D1A3-BE25-50DA-8D57-DCA5885BB8A8}"/>
              </a:ext>
            </a:extLst>
          </p:cNvPr>
          <p:cNvSpPr/>
          <p:nvPr/>
        </p:nvSpPr>
        <p:spPr>
          <a:xfrm>
            <a:off x="6948862" y="4504715"/>
            <a:ext cx="2128464" cy="72333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ZIP CODE MASTER</a:t>
            </a:r>
          </a:p>
        </p:txBody>
      </p:sp>
      <p:sp>
        <p:nvSpPr>
          <p:cNvPr id="19" name="Oval 18">
            <a:extLst>
              <a:ext uri="{FF2B5EF4-FFF2-40B4-BE49-F238E27FC236}">
                <a16:creationId xmlns:a16="http://schemas.microsoft.com/office/drawing/2014/main" id="{03C2D45A-3220-5B23-8E0F-0A40E4DCD7F3}"/>
              </a:ext>
            </a:extLst>
          </p:cNvPr>
          <p:cNvSpPr/>
          <p:nvPr/>
        </p:nvSpPr>
        <p:spPr>
          <a:xfrm>
            <a:off x="7006915" y="2450461"/>
            <a:ext cx="2000250" cy="72333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INDICATOR MASTER</a:t>
            </a:r>
          </a:p>
        </p:txBody>
      </p:sp>
      <p:sp>
        <p:nvSpPr>
          <p:cNvPr id="20" name="Oval 19">
            <a:extLst>
              <a:ext uri="{FF2B5EF4-FFF2-40B4-BE49-F238E27FC236}">
                <a16:creationId xmlns:a16="http://schemas.microsoft.com/office/drawing/2014/main" id="{FCC8342C-E46C-99C6-5C2E-61F3B3682CD3}"/>
              </a:ext>
            </a:extLst>
          </p:cNvPr>
          <p:cNvSpPr/>
          <p:nvPr/>
        </p:nvSpPr>
        <p:spPr>
          <a:xfrm>
            <a:off x="9021187" y="1169734"/>
            <a:ext cx="2218314" cy="72333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CALCULATOR</a:t>
            </a:r>
          </a:p>
        </p:txBody>
      </p:sp>
      <p:sp>
        <p:nvSpPr>
          <p:cNvPr id="21" name="Oval 20">
            <a:extLst>
              <a:ext uri="{FF2B5EF4-FFF2-40B4-BE49-F238E27FC236}">
                <a16:creationId xmlns:a16="http://schemas.microsoft.com/office/drawing/2014/main" id="{00DFE65D-C533-9DE7-E29B-32B5FE2020DC}"/>
              </a:ext>
            </a:extLst>
          </p:cNvPr>
          <p:cNvSpPr/>
          <p:nvPr/>
        </p:nvSpPr>
        <p:spPr>
          <a:xfrm>
            <a:off x="4273665" y="3898930"/>
            <a:ext cx="2244451" cy="72333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JURISDICTION MASTER</a:t>
            </a:r>
          </a:p>
        </p:txBody>
      </p:sp>
      <p:sp>
        <p:nvSpPr>
          <p:cNvPr id="22" name="Subtitle 2">
            <a:extLst>
              <a:ext uri="{FF2B5EF4-FFF2-40B4-BE49-F238E27FC236}">
                <a16:creationId xmlns:a16="http://schemas.microsoft.com/office/drawing/2014/main" id="{CEA3736A-F3B6-9453-EF81-F67AAC214C00}"/>
              </a:ext>
            </a:extLst>
          </p:cNvPr>
          <p:cNvSpPr txBox="1">
            <a:spLocks/>
          </p:cNvSpPr>
          <p:nvPr/>
        </p:nvSpPr>
        <p:spPr>
          <a:xfrm>
            <a:off x="7260568" y="5326600"/>
            <a:ext cx="2452704" cy="103732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R="0" lvl="0" algn="l">
              <a:lnSpc>
                <a:spcPct val="115000"/>
              </a:lnSpc>
              <a:spcBef>
                <a:spcPts val="0"/>
              </a:spcBef>
              <a:spcAft>
                <a:spcPts val="0"/>
              </a:spcAft>
            </a:pPr>
            <a:r>
              <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Coordinates</a:t>
            </a:r>
          </a:p>
          <a:p>
            <a:pPr marR="0" lvl="0" algn="l">
              <a:lnSpc>
                <a:spcPct val="115000"/>
              </a:lnSpc>
              <a:spcBef>
                <a:spcPts val="0"/>
              </a:spcBef>
              <a:spcAft>
                <a:spcPts val="0"/>
              </a:spcAft>
            </a:pPr>
            <a:r>
              <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Landform</a:t>
            </a:r>
          </a:p>
          <a:p>
            <a:pPr marR="0" lvl="0" algn="l">
              <a:lnSpc>
                <a:spcPct val="115000"/>
              </a:lnSpc>
              <a:spcBef>
                <a:spcPts val="0"/>
              </a:spcBef>
              <a:spcAft>
                <a:spcPts val="0"/>
              </a:spcAft>
            </a:pPr>
            <a:endPar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lgn="l">
              <a:lnSpc>
                <a:spcPct val="115000"/>
              </a:lnSpc>
              <a:spcBef>
                <a:spcPts val="0"/>
              </a:spcBef>
              <a:spcAft>
                <a:spcPts val="0"/>
              </a:spcAft>
            </a:pPr>
            <a:endPar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3" name="Subtitle 2">
            <a:extLst>
              <a:ext uri="{FF2B5EF4-FFF2-40B4-BE49-F238E27FC236}">
                <a16:creationId xmlns:a16="http://schemas.microsoft.com/office/drawing/2014/main" id="{5D1EFBC7-2B58-A08E-FEE6-8DCDE3082865}"/>
              </a:ext>
            </a:extLst>
          </p:cNvPr>
          <p:cNvSpPr txBox="1">
            <a:spLocks/>
          </p:cNvSpPr>
          <p:nvPr/>
        </p:nvSpPr>
        <p:spPr>
          <a:xfrm>
            <a:off x="9258932" y="1944081"/>
            <a:ext cx="2452704" cy="103732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Searcher Criteria</a:t>
            </a:r>
          </a:p>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Weighting Value</a:t>
            </a:r>
          </a:p>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Analytic Results</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4" name="Subtitle 2">
            <a:extLst>
              <a:ext uri="{FF2B5EF4-FFF2-40B4-BE49-F238E27FC236}">
                <a16:creationId xmlns:a16="http://schemas.microsoft.com/office/drawing/2014/main" id="{A121A461-C8AF-DA70-788B-BD31DFC4F481}"/>
              </a:ext>
            </a:extLst>
          </p:cNvPr>
          <p:cNvSpPr txBox="1">
            <a:spLocks/>
          </p:cNvSpPr>
          <p:nvPr/>
        </p:nvSpPr>
        <p:spPr>
          <a:xfrm>
            <a:off x="9192884" y="3905648"/>
            <a:ext cx="3092222" cy="103732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R="0" lvl="0" algn="l">
              <a:lnSpc>
                <a:spcPct val="115000"/>
              </a:lnSpc>
              <a:spcBef>
                <a:spcPts val="0"/>
              </a:spcBef>
              <a:spcAft>
                <a:spcPts val="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INTERFACES / SUPPORTS</a:t>
            </a:r>
          </a:p>
          <a:p>
            <a:pPr marL="285750" marR="0" lvl="0" indent="-285750" algn="l">
              <a:lnSpc>
                <a:spcPct val="115000"/>
              </a:lnSpc>
              <a:spcBef>
                <a:spcPts val="0"/>
              </a:spcBef>
              <a:spcAft>
                <a:spcPts val="0"/>
              </a:spcAft>
              <a:buFont typeface="Arial" panose="020B0604020202020204" pitchFamily="34" charset="0"/>
              <a:buChar char="•"/>
            </a:pPr>
            <a:r>
              <a:rPr lang="en-US" sz="18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Lens Entity Database</a:t>
            </a:r>
          </a:p>
          <a:p>
            <a:pPr marL="285750" marR="0" lvl="0" indent="-285750" algn="l">
              <a:lnSpc>
                <a:spcPct val="115000"/>
              </a:lnSpc>
              <a:spcBef>
                <a:spcPts val="0"/>
              </a:spcBef>
              <a:spcAft>
                <a:spcPts val="0"/>
              </a:spcAft>
              <a:buFont typeface="Arial" panose="020B0604020202020204" pitchFamily="34" charset="0"/>
              <a:buChar char="•"/>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Mapping Routines</a:t>
            </a:r>
          </a:p>
          <a:p>
            <a:pPr marR="0" lvl="0" algn="l">
              <a:lnSpc>
                <a:spcPct val="115000"/>
              </a:lnSpc>
              <a:spcBef>
                <a:spcPts val="0"/>
              </a:spcBef>
              <a:spcAft>
                <a:spcPts val="0"/>
              </a:spcAft>
            </a:pP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lgn="l">
              <a:lnSpc>
                <a:spcPct val="115000"/>
              </a:lnSpc>
              <a:spcBef>
                <a:spcPts val="0"/>
              </a:spcBef>
              <a:spcAft>
                <a:spcPts val="0"/>
              </a:spcAft>
            </a:pP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5" name="Oval 24">
            <a:extLst>
              <a:ext uri="{FF2B5EF4-FFF2-40B4-BE49-F238E27FC236}">
                <a16:creationId xmlns:a16="http://schemas.microsoft.com/office/drawing/2014/main" id="{C20D2139-7DFB-3921-DC6C-684B467DD177}"/>
              </a:ext>
            </a:extLst>
          </p:cNvPr>
          <p:cNvSpPr/>
          <p:nvPr/>
        </p:nvSpPr>
        <p:spPr>
          <a:xfrm>
            <a:off x="4588083" y="1219724"/>
            <a:ext cx="2129583" cy="72333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TRENDS MASTER</a:t>
            </a:r>
          </a:p>
        </p:txBody>
      </p:sp>
      <p:sp>
        <p:nvSpPr>
          <p:cNvPr id="26" name="Subtitle 2">
            <a:extLst>
              <a:ext uri="{FF2B5EF4-FFF2-40B4-BE49-F238E27FC236}">
                <a16:creationId xmlns:a16="http://schemas.microsoft.com/office/drawing/2014/main" id="{2832CC1E-0AFF-752A-E2F5-E4F3E70AB39F}"/>
              </a:ext>
            </a:extLst>
          </p:cNvPr>
          <p:cNvSpPr txBox="1">
            <a:spLocks/>
          </p:cNvSpPr>
          <p:nvPr/>
        </p:nvSpPr>
        <p:spPr>
          <a:xfrm>
            <a:off x="2201892" y="3909869"/>
            <a:ext cx="2128464" cy="103732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Profile Data</a:t>
            </a:r>
          </a:p>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Institutional Profile</a:t>
            </a:r>
          </a:p>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Vision Statements etc</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Arial" panose="020B0604020202020204" pitchFamily="34" charset="0"/>
              <a:buChar char="•"/>
            </a:pP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7" name="Oval 26">
            <a:extLst>
              <a:ext uri="{FF2B5EF4-FFF2-40B4-BE49-F238E27FC236}">
                <a16:creationId xmlns:a16="http://schemas.microsoft.com/office/drawing/2014/main" id="{B4411FD4-66FC-695C-1EE7-55D5C5783741}"/>
              </a:ext>
            </a:extLst>
          </p:cNvPr>
          <p:cNvSpPr/>
          <p:nvPr/>
        </p:nvSpPr>
        <p:spPr>
          <a:xfrm>
            <a:off x="2171990" y="3138740"/>
            <a:ext cx="2129583" cy="72333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COMMUNITY MASTER</a:t>
            </a:r>
          </a:p>
        </p:txBody>
      </p:sp>
      <p:sp>
        <p:nvSpPr>
          <p:cNvPr id="28" name="Subtitle 2">
            <a:extLst>
              <a:ext uri="{FF2B5EF4-FFF2-40B4-BE49-F238E27FC236}">
                <a16:creationId xmlns:a16="http://schemas.microsoft.com/office/drawing/2014/main" id="{0698F6D6-5DA2-A094-3C1F-9A62A7A8A949}"/>
              </a:ext>
            </a:extLst>
          </p:cNvPr>
          <p:cNvSpPr txBox="1">
            <a:spLocks/>
          </p:cNvSpPr>
          <p:nvPr/>
        </p:nvSpPr>
        <p:spPr>
          <a:xfrm>
            <a:off x="173231" y="3129052"/>
            <a:ext cx="2219083" cy="103732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Profile Data</a:t>
            </a:r>
          </a:p>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Institutional Profile</a:t>
            </a:r>
          </a:p>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Vision Statements </a:t>
            </a: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etc</a:t>
            </a:r>
            <a:endPar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lgn="l">
              <a:lnSpc>
                <a:spcPct val="115000"/>
              </a:lnSpc>
              <a:spcBef>
                <a:spcPts val="0"/>
              </a:spcBef>
              <a:spcAft>
                <a:spcPts val="0"/>
              </a:spcAft>
            </a:pPr>
            <a:endPar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algn="l">
              <a:lnSpc>
                <a:spcPct val="115000"/>
              </a:lnSpc>
              <a:spcBef>
                <a:spcPts val="0"/>
              </a:spcBef>
              <a:spcAft>
                <a:spcPts val="0"/>
              </a:spcAft>
            </a:pPr>
            <a:endPar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9" name="Oval 28">
            <a:extLst>
              <a:ext uri="{FF2B5EF4-FFF2-40B4-BE49-F238E27FC236}">
                <a16:creationId xmlns:a16="http://schemas.microsoft.com/office/drawing/2014/main" id="{505C9B88-641A-6543-5891-481F6867BCA2}"/>
              </a:ext>
            </a:extLst>
          </p:cNvPr>
          <p:cNvSpPr/>
          <p:nvPr/>
        </p:nvSpPr>
        <p:spPr>
          <a:xfrm>
            <a:off x="7119" y="2388296"/>
            <a:ext cx="2129583" cy="72333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IAC</a:t>
            </a:r>
          </a:p>
          <a:p>
            <a:pPr algn="ctr"/>
            <a:r>
              <a:rPr lang="en-US" sz="1600" dirty="0">
                <a:latin typeface="Times New Roman" panose="02020603050405020304" pitchFamily="18" charset="0"/>
                <a:cs typeface="Times New Roman" panose="02020603050405020304" pitchFamily="18" charset="0"/>
              </a:rPr>
              <a:t> MASTER</a:t>
            </a:r>
          </a:p>
        </p:txBody>
      </p:sp>
      <p:sp>
        <p:nvSpPr>
          <p:cNvPr id="30" name="Subtitle 2">
            <a:extLst>
              <a:ext uri="{FF2B5EF4-FFF2-40B4-BE49-F238E27FC236}">
                <a16:creationId xmlns:a16="http://schemas.microsoft.com/office/drawing/2014/main" id="{5678BDA4-E457-D0A1-A2A3-D81CB724CAD5}"/>
              </a:ext>
            </a:extLst>
          </p:cNvPr>
          <p:cNvSpPr txBox="1">
            <a:spLocks/>
          </p:cNvSpPr>
          <p:nvPr/>
        </p:nvSpPr>
        <p:spPr>
          <a:xfrm>
            <a:off x="6895456" y="3200165"/>
            <a:ext cx="2452704" cy="103732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Source Year</a:t>
            </a:r>
          </a:p>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Value</a:t>
            </a:r>
          </a:p>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Source &amp; Recurring Data</a:t>
            </a:r>
            <a:endPar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1" name="Subtitle 2">
            <a:extLst>
              <a:ext uri="{FF2B5EF4-FFF2-40B4-BE49-F238E27FC236}">
                <a16:creationId xmlns:a16="http://schemas.microsoft.com/office/drawing/2014/main" id="{58CBDEC6-A482-2A32-350A-ED5601A81A59}"/>
              </a:ext>
            </a:extLst>
          </p:cNvPr>
          <p:cNvSpPr txBox="1">
            <a:spLocks/>
          </p:cNvSpPr>
          <p:nvPr/>
        </p:nvSpPr>
        <p:spPr>
          <a:xfrm>
            <a:off x="4702260" y="1991873"/>
            <a:ext cx="1417515" cy="103732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Zip Code</a:t>
            </a:r>
          </a:p>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Year</a:t>
            </a:r>
          </a:p>
          <a:p>
            <a:pPr marL="171450" marR="0" lvl="0" indent="-171450" algn="l">
              <a:lnSpc>
                <a:spcPct val="115000"/>
              </a:lnSpc>
              <a:spcBef>
                <a:spcPts val="0"/>
              </a:spcBef>
              <a:spcAft>
                <a:spcPts val="0"/>
              </a:spcAft>
              <a:buFont typeface="Arial" panose="020B0604020202020204" pitchFamily="34" charset="0"/>
              <a:buChar char="•"/>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Value</a:t>
            </a:r>
          </a:p>
        </p:txBody>
      </p:sp>
      <p:cxnSp>
        <p:nvCxnSpPr>
          <p:cNvPr id="33" name="Straight Arrow Connector 32">
            <a:extLst>
              <a:ext uri="{FF2B5EF4-FFF2-40B4-BE49-F238E27FC236}">
                <a16:creationId xmlns:a16="http://schemas.microsoft.com/office/drawing/2014/main" id="{37486388-01FF-F767-EE80-34DF9AF76CF6}"/>
              </a:ext>
            </a:extLst>
          </p:cNvPr>
          <p:cNvCxnSpPr>
            <a:cxnSpLocks/>
            <a:stCxn id="18" idx="0"/>
            <a:endCxn id="19" idx="4"/>
          </p:cNvCxnSpPr>
          <p:nvPr/>
        </p:nvCxnSpPr>
        <p:spPr>
          <a:xfrm flipH="1" flipV="1">
            <a:off x="8007040" y="3173792"/>
            <a:ext cx="6054" cy="133092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848F80F4-38D4-1265-6357-E147B3297D49}"/>
              </a:ext>
            </a:extLst>
          </p:cNvPr>
          <p:cNvCxnSpPr>
            <a:cxnSpLocks/>
            <a:stCxn id="19" idx="1"/>
            <a:endCxn id="25" idx="5"/>
          </p:cNvCxnSpPr>
          <p:nvPr/>
        </p:nvCxnSpPr>
        <p:spPr>
          <a:xfrm flipH="1" flipV="1">
            <a:off x="6405796" y="1837126"/>
            <a:ext cx="894049" cy="719264"/>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D8C3421C-DA88-9EE5-1B9F-3976087BF38C}"/>
              </a:ext>
            </a:extLst>
          </p:cNvPr>
          <p:cNvCxnSpPr>
            <a:cxnSpLocks/>
            <a:stCxn id="19" idx="7"/>
          </p:cNvCxnSpPr>
          <p:nvPr/>
        </p:nvCxnSpPr>
        <p:spPr>
          <a:xfrm flipV="1">
            <a:off x="8714235" y="1851528"/>
            <a:ext cx="691978" cy="704862"/>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F7A7513F-C87B-647A-C58D-7E84D2F35A15}"/>
              </a:ext>
            </a:extLst>
          </p:cNvPr>
          <p:cNvCxnSpPr>
            <a:cxnSpLocks/>
            <a:stCxn id="25" idx="6"/>
            <a:endCxn id="20" idx="2"/>
          </p:cNvCxnSpPr>
          <p:nvPr/>
        </p:nvCxnSpPr>
        <p:spPr>
          <a:xfrm flipV="1">
            <a:off x="6717666" y="1531400"/>
            <a:ext cx="2303521" cy="49990"/>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53" name="Subtitle 2">
            <a:extLst>
              <a:ext uri="{FF2B5EF4-FFF2-40B4-BE49-F238E27FC236}">
                <a16:creationId xmlns:a16="http://schemas.microsoft.com/office/drawing/2014/main" id="{5AA03866-03DB-DE7A-A37E-DF75B85A65B4}"/>
              </a:ext>
            </a:extLst>
          </p:cNvPr>
          <p:cNvSpPr txBox="1">
            <a:spLocks/>
          </p:cNvSpPr>
          <p:nvPr/>
        </p:nvSpPr>
        <p:spPr>
          <a:xfrm>
            <a:off x="4963047" y="2977302"/>
            <a:ext cx="1864569" cy="343208"/>
          </a:xfrm>
          <a:prstGeom prst="rect">
            <a:avLst/>
          </a:prstGeom>
          <a:ln>
            <a:solidFill>
              <a:schemeClr val="bg1"/>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R="0" lvl="0">
              <a:lnSpc>
                <a:spcPct val="115000"/>
              </a:lnSpc>
              <a:spcBef>
                <a:spcPts val="0"/>
              </a:spcBef>
              <a:spcAft>
                <a:spcPts val="0"/>
              </a:spcAft>
            </a:pPr>
            <a:r>
              <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RESEARCHERS</a:t>
            </a:r>
          </a:p>
        </p:txBody>
      </p:sp>
      <p:sp>
        <p:nvSpPr>
          <p:cNvPr id="2" name="Oval 1">
            <a:extLst>
              <a:ext uri="{FF2B5EF4-FFF2-40B4-BE49-F238E27FC236}">
                <a16:creationId xmlns:a16="http://schemas.microsoft.com/office/drawing/2014/main" id="{A1978ECD-09C0-3FC1-741A-11B67A53AE04}"/>
              </a:ext>
            </a:extLst>
          </p:cNvPr>
          <p:cNvSpPr/>
          <p:nvPr/>
        </p:nvSpPr>
        <p:spPr>
          <a:xfrm>
            <a:off x="9021187" y="1179259"/>
            <a:ext cx="2218314" cy="72333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CALCULATOR</a:t>
            </a:r>
          </a:p>
        </p:txBody>
      </p:sp>
      <p:cxnSp>
        <p:nvCxnSpPr>
          <p:cNvPr id="6" name="Straight Connector 5">
            <a:extLst>
              <a:ext uri="{FF2B5EF4-FFF2-40B4-BE49-F238E27FC236}">
                <a16:creationId xmlns:a16="http://schemas.microsoft.com/office/drawing/2014/main" id="{63CEF5AD-AB4C-3357-C0B4-C1DB02DC7FAB}"/>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CB1F0C9-712B-89E2-4174-62642595A45B}"/>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Tree>
    <p:extLst>
      <p:ext uri="{BB962C8B-B14F-4D97-AF65-F5344CB8AC3E}">
        <p14:creationId xmlns:p14="http://schemas.microsoft.com/office/powerpoint/2010/main" val="1682087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76200" y="247650"/>
            <a:ext cx="12192000" cy="723331"/>
          </a:xfrm>
        </p:spPr>
        <p:txBody>
          <a:bodyPr>
            <a:noAutofit/>
          </a:bodyPr>
          <a:lstStyle/>
          <a:p>
            <a:r>
              <a:rPr lang="en-US" sz="4000" b="1" dirty="0">
                <a:solidFill>
                  <a:srgbClr val="FFFF00"/>
                </a:solidFill>
                <a:latin typeface="Times New Roman" panose="02020603050405020304" pitchFamily="18" charset="0"/>
                <a:cs typeface="Times New Roman" panose="02020603050405020304" pitchFamily="18" charset="0"/>
              </a:rPr>
              <a:t>THE COMMUNITY PROFILE</a:t>
            </a:r>
          </a:p>
        </p:txBody>
      </p:sp>
      <p:cxnSp>
        <p:nvCxnSpPr>
          <p:cNvPr id="6" name="Straight Connector 5">
            <a:extLst>
              <a:ext uri="{FF2B5EF4-FFF2-40B4-BE49-F238E27FC236}">
                <a16:creationId xmlns:a16="http://schemas.microsoft.com/office/drawing/2014/main" id="{9718E94E-7269-07A1-8974-05AE8972705D}"/>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85D9EE6-A229-EB3B-E1FC-6B41AE0D0DFF}"/>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pic>
        <p:nvPicPr>
          <p:cNvPr id="9" name="Picture 8">
            <a:extLst>
              <a:ext uri="{FF2B5EF4-FFF2-40B4-BE49-F238E27FC236}">
                <a16:creationId xmlns:a16="http://schemas.microsoft.com/office/drawing/2014/main" id="{24ACC59A-D092-8F84-80FA-11023D60313B}"/>
              </a:ext>
            </a:extLst>
          </p:cNvPr>
          <p:cNvPicPr>
            <a:picLocks noChangeAspect="1"/>
          </p:cNvPicPr>
          <p:nvPr/>
        </p:nvPicPr>
        <p:blipFill>
          <a:blip r:embed="rId2">
            <a:extLst>
              <a:ext uri="{28A0092B-C50C-407E-A947-70E740481C1C}">
                <a14:useLocalDpi xmlns:a14="http://schemas.microsoft.com/office/drawing/2010/main" val="0"/>
              </a:ext>
            </a:extLst>
          </a:blip>
          <a:srcRect b="23707"/>
          <a:stretch/>
        </p:blipFill>
        <p:spPr>
          <a:xfrm>
            <a:off x="1019177" y="819149"/>
            <a:ext cx="9526132" cy="5068180"/>
          </a:xfrm>
          <a:prstGeom prst="rect">
            <a:avLst/>
          </a:prstGeom>
        </p:spPr>
      </p:pic>
    </p:spTree>
    <p:extLst>
      <p:ext uri="{BB962C8B-B14F-4D97-AF65-F5344CB8AC3E}">
        <p14:creationId xmlns:p14="http://schemas.microsoft.com/office/powerpoint/2010/main" val="3551543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2343151" y="1200151"/>
            <a:ext cx="7124700" cy="4154984"/>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Geo-Structure</a:t>
            </a:r>
          </a:p>
          <a:p>
            <a:pPr algn="ctr"/>
            <a:r>
              <a:rPr lang="en-US" sz="8800" dirty="0">
                <a:solidFill>
                  <a:schemeClr val="bg1"/>
                </a:solidFill>
                <a:latin typeface="Times New Roman" panose="02020603050405020304" pitchFamily="18" charset="0"/>
                <a:cs typeface="Times New Roman" panose="02020603050405020304" pitchFamily="18" charset="0"/>
              </a:rPr>
              <a:t> </a:t>
            </a:r>
          </a:p>
          <a:p>
            <a:pPr algn="ctr"/>
            <a:r>
              <a:rPr lang="en-US" sz="8800" dirty="0">
                <a:solidFill>
                  <a:schemeClr val="bg1"/>
                </a:solidFill>
                <a:latin typeface="Times New Roman" panose="02020603050405020304" pitchFamily="18" charset="0"/>
                <a:cs typeface="Times New Roman" panose="02020603050405020304" pitchFamily="18" charset="0"/>
              </a:rPr>
              <a:t>Q&amp;A </a:t>
            </a:r>
          </a:p>
        </p:txBody>
      </p:sp>
    </p:spTree>
    <p:extLst>
      <p:ext uri="{BB962C8B-B14F-4D97-AF65-F5344CB8AC3E}">
        <p14:creationId xmlns:p14="http://schemas.microsoft.com/office/powerpoint/2010/main" val="1257782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2433637" y="158175"/>
            <a:ext cx="7124700" cy="5509200"/>
          </a:xfrm>
          <a:prstGeom prst="rect">
            <a:avLst/>
          </a:prstGeom>
          <a:noFill/>
        </p:spPr>
        <p:txBody>
          <a:bodyPr wrap="square" rtlCol="0">
            <a:spAutoFit/>
          </a:bodyPr>
          <a:lstStyle/>
          <a:p>
            <a:pPr algn="ctr"/>
            <a:endParaRPr lang="en-US" sz="8800" dirty="0">
              <a:solidFill>
                <a:schemeClr val="bg1"/>
              </a:solidFill>
              <a:latin typeface="Times New Roman" panose="02020603050405020304" pitchFamily="18" charset="0"/>
              <a:cs typeface="Times New Roman" panose="02020603050405020304" pitchFamily="18" charset="0"/>
            </a:endParaRPr>
          </a:p>
          <a:p>
            <a:pPr algn="ctr"/>
            <a:r>
              <a:rPr lang="en-US" sz="8800" dirty="0">
                <a:solidFill>
                  <a:schemeClr val="bg1"/>
                </a:solidFill>
                <a:latin typeface="Times New Roman" panose="02020603050405020304" pitchFamily="18" charset="0"/>
                <a:cs typeface="Times New Roman" panose="02020603050405020304" pitchFamily="18" charset="0"/>
              </a:rPr>
              <a:t>The Viability Index</a:t>
            </a:r>
          </a:p>
          <a:p>
            <a:pPr algn="ctr"/>
            <a:endParaRPr lang="en-US" sz="8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0946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2433637" y="158175"/>
            <a:ext cx="7124700" cy="769441"/>
          </a:xfrm>
          <a:prstGeom prst="rect">
            <a:avLst/>
          </a:prstGeom>
          <a:noFill/>
        </p:spPr>
        <p:txBody>
          <a:bodyPr wrap="square" rtlCol="0">
            <a:spAutoFit/>
          </a:bodyPr>
          <a:lstStyle/>
          <a:p>
            <a:pPr algn="ctr"/>
            <a:r>
              <a:rPr lang="en-US" sz="4000" dirty="0">
                <a:solidFill>
                  <a:srgbClr val="FFFF00"/>
                </a:solidFill>
                <a:latin typeface="Times New Roman" panose="02020603050405020304" pitchFamily="18" charset="0"/>
                <a:cs typeface="Times New Roman" panose="02020603050405020304" pitchFamily="18" charset="0"/>
              </a:rPr>
              <a:t>The</a:t>
            </a:r>
            <a:r>
              <a:rPr lang="en-US" sz="4400" dirty="0">
                <a:solidFill>
                  <a:srgbClr val="FFFF00"/>
                </a:solidFill>
                <a:latin typeface="Times New Roman" panose="02020603050405020304" pitchFamily="18" charset="0"/>
                <a:cs typeface="Times New Roman" panose="02020603050405020304" pitchFamily="18" charset="0"/>
              </a:rPr>
              <a:t> Index</a:t>
            </a:r>
          </a:p>
        </p:txBody>
      </p:sp>
      <p:pic>
        <p:nvPicPr>
          <p:cNvPr id="3" name="Picture 2">
            <a:extLst>
              <a:ext uri="{FF2B5EF4-FFF2-40B4-BE49-F238E27FC236}">
                <a16:creationId xmlns:a16="http://schemas.microsoft.com/office/drawing/2014/main" id="{2FAC7E62-3C9A-3800-783D-227565EAF5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444" y="1035308"/>
            <a:ext cx="7661111" cy="4787383"/>
          </a:xfrm>
          <a:prstGeom prst="rect">
            <a:avLst/>
          </a:prstGeom>
        </p:spPr>
      </p:pic>
    </p:spTree>
    <p:extLst>
      <p:ext uri="{BB962C8B-B14F-4D97-AF65-F5344CB8AC3E}">
        <p14:creationId xmlns:p14="http://schemas.microsoft.com/office/powerpoint/2010/main" val="3247226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2433637" y="158175"/>
            <a:ext cx="7124700" cy="707886"/>
          </a:xfrm>
          <a:prstGeom prst="rect">
            <a:avLst/>
          </a:prstGeom>
          <a:noFill/>
        </p:spPr>
        <p:txBody>
          <a:bodyPr wrap="square" rtlCol="0">
            <a:spAutoFit/>
          </a:bodyPr>
          <a:lstStyle/>
          <a:p>
            <a:pPr algn="ctr"/>
            <a:r>
              <a:rPr lang="en-US" sz="4000" dirty="0">
                <a:solidFill>
                  <a:srgbClr val="FFFF00"/>
                </a:solidFill>
                <a:latin typeface="Times New Roman" panose="02020603050405020304" pitchFamily="18" charset="0"/>
                <a:cs typeface="Times New Roman" panose="02020603050405020304" pitchFamily="18" charset="0"/>
              </a:rPr>
              <a:t>The Calculator</a:t>
            </a:r>
          </a:p>
        </p:txBody>
      </p:sp>
      <p:pic>
        <p:nvPicPr>
          <p:cNvPr id="2" name="Picture 1">
            <a:extLst>
              <a:ext uri="{FF2B5EF4-FFF2-40B4-BE49-F238E27FC236}">
                <a16:creationId xmlns:a16="http://schemas.microsoft.com/office/drawing/2014/main" id="{79D5419B-62AD-95B7-9C90-16D832B1B6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2200" y="1104900"/>
            <a:ext cx="6650849" cy="4433899"/>
          </a:xfrm>
          <a:prstGeom prst="rect">
            <a:avLst/>
          </a:prstGeom>
        </p:spPr>
      </p:pic>
    </p:spTree>
    <p:extLst>
      <p:ext uri="{BB962C8B-B14F-4D97-AF65-F5344CB8AC3E}">
        <p14:creationId xmlns:p14="http://schemas.microsoft.com/office/powerpoint/2010/main" val="3817841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0"/>
            <a:ext cx="12192000" cy="723331"/>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1. APPLYING THE VIABILITY INDEX- Community</a:t>
            </a:r>
          </a:p>
        </p:txBody>
      </p:sp>
      <p:pic>
        <p:nvPicPr>
          <p:cNvPr id="8" name="Picture 7">
            <a:extLst>
              <a:ext uri="{FF2B5EF4-FFF2-40B4-BE49-F238E27FC236}">
                <a16:creationId xmlns:a16="http://schemas.microsoft.com/office/drawing/2014/main" id="{71A098EA-DC20-DAFE-F140-A7A55345B2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382" y="978894"/>
            <a:ext cx="10061236" cy="3143007"/>
          </a:xfrm>
          <a:prstGeom prst="rect">
            <a:avLst/>
          </a:prstGeom>
        </p:spPr>
      </p:pic>
      <p:sp>
        <p:nvSpPr>
          <p:cNvPr id="6" name="TextBox 5">
            <a:extLst>
              <a:ext uri="{FF2B5EF4-FFF2-40B4-BE49-F238E27FC236}">
                <a16:creationId xmlns:a16="http://schemas.microsoft.com/office/drawing/2014/main" id="{4E919691-2440-B702-D8E2-C140AE9EC8C4}"/>
              </a:ext>
            </a:extLst>
          </p:cNvPr>
          <p:cNvSpPr txBox="1"/>
          <p:nvPr/>
        </p:nvSpPr>
        <p:spPr>
          <a:xfrm>
            <a:off x="523875" y="4377464"/>
            <a:ext cx="11344478" cy="1200329"/>
          </a:xfrm>
          <a:prstGeom prst="rect">
            <a:avLst/>
          </a:prstGeom>
          <a:noFill/>
        </p:spPr>
        <p:txBody>
          <a:bodyPr wrap="square" rtlCol="0">
            <a:spAutoFit/>
          </a:bodyPr>
          <a:lstStyle/>
          <a:p>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Most importantly, the calculator allows the IAC to research common challenges, develop a solution to that condition and distribute it to all affected communities.  This approach eliminates the agency / foundation approach of requiring each affected entity to compete for the funds to address a solution exclusively for their entity.</a:t>
            </a:r>
          </a:p>
          <a:p>
            <a:endParaRPr lang="en-US" dirty="0"/>
          </a:p>
        </p:txBody>
      </p:sp>
      <p:cxnSp>
        <p:nvCxnSpPr>
          <p:cNvPr id="4" name="Straight Connector 3">
            <a:extLst>
              <a:ext uri="{FF2B5EF4-FFF2-40B4-BE49-F238E27FC236}">
                <a16:creationId xmlns:a16="http://schemas.microsoft.com/office/drawing/2014/main" id="{4BF1AE48-A82F-570C-F2F9-92D5607B2089}"/>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1AAA52D-F7B9-65AE-C0AE-EE64D90B97F8}"/>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Tree>
    <p:extLst>
      <p:ext uri="{BB962C8B-B14F-4D97-AF65-F5344CB8AC3E}">
        <p14:creationId xmlns:p14="http://schemas.microsoft.com/office/powerpoint/2010/main" val="3457721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088F8C-7CE9-55F9-19EE-2C9A3AD1C239}"/>
              </a:ext>
            </a:extLst>
          </p:cNvPr>
          <p:cNvSpPr/>
          <p:nvPr/>
        </p:nvSpPr>
        <p:spPr>
          <a:xfrm>
            <a:off x="0" y="-37310"/>
            <a:ext cx="12192000" cy="693261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0"/>
            <a:ext cx="12192000" cy="723331"/>
          </a:xfrm>
        </p:spPr>
        <p:txBody>
          <a:bodyPr>
            <a:normAutofit fontScale="92500"/>
          </a:bodyPr>
          <a:lstStyle/>
          <a:p>
            <a:r>
              <a:rPr lang="en-US" sz="4000" b="1" dirty="0">
                <a:solidFill>
                  <a:schemeClr val="bg1"/>
                </a:solidFill>
                <a:latin typeface="Times New Roman" panose="02020603050405020304" pitchFamily="18" charset="0"/>
                <a:cs typeface="Times New Roman" panose="02020603050405020304" pitchFamily="18" charset="0"/>
              </a:rPr>
              <a:t>2. STRATEGIC INVESTMENT: Bottom Up or Top Down?</a:t>
            </a:r>
          </a:p>
        </p:txBody>
      </p:sp>
      <p:sp>
        <p:nvSpPr>
          <p:cNvPr id="4" name="Subtitle 2">
            <a:extLst>
              <a:ext uri="{FF2B5EF4-FFF2-40B4-BE49-F238E27FC236}">
                <a16:creationId xmlns:a16="http://schemas.microsoft.com/office/drawing/2014/main" id="{15615D0E-6F01-16F0-E511-C12A8AE8B49A}"/>
              </a:ext>
            </a:extLst>
          </p:cNvPr>
          <p:cNvSpPr txBox="1">
            <a:spLocks/>
          </p:cNvSpPr>
          <p:nvPr/>
        </p:nvSpPr>
        <p:spPr>
          <a:xfrm>
            <a:off x="366487" y="4962770"/>
            <a:ext cx="11710113" cy="10781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74625" marR="0" indent="-174625" algn="l">
              <a:lnSpc>
                <a:spcPct val="115000"/>
              </a:lnSpc>
              <a:spcBef>
                <a:spcPts val="0"/>
              </a:spcBef>
              <a:spcAft>
                <a:spcPts val="0"/>
              </a:spcAft>
            </a:pPr>
            <a:r>
              <a:rPr lang="en-US" sz="1600" i="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THE COMMUNITY IMPACT ANALYSIS - uses the Viability Index to find common problems and common opportunities the solution </a:t>
            </a:r>
            <a:r>
              <a:rPr lang="en-US" sz="1600"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of which would impact the greatest number of communities.  The IAC </a:t>
            </a:r>
            <a:r>
              <a:rPr lang="en-US" sz="1600" i="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provides the market-area intelligence, comparison, scale, and coordination needed to act where the opportunity or problem crosses local boundaries.</a:t>
            </a:r>
          </a:p>
        </p:txBody>
      </p:sp>
      <p:sp>
        <p:nvSpPr>
          <p:cNvPr id="2" name="TextBox 1">
            <a:extLst>
              <a:ext uri="{FF2B5EF4-FFF2-40B4-BE49-F238E27FC236}">
                <a16:creationId xmlns:a16="http://schemas.microsoft.com/office/drawing/2014/main" id="{0F11F653-8C3B-3BF3-862B-6962F19B5DE0}"/>
              </a:ext>
            </a:extLst>
          </p:cNvPr>
          <p:cNvSpPr txBox="1"/>
          <p:nvPr/>
        </p:nvSpPr>
        <p:spPr>
          <a:xfrm>
            <a:off x="554475" y="804955"/>
            <a:ext cx="5136320" cy="461665"/>
          </a:xfrm>
          <a:prstGeom prst="rect">
            <a:avLst/>
          </a:prstGeom>
          <a:noFill/>
        </p:spPr>
        <p:txBody>
          <a:bodyPr wrap="square" rtlCol="0">
            <a:spAutoFit/>
          </a:bodyPr>
          <a:lstStyle/>
          <a:p>
            <a:r>
              <a:rPr lang="en-US" sz="2400" b="1" u="sng" dirty="0">
                <a:solidFill>
                  <a:schemeClr val="bg1"/>
                </a:solidFill>
                <a:latin typeface="Times New Roman" panose="02020603050405020304" pitchFamily="18" charset="0"/>
                <a:cs typeface="Times New Roman" panose="02020603050405020304" pitchFamily="18" charset="0"/>
              </a:rPr>
              <a:t>Agency &amp; Foundation Approach</a:t>
            </a:r>
          </a:p>
        </p:txBody>
      </p:sp>
      <p:sp>
        <p:nvSpPr>
          <p:cNvPr id="6" name="TextBox 5">
            <a:extLst>
              <a:ext uri="{FF2B5EF4-FFF2-40B4-BE49-F238E27FC236}">
                <a16:creationId xmlns:a16="http://schemas.microsoft.com/office/drawing/2014/main" id="{DEFF71B2-049C-4393-DA0C-92583F03C904}"/>
              </a:ext>
            </a:extLst>
          </p:cNvPr>
          <p:cNvSpPr txBox="1"/>
          <p:nvPr/>
        </p:nvSpPr>
        <p:spPr>
          <a:xfrm>
            <a:off x="5911342" y="817121"/>
            <a:ext cx="6318891" cy="461665"/>
          </a:xfrm>
          <a:prstGeom prst="rect">
            <a:avLst/>
          </a:prstGeom>
          <a:noFill/>
        </p:spPr>
        <p:txBody>
          <a:bodyPr wrap="square" rtlCol="0">
            <a:spAutoFit/>
          </a:bodyPr>
          <a:lstStyle/>
          <a:p>
            <a:r>
              <a:rPr lang="en-US" sz="2400" b="1" u="sng" dirty="0">
                <a:solidFill>
                  <a:schemeClr val="bg1"/>
                </a:solidFill>
                <a:latin typeface="Times New Roman" panose="02020603050405020304" pitchFamily="18" charset="0"/>
                <a:cs typeface="Times New Roman" panose="02020603050405020304" pitchFamily="18" charset="0"/>
              </a:rPr>
              <a:t>Budgeting for Community Results</a:t>
            </a:r>
          </a:p>
        </p:txBody>
      </p:sp>
      <p:sp>
        <p:nvSpPr>
          <p:cNvPr id="7" name="TextBox 6">
            <a:extLst>
              <a:ext uri="{FF2B5EF4-FFF2-40B4-BE49-F238E27FC236}">
                <a16:creationId xmlns:a16="http://schemas.microsoft.com/office/drawing/2014/main" id="{84C48712-C1A5-3A8D-5FD6-0E41F63FC0FE}"/>
              </a:ext>
            </a:extLst>
          </p:cNvPr>
          <p:cNvSpPr txBox="1"/>
          <p:nvPr/>
        </p:nvSpPr>
        <p:spPr>
          <a:xfrm>
            <a:off x="696893" y="1266620"/>
            <a:ext cx="4555789" cy="2031325"/>
          </a:xfrm>
          <a:prstGeom prst="rect">
            <a:avLst/>
          </a:prstGeom>
          <a:noFill/>
        </p:spPr>
        <p:txBody>
          <a:bodyPr wrap="square" rtlCol="0">
            <a:spAutoFit/>
          </a:bodyPr>
          <a:lstStyle/>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Select their Special Interest</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Determine Qualification Requirements</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Determine Selection Criteria</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Release an RFP ( Request for Proposal)</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Award the Grants</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Manage Grant Compliance</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Publish Results-- </a:t>
            </a:r>
            <a:r>
              <a:rPr lang="en-US" i="1" dirty="0">
                <a:solidFill>
                  <a:schemeClr val="bg1"/>
                </a:solidFill>
                <a:latin typeface="Times New Roman" panose="02020603050405020304" pitchFamily="18" charset="0"/>
                <a:cs typeface="Times New Roman" panose="02020603050405020304" pitchFamily="18" charset="0"/>
              </a:rPr>
              <a:t>Maybe</a:t>
            </a:r>
          </a:p>
        </p:txBody>
      </p:sp>
      <p:sp>
        <p:nvSpPr>
          <p:cNvPr id="8" name="TextBox 7">
            <a:extLst>
              <a:ext uri="{FF2B5EF4-FFF2-40B4-BE49-F238E27FC236}">
                <a16:creationId xmlns:a16="http://schemas.microsoft.com/office/drawing/2014/main" id="{6AF02A2C-54D1-A9CF-6893-FC7A54F43DE5}"/>
              </a:ext>
            </a:extLst>
          </p:cNvPr>
          <p:cNvSpPr txBox="1"/>
          <p:nvPr/>
        </p:nvSpPr>
        <p:spPr>
          <a:xfrm>
            <a:off x="6131570" y="1200148"/>
            <a:ext cx="6057767" cy="3693319"/>
          </a:xfrm>
          <a:prstGeom prst="rect">
            <a:avLst/>
          </a:prstGeom>
          <a:noFill/>
        </p:spPr>
        <p:txBody>
          <a:bodyPr wrap="square" rtlCol="0">
            <a:spAutoFit/>
          </a:bodyPr>
          <a:lstStyle/>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Annual Consensus Budgeting Cycle</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E-Consensus Prioritizes the Issues</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Viability Index Evaluates Top Priority Issues</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Perform a CIA (Community Impact Analysis)*</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Viability Index identifies those affected- form a Task Force</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Apply e-Consensus, AI and Viability Index to reveal causes / sources of the problem </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Fund the project via the Funding Collaborative</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Develop a Workplan with the  IAC Collaboratives including scaling it to variously impacted communities</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Execute the plan </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Facilitate Solution Implementation</a:t>
            </a:r>
          </a:p>
          <a:p>
            <a:pPr marL="342900" indent="-342900">
              <a:buFont typeface="+mj-lt"/>
              <a:buAutoNum type="arabicPeriod"/>
            </a:pPr>
            <a:r>
              <a:rPr lang="en-US" dirty="0">
                <a:solidFill>
                  <a:schemeClr val="bg1"/>
                </a:solidFill>
                <a:latin typeface="Times New Roman" panose="02020603050405020304" pitchFamily="18" charset="0"/>
                <a:cs typeface="Times New Roman" panose="02020603050405020304" pitchFamily="18" charset="0"/>
              </a:rPr>
              <a:t>Monitor Results with Viability Index</a:t>
            </a:r>
          </a:p>
        </p:txBody>
      </p:sp>
      <p:cxnSp>
        <p:nvCxnSpPr>
          <p:cNvPr id="9" name="Straight Connector 8">
            <a:extLst>
              <a:ext uri="{FF2B5EF4-FFF2-40B4-BE49-F238E27FC236}">
                <a16:creationId xmlns:a16="http://schemas.microsoft.com/office/drawing/2014/main" id="{C8F19259-4D8A-913A-4DA5-D2DDCA16CF5E}"/>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ECFF1CB-95A0-5B1E-3CCF-15652DF138E8}"/>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Tree>
    <p:extLst>
      <p:ext uri="{BB962C8B-B14F-4D97-AF65-F5344CB8AC3E}">
        <p14:creationId xmlns:p14="http://schemas.microsoft.com/office/powerpoint/2010/main" val="228459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2696285" y="82125"/>
            <a:ext cx="7245945" cy="723331"/>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3. AN AI PROJECT REVIEW</a:t>
            </a:r>
          </a:p>
        </p:txBody>
      </p:sp>
      <p:sp>
        <p:nvSpPr>
          <p:cNvPr id="9" name="Rectangle: Rounded Corners 8">
            <a:extLst>
              <a:ext uri="{FF2B5EF4-FFF2-40B4-BE49-F238E27FC236}">
                <a16:creationId xmlns:a16="http://schemas.microsoft.com/office/drawing/2014/main" id="{A164F422-0C19-9765-E339-514C1C205E47}"/>
              </a:ext>
            </a:extLst>
          </p:cNvPr>
          <p:cNvSpPr/>
          <p:nvPr/>
        </p:nvSpPr>
        <p:spPr>
          <a:xfrm>
            <a:off x="11190189" y="-841113"/>
            <a:ext cx="7105650" cy="8763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Shows where the community stands across Infrastructure, Services, Environment, Economy, Demographics, and Governance.</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EBDB4BB-C3CE-B47C-EFCE-DEFA38E565D7}"/>
              </a:ext>
            </a:extLst>
          </p:cNvPr>
          <p:cNvGraphicFramePr>
            <a:graphicFrameLocks noGrp="1"/>
          </p:cNvGraphicFramePr>
          <p:nvPr>
            <p:extLst>
              <p:ext uri="{D42A27DB-BD31-4B8C-83A1-F6EECF244321}">
                <p14:modId xmlns:p14="http://schemas.microsoft.com/office/powerpoint/2010/main" val="1319936276"/>
              </p:ext>
            </p:extLst>
          </p:nvPr>
        </p:nvGraphicFramePr>
        <p:xfrm>
          <a:off x="12184653" y="-419514"/>
          <a:ext cx="5863151" cy="1929922"/>
        </p:xfrm>
        <a:graphic>
          <a:graphicData uri="http://schemas.openxmlformats.org/drawingml/2006/table">
            <a:tbl>
              <a:tblPr firstRow="1" firstCol="1" bandRow="1">
                <a:tableStyleId>{5C22544A-7EE6-4342-B048-85BDC9FD1C3A}</a:tableStyleId>
              </a:tblPr>
              <a:tblGrid>
                <a:gridCol w="1628653">
                  <a:extLst>
                    <a:ext uri="{9D8B030D-6E8A-4147-A177-3AD203B41FA5}">
                      <a16:colId xmlns:a16="http://schemas.microsoft.com/office/drawing/2014/main" val="3975155602"/>
                    </a:ext>
                  </a:extLst>
                </a:gridCol>
                <a:gridCol w="4234498">
                  <a:extLst>
                    <a:ext uri="{9D8B030D-6E8A-4147-A177-3AD203B41FA5}">
                      <a16:colId xmlns:a16="http://schemas.microsoft.com/office/drawing/2014/main" val="516088291"/>
                    </a:ext>
                  </a:extLst>
                </a:gridCol>
              </a:tblGrid>
              <a:tr h="134135">
                <a:tc>
                  <a:txBody>
                    <a:bodyPr/>
                    <a:lstStyle/>
                    <a:p>
                      <a:pPr marL="0" marR="0">
                        <a:lnSpc>
                          <a:spcPct val="115000"/>
                        </a:lnSpc>
                        <a:spcBef>
                          <a:spcPts val="0"/>
                        </a:spcBef>
                        <a:spcAft>
                          <a:spcPts val="0"/>
                        </a:spcAft>
                      </a:pPr>
                      <a:r>
                        <a:rPr lang="en-US" sz="850" dirty="0">
                          <a:effectLst/>
                        </a:rPr>
                        <a:t>Summary Element</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850" dirty="0">
                          <a:effectLst/>
                        </a:rPr>
                        <a:t>Purpose</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18145429"/>
                  </a:ext>
                </a:extLst>
              </a:tr>
              <a:tr h="0">
                <a:tc>
                  <a:txBody>
                    <a:bodyPr/>
                    <a:lstStyle/>
                    <a:p>
                      <a:pPr marL="0" marR="0">
                        <a:lnSpc>
                          <a:spcPct val="115000"/>
                        </a:lnSpc>
                        <a:spcBef>
                          <a:spcPts val="0"/>
                        </a:spcBef>
                        <a:spcAft>
                          <a:spcPts val="0"/>
                        </a:spcAft>
                      </a:pPr>
                      <a:r>
                        <a:rPr lang="en-US" sz="850" dirty="0">
                          <a:effectLst/>
                        </a:rPr>
                        <a:t>Condition Summary</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850" dirty="0">
                          <a:effectLst/>
                        </a:rPr>
                        <a:t>Shows where the community stands across Infrastructure, Services, Environment, Economy, Demographics, and Governance.</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58037837"/>
                  </a:ext>
                </a:extLst>
              </a:tr>
              <a:tr h="0">
                <a:tc>
                  <a:txBody>
                    <a:bodyPr/>
                    <a:lstStyle/>
                    <a:p>
                      <a:pPr marL="0" marR="0">
                        <a:lnSpc>
                          <a:spcPct val="115000"/>
                        </a:lnSpc>
                        <a:spcBef>
                          <a:spcPts val="0"/>
                        </a:spcBef>
                        <a:spcAft>
                          <a:spcPts val="0"/>
                        </a:spcAft>
                      </a:pPr>
                      <a:r>
                        <a:rPr lang="en-US" sz="850" dirty="0">
                          <a:effectLst/>
                        </a:rPr>
                        <a:t>Strengths and Weaknesses</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850" dirty="0">
                          <a:effectLst/>
                        </a:rPr>
                        <a:t>Identifies the strongest assets and weakest conditions, both locally and across the IAC market area.</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81716276"/>
                  </a:ext>
                </a:extLst>
              </a:tr>
              <a:tr h="0">
                <a:tc>
                  <a:txBody>
                    <a:bodyPr/>
                    <a:lstStyle/>
                    <a:p>
                      <a:pPr marL="0" marR="0">
                        <a:lnSpc>
                          <a:spcPct val="115000"/>
                        </a:lnSpc>
                        <a:spcBef>
                          <a:spcPts val="0"/>
                        </a:spcBef>
                        <a:spcAft>
                          <a:spcPts val="0"/>
                        </a:spcAft>
                      </a:pPr>
                      <a:r>
                        <a:rPr lang="en-US" sz="850" dirty="0">
                          <a:effectLst/>
                        </a:rPr>
                        <a:t>Common Opportunities / Problems</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850" dirty="0">
                          <a:effectLst/>
                        </a:rPr>
                        <a:t>Finds patterns shared by multiple ZIPs, Communities, Service Centers, or Major Trade Centers.</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98667120"/>
                  </a:ext>
                </a:extLst>
              </a:tr>
              <a:tr h="173573">
                <a:tc>
                  <a:txBody>
                    <a:bodyPr/>
                    <a:lstStyle/>
                    <a:p>
                      <a:pPr marL="0" marR="0">
                        <a:lnSpc>
                          <a:spcPct val="115000"/>
                        </a:lnSpc>
                        <a:spcBef>
                          <a:spcPts val="0"/>
                        </a:spcBef>
                        <a:spcAft>
                          <a:spcPts val="0"/>
                        </a:spcAft>
                      </a:pPr>
                      <a:r>
                        <a:rPr lang="en-US" sz="850" dirty="0">
                          <a:effectLst/>
                        </a:rPr>
                        <a:t>Vision Alignment</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850" dirty="0">
                          <a:effectLst/>
                        </a:rPr>
                        <a:t>Tests whether a proposal advances the values, priorities, and long-term direction established through visioning and e-Consensus.</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18084947"/>
                  </a:ext>
                </a:extLst>
              </a:tr>
              <a:tr h="341149">
                <a:tc>
                  <a:txBody>
                    <a:bodyPr/>
                    <a:lstStyle/>
                    <a:p>
                      <a:pPr marL="0" marR="0">
                        <a:lnSpc>
                          <a:spcPct val="115000"/>
                        </a:lnSpc>
                        <a:spcBef>
                          <a:spcPts val="0"/>
                        </a:spcBef>
                        <a:spcAft>
                          <a:spcPts val="0"/>
                        </a:spcAft>
                      </a:pPr>
                      <a:r>
                        <a:rPr lang="en-US" sz="850" dirty="0">
                          <a:effectLst/>
                        </a:rPr>
                        <a:t>Strategic Fit</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850" dirty="0">
                          <a:effectLst/>
                        </a:rPr>
                        <a:t>Shows whether an investment should be local, Service Center scale, Major Trade Center scale, or IAC-wide.</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09607047"/>
                  </a:ext>
                </a:extLst>
              </a:tr>
              <a:tr h="0">
                <a:tc>
                  <a:txBody>
                    <a:bodyPr/>
                    <a:lstStyle/>
                    <a:p>
                      <a:pPr marL="0" marR="0">
                        <a:lnSpc>
                          <a:spcPct val="115000"/>
                        </a:lnSpc>
                        <a:spcBef>
                          <a:spcPts val="0"/>
                        </a:spcBef>
                        <a:spcAft>
                          <a:spcPts val="0"/>
                        </a:spcAft>
                      </a:pPr>
                      <a:r>
                        <a:rPr lang="en-US" sz="850" dirty="0">
                          <a:effectLst/>
                        </a:rPr>
                        <a:t>Action Readiness</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850" dirty="0">
                          <a:effectLst/>
                        </a:rPr>
                        <a:t>Combines facts, confidence, partners, funding potential, and governance readiness to show whether a proposal can move forward.</a:t>
                      </a:r>
                      <a:endParaRPr lang="en-US" sz="105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55689339"/>
                  </a:ext>
                </a:extLst>
              </a:tr>
            </a:tbl>
          </a:graphicData>
        </a:graphic>
      </p:graphicFrame>
      <p:sp>
        <p:nvSpPr>
          <p:cNvPr id="20" name="Rectangle: Rounded Corners 19">
            <a:extLst>
              <a:ext uri="{FF2B5EF4-FFF2-40B4-BE49-F238E27FC236}">
                <a16:creationId xmlns:a16="http://schemas.microsoft.com/office/drawing/2014/main" id="{66598410-8724-F762-CAE4-DAF862310DB9}"/>
              </a:ext>
            </a:extLst>
          </p:cNvPr>
          <p:cNvSpPr/>
          <p:nvPr/>
        </p:nvSpPr>
        <p:spPr>
          <a:xfrm>
            <a:off x="12299170" y="4953641"/>
            <a:ext cx="3400425" cy="72333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strike="noStrike"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Make Sure Nothing is Missing-</a:t>
            </a:r>
            <a:endParaRPr lang="en-US" dirty="0"/>
          </a:p>
        </p:txBody>
      </p:sp>
      <p:sp>
        <p:nvSpPr>
          <p:cNvPr id="6" name="Rectangle: Rounded Corners 5">
            <a:extLst>
              <a:ext uri="{FF2B5EF4-FFF2-40B4-BE49-F238E27FC236}">
                <a16:creationId xmlns:a16="http://schemas.microsoft.com/office/drawing/2014/main" id="{47AA2084-D376-5787-9D61-FB69D33212E5}"/>
              </a:ext>
            </a:extLst>
          </p:cNvPr>
          <p:cNvSpPr/>
          <p:nvPr/>
        </p:nvSpPr>
        <p:spPr>
          <a:xfrm>
            <a:off x="455106" y="1386530"/>
            <a:ext cx="2265291"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Submit Project Profile Form</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B9824FF1-BA2A-D3A2-6CDA-B2A55C3A63B8}"/>
              </a:ext>
            </a:extLst>
          </p:cNvPr>
          <p:cNvSpPr/>
          <p:nvPr/>
        </p:nvSpPr>
        <p:spPr>
          <a:xfrm>
            <a:off x="2834774" y="1386530"/>
            <a:ext cx="6661462" cy="6486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none" strike="noStrike"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Pulls known facts and puts them in context. Indicator Selection; ZIP Retrieval; Published Indicator; Benchmark; Trend; Map/Service Area; Identity/Context</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F79F4580-CD7C-8683-F6B9-B63BC14CB61C}"/>
              </a:ext>
            </a:extLst>
          </p:cNvPr>
          <p:cNvSpPr/>
          <p:nvPr/>
        </p:nvSpPr>
        <p:spPr>
          <a:xfrm>
            <a:off x="2834774" y="3642907"/>
            <a:ext cx="6661462" cy="6307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nSpc>
                <a:spcPct val="115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Identifies the strongest assets and weakest conditions, both locally and across the IAC market area.</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83AB39CE-2CFE-5062-A880-A39845FDD7EE}"/>
              </a:ext>
            </a:extLst>
          </p:cNvPr>
          <p:cNvSpPr/>
          <p:nvPr/>
        </p:nvSpPr>
        <p:spPr>
          <a:xfrm>
            <a:off x="2834774" y="2150565"/>
            <a:ext cx="6661462" cy="6307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effectLst/>
                <a:latin typeface="Times New Roman" panose="02020603050405020304" pitchFamily="18" charset="0"/>
                <a:cs typeface="Times New Roman" panose="02020603050405020304" pitchFamily="18" charset="0"/>
              </a:rPr>
              <a:t>Finds patterns shared by multiple ZIPs, Communities, Service Centers, or Major Trade Centers</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5829A77B-303D-4138-95F9-E2744951167A}"/>
              </a:ext>
            </a:extLst>
          </p:cNvPr>
          <p:cNvSpPr/>
          <p:nvPr/>
        </p:nvSpPr>
        <p:spPr>
          <a:xfrm>
            <a:off x="2834774" y="2896736"/>
            <a:ext cx="6661462" cy="6307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nSpc>
                <a:spcPct val="115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Tests whether a proposal advances the values, priorities, and long-term direction established through visioning and e-Consensus.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9A439018-E9AA-AA85-B1B2-4C27E000D7C0}"/>
              </a:ext>
            </a:extLst>
          </p:cNvPr>
          <p:cNvSpPr/>
          <p:nvPr/>
        </p:nvSpPr>
        <p:spPr>
          <a:xfrm>
            <a:off x="2834774" y="5135251"/>
            <a:ext cx="6661462" cy="6307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nSpc>
                <a:spcPct val="115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Shows whether an investment should be local, Service Center scale, Major Trade Center scale, or IAC-wide.</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976F41BF-A590-E49A-6831-51CA98B52F36}"/>
              </a:ext>
            </a:extLst>
          </p:cNvPr>
          <p:cNvSpPr/>
          <p:nvPr/>
        </p:nvSpPr>
        <p:spPr>
          <a:xfrm>
            <a:off x="2834774" y="4389079"/>
            <a:ext cx="6661462" cy="6307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nSpc>
                <a:spcPct val="115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Combines facts, confidence, partners, funding potential, and governance readiness to show whether a proposal can move forward.</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7CBBE8B6-7F99-4FBE-8319-402CB6AE962E}"/>
              </a:ext>
            </a:extLst>
          </p:cNvPr>
          <p:cNvSpPr/>
          <p:nvPr/>
        </p:nvSpPr>
        <p:spPr>
          <a:xfrm>
            <a:off x="455106" y="2132122"/>
            <a:ext cx="2265291"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Identify Synergistic Partners</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16" name="Rectangle: Rounded Corners 15">
            <a:extLst>
              <a:ext uri="{FF2B5EF4-FFF2-40B4-BE49-F238E27FC236}">
                <a16:creationId xmlns:a16="http://schemas.microsoft.com/office/drawing/2014/main" id="{ED71D101-82BA-DE1A-A569-FC7FB7EC4D14}"/>
              </a:ext>
            </a:extLst>
          </p:cNvPr>
          <p:cNvSpPr/>
          <p:nvPr/>
        </p:nvSpPr>
        <p:spPr>
          <a:xfrm>
            <a:off x="455106" y="2886020"/>
            <a:ext cx="2265291"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Define Alternative Scenarios</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17" name="Rectangle: Rounded Corners 16">
            <a:extLst>
              <a:ext uri="{FF2B5EF4-FFF2-40B4-BE49-F238E27FC236}">
                <a16:creationId xmlns:a16="http://schemas.microsoft.com/office/drawing/2014/main" id="{8596807D-4971-D133-EB3F-76C38FA00B08}"/>
              </a:ext>
            </a:extLst>
          </p:cNvPr>
          <p:cNvSpPr/>
          <p:nvPr/>
        </p:nvSpPr>
        <p:spPr>
          <a:xfrm>
            <a:off x="455106" y="3639918"/>
            <a:ext cx="2265291"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Convene Stakeholders</a:t>
            </a:r>
            <a:endParaRPr lang="en-US" sz="1600" u="sng" dirty="0">
              <a:solidFill>
                <a:schemeClr val="tx1"/>
              </a:solidFill>
              <a:latin typeface="Times New Roman" panose="02020603050405020304" pitchFamily="18" charset="0"/>
              <a:cs typeface="Times New Roman" panose="02020603050405020304" pitchFamily="18" charset="0"/>
            </a:endParaRPr>
          </a:p>
        </p:txBody>
      </p:sp>
      <p:sp>
        <p:nvSpPr>
          <p:cNvPr id="18" name="Rectangle: Rounded Corners 17">
            <a:extLst>
              <a:ext uri="{FF2B5EF4-FFF2-40B4-BE49-F238E27FC236}">
                <a16:creationId xmlns:a16="http://schemas.microsoft.com/office/drawing/2014/main" id="{20994F3B-A16D-C43F-184F-A5CF6561C9F1}"/>
              </a:ext>
            </a:extLst>
          </p:cNvPr>
          <p:cNvSpPr/>
          <p:nvPr/>
        </p:nvSpPr>
        <p:spPr>
          <a:xfrm>
            <a:off x="455106" y="4393816"/>
            <a:ext cx="2265291"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Finalize Proposal</a:t>
            </a:r>
            <a:endParaRPr lang="en-US" sz="1600" u="sng" dirty="0">
              <a:solidFill>
                <a:schemeClr val="tx1"/>
              </a:solidFill>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2C7C6B98-FD0B-F7E8-0D14-8A5CEEFE6A1B}"/>
              </a:ext>
            </a:extLst>
          </p:cNvPr>
          <p:cNvSpPr/>
          <p:nvPr/>
        </p:nvSpPr>
        <p:spPr>
          <a:xfrm>
            <a:off x="455106" y="5147716"/>
            <a:ext cx="2265291"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Project Approval and Funding</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39DE0BEE-9F3B-B145-F8F7-D7515506697F}"/>
              </a:ext>
            </a:extLst>
          </p:cNvPr>
          <p:cNvSpPr txBox="1"/>
          <p:nvPr/>
        </p:nvSpPr>
        <p:spPr>
          <a:xfrm>
            <a:off x="455106" y="894945"/>
            <a:ext cx="11281788"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  LEADERSHIP                     AI ENGINE FUNCTIONS                               RESULT</a:t>
            </a:r>
          </a:p>
        </p:txBody>
      </p:sp>
      <p:sp>
        <p:nvSpPr>
          <p:cNvPr id="23" name="Rectangle: Rounded Corners 22">
            <a:extLst>
              <a:ext uri="{FF2B5EF4-FFF2-40B4-BE49-F238E27FC236}">
                <a16:creationId xmlns:a16="http://schemas.microsoft.com/office/drawing/2014/main" id="{7EB18ED5-EDC0-C8F8-00BE-0B219D000D95}"/>
              </a:ext>
            </a:extLst>
          </p:cNvPr>
          <p:cNvSpPr/>
          <p:nvPr/>
        </p:nvSpPr>
        <p:spPr>
          <a:xfrm>
            <a:off x="9620875" y="1399445"/>
            <a:ext cx="1978213"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Who Else </a:t>
            </a: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Might it Benefit</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24" name="Rectangle: Rounded Corners 23">
            <a:extLst>
              <a:ext uri="{FF2B5EF4-FFF2-40B4-BE49-F238E27FC236}">
                <a16:creationId xmlns:a16="http://schemas.microsoft.com/office/drawing/2014/main" id="{F70C23F3-FE78-AC04-BA4D-6D391D964AD6}"/>
              </a:ext>
            </a:extLst>
          </p:cNvPr>
          <p:cNvSpPr/>
          <p:nvPr/>
        </p:nvSpPr>
        <p:spPr>
          <a:xfrm>
            <a:off x="9601921" y="2123036"/>
            <a:ext cx="1978213"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Opportunities</a:t>
            </a:r>
            <a:endParaRPr lang="en-US" sz="1600" dirty="0">
              <a:solidFill>
                <a:schemeClr val="tx1"/>
              </a:solidFill>
              <a:latin typeface="Times New Roman" panose="02020603050405020304" pitchFamily="18" charset="0"/>
              <a:cs typeface="Times New Roman" panose="02020603050405020304" pitchFamily="18" charset="0"/>
            </a:endParaRPr>
          </a:p>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for Leveraging</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25" name="Rectangle: Rounded Corners 24">
            <a:extLst>
              <a:ext uri="{FF2B5EF4-FFF2-40B4-BE49-F238E27FC236}">
                <a16:creationId xmlns:a16="http://schemas.microsoft.com/office/drawing/2014/main" id="{4CD023DF-4764-3B4E-2BCF-5D5D46EC9B3C}"/>
              </a:ext>
            </a:extLst>
          </p:cNvPr>
          <p:cNvSpPr/>
          <p:nvPr/>
        </p:nvSpPr>
        <p:spPr>
          <a:xfrm>
            <a:off x="9627761" y="2907242"/>
            <a:ext cx="1978213"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Project Optimizing based upon CIA </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26" name="Rectangle: Rounded Corners 25">
            <a:extLst>
              <a:ext uri="{FF2B5EF4-FFF2-40B4-BE49-F238E27FC236}">
                <a16:creationId xmlns:a16="http://schemas.microsoft.com/office/drawing/2014/main" id="{AD178CE9-9D29-2538-F107-8263EE601480}"/>
              </a:ext>
            </a:extLst>
          </p:cNvPr>
          <p:cNvSpPr/>
          <p:nvPr/>
        </p:nvSpPr>
        <p:spPr>
          <a:xfrm>
            <a:off x="9627761" y="3647597"/>
            <a:ext cx="1978213"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Engage Partners</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27" name="Rectangle: Rounded Corners 26">
            <a:extLst>
              <a:ext uri="{FF2B5EF4-FFF2-40B4-BE49-F238E27FC236}">
                <a16:creationId xmlns:a16="http://schemas.microsoft.com/office/drawing/2014/main" id="{AE90C2AA-62D3-C460-18CB-1A13098EB252}"/>
              </a:ext>
            </a:extLst>
          </p:cNvPr>
          <p:cNvSpPr/>
          <p:nvPr/>
        </p:nvSpPr>
        <p:spPr>
          <a:xfrm>
            <a:off x="9610614" y="4380274"/>
            <a:ext cx="1978213"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Commit to Budget etc.</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28" name="Rectangle: Rounded Corners 27">
            <a:extLst>
              <a:ext uri="{FF2B5EF4-FFF2-40B4-BE49-F238E27FC236}">
                <a16:creationId xmlns:a16="http://schemas.microsoft.com/office/drawing/2014/main" id="{8FE239D8-763A-9FBD-5BE1-9F85A3CA23D3}"/>
              </a:ext>
            </a:extLst>
          </p:cNvPr>
          <p:cNvSpPr/>
          <p:nvPr/>
        </p:nvSpPr>
        <p:spPr>
          <a:xfrm>
            <a:off x="9610614" y="5143924"/>
            <a:ext cx="1978213" cy="63075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latin typeface="Times New Roman" panose="02020603050405020304" pitchFamily="18" charset="0"/>
                <a:cs typeface="Times New Roman" panose="02020603050405020304" pitchFamily="18" charset="0"/>
              </a:rPr>
              <a:t>Implement &amp; Monitor</a:t>
            </a:r>
            <a:endParaRPr lang="en-US" sz="1600" dirty="0">
              <a:solidFill>
                <a:schemeClr val="tx1"/>
              </a:solidFill>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A44F352C-BD04-DCDD-44B6-5375AE786558}"/>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FA043360-5A0D-E150-6660-8863511ED985}"/>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Tree>
    <p:extLst>
      <p:ext uri="{BB962C8B-B14F-4D97-AF65-F5344CB8AC3E}">
        <p14:creationId xmlns:p14="http://schemas.microsoft.com/office/powerpoint/2010/main" val="957405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2343151" y="1200151"/>
            <a:ext cx="7124700" cy="4154984"/>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Viability Index</a:t>
            </a:r>
          </a:p>
          <a:p>
            <a:pPr algn="ctr"/>
            <a:r>
              <a:rPr lang="en-US" sz="8800" dirty="0">
                <a:solidFill>
                  <a:schemeClr val="bg1"/>
                </a:solidFill>
                <a:latin typeface="Times New Roman" panose="02020603050405020304" pitchFamily="18" charset="0"/>
                <a:cs typeface="Times New Roman" panose="02020603050405020304" pitchFamily="18" charset="0"/>
              </a:rPr>
              <a:t> </a:t>
            </a:r>
          </a:p>
          <a:p>
            <a:pPr algn="ctr"/>
            <a:r>
              <a:rPr lang="en-US" sz="8800" dirty="0">
                <a:solidFill>
                  <a:schemeClr val="bg1"/>
                </a:solidFill>
                <a:latin typeface="Times New Roman" panose="02020603050405020304" pitchFamily="18" charset="0"/>
                <a:cs typeface="Times New Roman" panose="02020603050405020304" pitchFamily="18" charset="0"/>
              </a:rPr>
              <a:t>Q&amp;A </a:t>
            </a:r>
          </a:p>
        </p:txBody>
      </p:sp>
    </p:spTree>
    <p:extLst>
      <p:ext uri="{BB962C8B-B14F-4D97-AF65-F5344CB8AC3E}">
        <p14:creationId xmlns:p14="http://schemas.microsoft.com/office/powerpoint/2010/main" val="2382719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762000" y="0"/>
            <a:ext cx="10496549" cy="4154984"/>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The</a:t>
            </a:r>
          </a:p>
          <a:p>
            <a:pPr algn="ctr"/>
            <a:r>
              <a:rPr lang="en-US" sz="8800" dirty="0">
                <a:solidFill>
                  <a:schemeClr val="bg1"/>
                </a:solidFill>
                <a:latin typeface="Times New Roman" panose="02020603050405020304" pitchFamily="18" charset="0"/>
                <a:cs typeface="Times New Roman" panose="02020603050405020304" pitchFamily="18" charset="0"/>
              </a:rPr>
              <a:t>e-Consensus</a:t>
            </a:r>
          </a:p>
          <a:p>
            <a:pPr algn="ctr"/>
            <a:r>
              <a:rPr lang="en-US" sz="8800" dirty="0">
                <a:solidFill>
                  <a:schemeClr val="bg1"/>
                </a:solidFill>
                <a:latin typeface="Times New Roman" panose="02020603050405020304" pitchFamily="18" charset="0"/>
                <a:cs typeface="Times New Roman" panose="02020603050405020304" pitchFamily="18" charset="0"/>
              </a:rPr>
              <a:t>Forum </a:t>
            </a:r>
          </a:p>
        </p:txBody>
      </p:sp>
    </p:spTree>
    <p:extLst>
      <p:ext uri="{BB962C8B-B14F-4D97-AF65-F5344CB8AC3E}">
        <p14:creationId xmlns:p14="http://schemas.microsoft.com/office/powerpoint/2010/main" val="3013916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3412900-498A-8756-18E8-23E8A21B5E30}"/>
              </a:ext>
            </a:extLst>
          </p:cNvPr>
          <p:cNvSpPr txBox="1"/>
          <p:nvPr/>
        </p:nvSpPr>
        <p:spPr>
          <a:xfrm rot="16200000">
            <a:off x="-4247751" y="3044281"/>
            <a:ext cx="6858002" cy="769441"/>
          </a:xfrm>
          <a:prstGeom prst="rect">
            <a:avLst/>
          </a:prstGeom>
          <a:solidFill>
            <a:schemeClr val="tx1"/>
          </a:solidFill>
        </p:spPr>
        <p:txBody>
          <a:bodyPr wrap="square" rtlCol="0">
            <a:spAutoFit/>
          </a:bodyPr>
          <a:lstStyle/>
          <a:p>
            <a:r>
              <a:rPr lang="en-US" sz="4400" b="1" dirty="0">
                <a:solidFill>
                  <a:schemeClr val="bg1"/>
                </a:solidFill>
                <a:latin typeface="Stencil" panose="040409050D0802020404" pitchFamily="82" charset="0"/>
              </a:rPr>
              <a:t>  3. e-consensus FORUm</a:t>
            </a:r>
            <a:endParaRPr lang="en-US" sz="4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DFDE047-F206-FF8D-8CF4-C2193058C800}"/>
              </a:ext>
            </a:extLst>
          </p:cNvPr>
          <p:cNvSpPr txBox="1"/>
          <p:nvPr/>
        </p:nvSpPr>
        <p:spPr>
          <a:xfrm>
            <a:off x="1" y="190728"/>
            <a:ext cx="12192000" cy="1138773"/>
          </a:xfrm>
          <a:prstGeom prst="rect">
            <a:avLst/>
          </a:prstGeom>
          <a:noFill/>
        </p:spPr>
        <p:txBody>
          <a:bodyPr wrap="square" rtlCol="0">
            <a:spAutoFit/>
          </a:bodyPr>
          <a:lstStyle/>
          <a:p>
            <a:pPr algn="ctr"/>
            <a:r>
              <a:rPr lang="en-US" sz="4400" b="1" dirty="0">
                <a:solidFill>
                  <a:schemeClr val="bg1"/>
                </a:solidFill>
                <a:latin typeface="Times New Roman" panose="02020603050405020304" pitchFamily="18" charset="0"/>
                <a:cs typeface="Times New Roman" panose="02020603050405020304" pitchFamily="18" charset="0"/>
              </a:rPr>
              <a:t>THE COMMUNITY DIALOGUE PROCESS</a:t>
            </a:r>
          </a:p>
          <a:p>
            <a:pPr algn="ctr"/>
            <a:r>
              <a:rPr lang="en-US" sz="2400" dirty="0">
                <a:solidFill>
                  <a:schemeClr val="bg1"/>
                </a:solidFill>
                <a:latin typeface="Times New Roman" panose="02020603050405020304" pitchFamily="18" charset="0"/>
                <a:cs typeface="Times New Roman" panose="02020603050405020304" pitchFamily="18" charset="0"/>
              </a:rPr>
              <a:t>A Year-long example With 100 Participants- 1999</a:t>
            </a:r>
            <a:endParaRPr lang="en-US" sz="4400" b="1" dirty="0">
              <a:solidFill>
                <a:schemeClr val="bg1"/>
              </a:solidFill>
              <a:latin typeface="Stencil" panose="040409050D0802020404" pitchFamily="82" charset="0"/>
            </a:endParaRPr>
          </a:p>
        </p:txBody>
      </p:sp>
      <p:sp>
        <p:nvSpPr>
          <p:cNvPr id="2" name="TextBox 1">
            <a:extLst>
              <a:ext uri="{FF2B5EF4-FFF2-40B4-BE49-F238E27FC236}">
                <a16:creationId xmlns:a16="http://schemas.microsoft.com/office/drawing/2014/main" id="{3892151E-74AB-641B-B7F7-ABC9EB009A9C}"/>
              </a:ext>
            </a:extLst>
          </p:cNvPr>
          <p:cNvSpPr txBox="1"/>
          <p:nvPr/>
        </p:nvSpPr>
        <p:spPr>
          <a:xfrm>
            <a:off x="2456998" y="1501333"/>
            <a:ext cx="7676027" cy="1261884"/>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KEY ISSUES:  </a:t>
            </a:r>
            <a:r>
              <a:rPr lang="en-US" sz="2400" dirty="0">
                <a:solidFill>
                  <a:schemeClr val="bg1"/>
                </a:solidFill>
                <a:latin typeface="Times New Roman" panose="02020603050405020304" pitchFamily="18" charset="0"/>
                <a:cs typeface="Times New Roman" panose="02020603050405020304" pitchFamily="18" charset="0"/>
              </a:rPr>
              <a:t>Distributive Network</a:t>
            </a:r>
          </a:p>
          <a:p>
            <a:pPr marL="2401887" lvl="5"/>
            <a:r>
              <a:rPr lang="en-US" sz="2400" dirty="0">
                <a:solidFill>
                  <a:schemeClr val="bg1"/>
                </a:solidFill>
                <a:latin typeface="Times New Roman" panose="02020603050405020304" pitchFamily="18" charset="0"/>
                <a:cs typeface="Times New Roman" panose="02020603050405020304" pitchFamily="18" charset="0"/>
              </a:rPr>
              <a:t>Critical Mass of Virtual  Services</a:t>
            </a:r>
          </a:p>
          <a:p>
            <a:pPr marL="2401887" lvl="5"/>
            <a:r>
              <a:rPr lang="en-US" sz="2400" dirty="0">
                <a:solidFill>
                  <a:schemeClr val="bg1"/>
                </a:solidFill>
                <a:latin typeface="Times New Roman" panose="02020603050405020304" pitchFamily="18" charset="0"/>
                <a:cs typeface="Times New Roman" panose="02020603050405020304" pitchFamily="18" charset="0"/>
              </a:rPr>
              <a:t>Viability Focus</a:t>
            </a:r>
          </a:p>
        </p:txBody>
      </p:sp>
      <p:grpSp>
        <p:nvGrpSpPr>
          <p:cNvPr id="25" name="Group 24">
            <a:extLst>
              <a:ext uri="{FF2B5EF4-FFF2-40B4-BE49-F238E27FC236}">
                <a16:creationId xmlns:a16="http://schemas.microsoft.com/office/drawing/2014/main" id="{1D15FA07-9626-FB7D-6B7E-E5994C4BA80C}"/>
              </a:ext>
            </a:extLst>
          </p:cNvPr>
          <p:cNvGrpSpPr/>
          <p:nvPr/>
        </p:nvGrpSpPr>
        <p:grpSpPr>
          <a:xfrm>
            <a:off x="688160" y="2797821"/>
            <a:ext cx="10593872" cy="3157959"/>
            <a:chOff x="1450160" y="2930307"/>
            <a:chExt cx="10593872" cy="3157959"/>
          </a:xfrm>
        </p:grpSpPr>
        <p:sp>
          <p:nvSpPr>
            <p:cNvPr id="5" name="TextBox 4">
              <a:extLst>
                <a:ext uri="{FF2B5EF4-FFF2-40B4-BE49-F238E27FC236}">
                  <a16:creationId xmlns:a16="http://schemas.microsoft.com/office/drawing/2014/main" id="{CB8F8D87-38CF-3126-2454-C8C05A08A79E}"/>
                </a:ext>
              </a:extLst>
            </p:cNvPr>
            <p:cNvSpPr txBox="1"/>
            <p:nvPr/>
          </p:nvSpPr>
          <p:spPr>
            <a:xfrm>
              <a:off x="1612147" y="2930307"/>
              <a:ext cx="8397026" cy="3108543"/>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SEVEN RECOMMENDATIONS:</a:t>
              </a:r>
            </a:p>
            <a:p>
              <a:pPr marL="282575" indent="-166688">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Define Information Age Communities</a:t>
              </a:r>
            </a:p>
            <a:p>
              <a:pPr marL="282575" indent="-166688">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Analyze Centralization vs Decentralization</a:t>
              </a:r>
            </a:p>
            <a:p>
              <a:pPr marL="282575" indent="-166688">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Multi-State Regional Strategy</a:t>
              </a:r>
            </a:p>
            <a:p>
              <a:pPr marL="282575" indent="-166688">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Integration of Public, Private and Community Sectors</a:t>
              </a:r>
            </a:p>
            <a:p>
              <a:pPr marL="282575" indent="-166688">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Public-Private Content Delivery System</a:t>
              </a:r>
            </a:p>
            <a:p>
              <a:pPr marL="282575" indent="-166688">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Assessment Tools- (ROI of SoTA)</a:t>
              </a:r>
            </a:p>
            <a:p>
              <a:pPr marL="282575" indent="-166688">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Regulatory Review</a:t>
              </a:r>
            </a:p>
          </p:txBody>
        </p:sp>
        <p:grpSp>
          <p:nvGrpSpPr>
            <p:cNvPr id="18" name="Group 17">
              <a:extLst>
                <a:ext uri="{FF2B5EF4-FFF2-40B4-BE49-F238E27FC236}">
                  <a16:creationId xmlns:a16="http://schemas.microsoft.com/office/drawing/2014/main" id="{682EF293-44FF-5266-83F6-0CD628602AD2}"/>
                </a:ext>
              </a:extLst>
            </p:cNvPr>
            <p:cNvGrpSpPr/>
            <p:nvPr/>
          </p:nvGrpSpPr>
          <p:grpSpPr>
            <a:xfrm>
              <a:off x="1450160" y="3428999"/>
              <a:ext cx="589549" cy="2659267"/>
              <a:chOff x="1450160" y="3428999"/>
              <a:chExt cx="589549" cy="2659267"/>
            </a:xfrm>
          </p:grpSpPr>
          <p:pic>
            <p:nvPicPr>
              <p:cNvPr id="9" name="Picture 8" descr="A green check mark on a black background&#10;&#10;AI-generated content may be incorrect.">
                <a:extLst>
                  <a:ext uri="{FF2B5EF4-FFF2-40B4-BE49-F238E27FC236}">
                    <a16:creationId xmlns:a16="http://schemas.microsoft.com/office/drawing/2014/main" id="{32088511-C8E0-DC13-08E2-5D228810614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49364" y="3428999"/>
                <a:ext cx="371099" cy="348814"/>
              </a:xfrm>
              <a:prstGeom prst="rect">
                <a:avLst/>
              </a:prstGeom>
            </p:spPr>
          </p:pic>
          <p:pic>
            <p:nvPicPr>
              <p:cNvPr id="12" name="Picture 11" descr="A green check mark on a black background&#10;&#10;AI-generated content may be incorrect.">
                <a:extLst>
                  <a:ext uri="{FF2B5EF4-FFF2-40B4-BE49-F238E27FC236}">
                    <a16:creationId xmlns:a16="http://schemas.microsoft.com/office/drawing/2014/main" id="{C215830F-69DE-7B5D-196C-160822E5D31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49364" y="3764129"/>
                <a:ext cx="371099" cy="348814"/>
              </a:xfrm>
              <a:prstGeom prst="rect">
                <a:avLst/>
              </a:prstGeom>
            </p:spPr>
          </p:pic>
          <p:pic>
            <p:nvPicPr>
              <p:cNvPr id="13" name="Picture 12" descr="A green check mark on a black background&#10;&#10;AI-generated content may be incorrect.">
                <a:extLst>
                  <a:ext uri="{FF2B5EF4-FFF2-40B4-BE49-F238E27FC236}">
                    <a16:creationId xmlns:a16="http://schemas.microsoft.com/office/drawing/2014/main" id="{D36E9A38-5C19-BCB9-E744-CBBFF785D09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71724" y="4184076"/>
                <a:ext cx="371099" cy="348814"/>
              </a:xfrm>
              <a:prstGeom prst="rect">
                <a:avLst/>
              </a:prstGeom>
            </p:spPr>
          </p:pic>
          <p:pic>
            <p:nvPicPr>
              <p:cNvPr id="14" name="Picture 13" descr="A green check mark on a black background&#10;&#10;AI-generated content may be incorrect.">
                <a:extLst>
                  <a:ext uri="{FF2B5EF4-FFF2-40B4-BE49-F238E27FC236}">
                    <a16:creationId xmlns:a16="http://schemas.microsoft.com/office/drawing/2014/main" id="{BA09A993-F6AE-1D92-D771-63256DE61E1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71723" y="5253905"/>
                <a:ext cx="371099" cy="348814"/>
              </a:xfrm>
              <a:prstGeom prst="rect">
                <a:avLst/>
              </a:prstGeom>
            </p:spPr>
          </p:pic>
          <p:pic>
            <p:nvPicPr>
              <p:cNvPr id="15" name="Picture 14" descr="A green check mark on a black background&#10;&#10;AI-generated content may be incorrect.">
                <a:extLst>
                  <a:ext uri="{FF2B5EF4-FFF2-40B4-BE49-F238E27FC236}">
                    <a16:creationId xmlns:a16="http://schemas.microsoft.com/office/drawing/2014/main" id="{EE2DC892-B737-6234-173B-230C0454306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47049" y="4533616"/>
                <a:ext cx="371099" cy="348814"/>
              </a:xfrm>
              <a:prstGeom prst="rect">
                <a:avLst/>
              </a:prstGeom>
            </p:spPr>
          </p:pic>
          <p:sp>
            <p:nvSpPr>
              <p:cNvPr id="19" name="TextBox 18">
                <a:extLst>
                  <a:ext uri="{FF2B5EF4-FFF2-40B4-BE49-F238E27FC236}">
                    <a16:creationId xmlns:a16="http://schemas.microsoft.com/office/drawing/2014/main" id="{9C6D0C4D-FA2D-9768-9CD0-AF1660CFC951}"/>
                  </a:ext>
                </a:extLst>
              </p:cNvPr>
              <p:cNvSpPr txBox="1"/>
              <p:nvPr/>
            </p:nvSpPr>
            <p:spPr>
              <a:xfrm>
                <a:off x="1450160" y="4856089"/>
                <a:ext cx="564875" cy="523220"/>
              </a:xfrm>
              <a:prstGeom prst="rect">
                <a:avLst/>
              </a:prstGeom>
              <a:noFill/>
            </p:spPr>
            <p:txBody>
              <a:bodyPr wrap="square" rtlCol="0">
                <a:spAutoFit/>
              </a:bodyPr>
              <a:lstStyle/>
              <a:p>
                <a:r>
                  <a:rPr lang="en-US" sz="2800" b="1" dirty="0">
                    <a:solidFill>
                      <a:schemeClr val="bg1"/>
                    </a:solidFill>
                    <a:latin typeface="Stencil" panose="040409050D0802020404" pitchFamily="82" charset="0"/>
                  </a:rPr>
                  <a:t>X</a:t>
                </a:r>
              </a:p>
            </p:txBody>
          </p:sp>
          <p:sp>
            <p:nvSpPr>
              <p:cNvPr id="20" name="TextBox 19">
                <a:extLst>
                  <a:ext uri="{FF2B5EF4-FFF2-40B4-BE49-F238E27FC236}">
                    <a16:creationId xmlns:a16="http://schemas.microsoft.com/office/drawing/2014/main" id="{8E3705F1-3241-E1D6-C1C5-ACD203F9F749}"/>
                  </a:ext>
                </a:extLst>
              </p:cNvPr>
              <p:cNvSpPr txBox="1"/>
              <p:nvPr/>
            </p:nvSpPr>
            <p:spPr>
              <a:xfrm>
                <a:off x="1474834" y="5565046"/>
                <a:ext cx="564875" cy="523220"/>
              </a:xfrm>
              <a:prstGeom prst="rect">
                <a:avLst/>
              </a:prstGeom>
              <a:noFill/>
            </p:spPr>
            <p:txBody>
              <a:bodyPr wrap="square" rtlCol="0">
                <a:spAutoFit/>
              </a:bodyPr>
              <a:lstStyle/>
              <a:p>
                <a:r>
                  <a:rPr lang="en-US" sz="2800" b="1" dirty="0">
                    <a:solidFill>
                      <a:schemeClr val="bg1"/>
                    </a:solidFill>
                    <a:latin typeface="Stencil" panose="040409050D0802020404" pitchFamily="82" charset="0"/>
                  </a:rPr>
                  <a:t>X</a:t>
                </a:r>
              </a:p>
            </p:txBody>
          </p:sp>
        </p:grpSp>
        <p:grpSp>
          <p:nvGrpSpPr>
            <p:cNvPr id="24" name="Group 23">
              <a:extLst>
                <a:ext uri="{FF2B5EF4-FFF2-40B4-BE49-F238E27FC236}">
                  <a16:creationId xmlns:a16="http://schemas.microsoft.com/office/drawing/2014/main" id="{DC5C36D9-3B3C-F27E-011C-6FE576DACC36}"/>
                </a:ext>
              </a:extLst>
            </p:cNvPr>
            <p:cNvGrpSpPr/>
            <p:nvPr/>
          </p:nvGrpSpPr>
          <p:grpSpPr>
            <a:xfrm>
              <a:off x="7736827" y="3437927"/>
              <a:ext cx="4307205" cy="860981"/>
              <a:chOff x="7736827" y="3437927"/>
              <a:chExt cx="4307205" cy="860981"/>
            </a:xfrm>
          </p:grpSpPr>
          <p:grpSp>
            <p:nvGrpSpPr>
              <p:cNvPr id="22" name="Group 21">
                <a:extLst>
                  <a:ext uri="{FF2B5EF4-FFF2-40B4-BE49-F238E27FC236}">
                    <a16:creationId xmlns:a16="http://schemas.microsoft.com/office/drawing/2014/main" id="{A0564B7E-C9A4-CDBA-6FA5-B1E407EA45C6}"/>
                  </a:ext>
                </a:extLst>
              </p:cNvPr>
              <p:cNvGrpSpPr/>
              <p:nvPr/>
            </p:nvGrpSpPr>
            <p:grpSpPr>
              <a:xfrm>
                <a:off x="7736827" y="3437927"/>
                <a:ext cx="3565572" cy="461665"/>
                <a:chOff x="7736827" y="3437927"/>
                <a:chExt cx="3565572" cy="461665"/>
              </a:xfrm>
            </p:grpSpPr>
            <p:sp>
              <p:nvSpPr>
                <p:cNvPr id="10" name="TextBox 9">
                  <a:extLst>
                    <a:ext uri="{FF2B5EF4-FFF2-40B4-BE49-F238E27FC236}">
                      <a16:creationId xmlns:a16="http://schemas.microsoft.com/office/drawing/2014/main" id="{A0F9F9C4-5335-5122-6A3A-A879C482EFF6}"/>
                    </a:ext>
                  </a:extLst>
                </p:cNvPr>
                <p:cNvSpPr txBox="1"/>
                <p:nvPr/>
              </p:nvSpPr>
              <p:spPr>
                <a:xfrm>
                  <a:off x="7997153" y="3437927"/>
                  <a:ext cx="3305246"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 TCR Has Accomplished</a:t>
                  </a:r>
                </a:p>
              </p:txBody>
            </p:sp>
            <p:pic>
              <p:nvPicPr>
                <p:cNvPr id="16" name="Picture 15" descr="A green check mark on a black background&#10;&#10;AI-generated content may be incorrect.">
                  <a:extLst>
                    <a:ext uri="{FF2B5EF4-FFF2-40B4-BE49-F238E27FC236}">
                      <a16:creationId xmlns:a16="http://schemas.microsoft.com/office/drawing/2014/main" id="{29260334-7ACB-82A7-7EB5-594E8F3A943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736827" y="3443493"/>
                  <a:ext cx="371099" cy="348814"/>
                </a:xfrm>
                <a:prstGeom prst="rect">
                  <a:avLst/>
                </a:prstGeom>
              </p:spPr>
            </p:pic>
          </p:grpSp>
          <p:grpSp>
            <p:nvGrpSpPr>
              <p:cNvPr id="23" name="Group 22">
                <a:extLst>
                  <a:ext uri="{FF2B5EF4-FFF2-40B4-BE49-F238E27FC236}">
                    <a16:creationId xmlns:a16="http://schemas.microsoft.com/office/drawing/2014/main" id="{2BECDF57-6A9D-1F7D-07E4-14E8FE2AE633}"/>
                  </a:ext>
                </a:extLst>
              </p:cNvPr>
              <p:cNvGrpSpPr/>
              <p:nvPr/>
            </p:nvGrpSpPr>
            <p:grpSpPr>
              <a:xfrm>
                <a:off x="7755558" y="3775688"/>
                <a:ext cx="4288474" cy="523220"/>
                <a:chOff x="7737708" y="3774801"/>
                <a:chExt cx="4288474" cy="523220"/>
              </a:xfrm>
            </p:grpSpPr>
            <p:sp>
              <p:nvSpPr>
                <p:cNvPr id="11" name="TextBox 10">
                  <a:extLst>
                    <a:ext uri="{FF2B5EF4-FFF2-40B4-BE49-F238E27FC236}">
                      <a16:creationId xmlns:a16="http://schemas.microsoft.com/office/drawing/2014/main" id="{10595079-DC71-CE2A-FB6F-7E8EDDEBC7E8}"/>
                    </a:ext>
                  </a:extLst>
                </p:cNvPr>
                <p:cNvSpPr txBox="1"/>
                <p:nvPr/>
              </p:nvSpPr>
              <p:spPr>
                <a:xfrm>
                  <a:off x="8082029" y="3814965"/>
                  <a:ext cx="3944153"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Government</a:t>
                  </a:r>
                  <a:r>
                    <a:rPr lang="en-US" sz="2400" b="1"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Has Made Worse</a:t>
                  </a:r>
                </a:p>
              </p:txBody>
            </p:sp>
            <p:sp>
              <p:nvSpPr>
                <p:cNvPr id="21" name="TextBox 20">
                  <a:extLst>
                    <a:ext uri="{FF2B5EF4-FFF2-40B4-BE49-F238E27FC236}">
                      <a16:creationId xmlns:a16="http://schemas.microsoft.com/office/drawing/2014/main" id="{41F6BB97-1316-318A-62B3-4F48B337795E}"/>
                    </a:ext>
                  </a:extLst>
                </p:cNvPr>
                <p:cNvSpPr txBox="1"/>
                <p:nvPr/>
              </p:nvSpPr>
              <p:spPr>
                <a:xfrm>
                  <a:off x="7737708" y="3774801"/>
                  <a:ext cx="564875" cy="523220"/>
                </a:xfrm>
                <a:prstGeom prst="rect">
                  <a:avLst/>
                </a:prstGeom>
                <a:noFill/>
              </p:spPr>
              <p:txBody>
                <a:bodyPr wrap="square" rtlCol="0">
                  <a:spAutoFit/>
                </a:bodyPr>
                <a:lstStyle/>
                <a:p>
                  <a:r>
                    <a:rPr lang="en-US" sz="2800" b="1" dirty="0">
                      <a:solidFill>
                        <a:schemeClr val="bg1"/>
                      </a:solidFill>
                      <a:latin typeface="Stencil" panose="040409050D0802020404" pitchFamily="82" charset="0"/>
                    </a:rPr>
                    <a:t>X</a:t>
                  </a:r>
                </a:p>
              </p:txBody>
            </p:sp>
          </p:grpSp>
        </p:grpSp>
      </p:grpSp>
      <p:cxnSp>
        <p:nvCxnSpPr>
          <p:cNvPr id="8" name="Straight Connector 7">
            <a:extLst>
              <a:ext uri="{FF2B5EF4-FFF2-40B4-BE49-F238E27FC236}">
                <a16:creationId xmlns:a16="http://schemas.microsoft.com/office/drawing/2014/main" id="{EABC6B66-1964-7C76-3F6F-D669EFEAC572}"/>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98F9DE7-082E-9758-F3B3-22C1DFD7B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Tree>
    <p:extLst>
      <p:ext uri="{BB962C8B-B14F-4D97-AF65-F5344CB8AC3E}">
        <p14:creationId xmlns:p14="http://schemas.microsoft.com/office/powerpoint/2010/main" val="2271977802"/>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52921E-2C9C-4765-810B-6307EE58DB7C}"/>
              </a:ext>
            </a:extLst>
          </p:cNvPr>
          <p:cNvSpPr/>
          <p:nvPr/>
        </p:nvSpPr>
        <p:spPr>
          <a:xfrm>
            <a:off x="0" y="39337"/>
            <a:ext cx="12529226"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C3224B7-483B-A730-AC99-BFFE7D0388E9}"/>
              </a:ext>
            </a:extLst>
          </p:cNvPr>
          <p:cNvSpPr txBox="1"/>
          <p:nvPr/>
        </p:nvSpPr>
        <p:spPr>
          <a:xfrm rot="16200000">
            <a:off x="-4434930" y="3321315"/>
            <a:ext cx="6858002" cy="769441"/>
          </a:xfrm>
          <a:prstGeom prst="rect">
            <a:avLst/>
          </a:prstGeom>
          <a:solidFill>
            <a:schemeClr val="tx1"/>
          </a:solidFill>
        </p:spPr>
        <p:txBody>
          <a:bodyPr wrap="square" rtlCol="0">
            <a:spAutoFit/>
          </a:bodyPr>
          <a:lstStyle/>
          <a:p>
            <a:pPr algn="ctr"/>
            <a:r>
              <a:rPr lang="en-US" sz="4400" b="1" dirty="0">
                <a:solidFill>
                  <a:schemeClr val="bg1"/>
                </a:solidFill>
                <a:latin typeface="Stencil" panose="040409050D0802020404" pitchFamily="82" charset="0"/>
              </a:rPr>
              <a:t>3. e-Consensus FORUm</a:t>
            </a:r>
          </a:p>
        </p:txBody>
      </p:sp>
      <p:sp>
        <p:nvSpPr>
          <p:cNvPr id="8" name="TextBox 7">
            <a:extLst>
              <a:ext uri="{FF2B5EF4-FFF2-40B4-BE49-F238E27FC236}">
                <a16:creationId xmlns:a16="http://schemas.microsoft.com/office/drawing/2014/main" id="{D3C87BF5-944E-F546-7C00-851916A53BB8}"/>
              </a:ext>
            </a:extLst>
          </p:cNvPr>
          <p:cNvSpPr txBox="1"/>
          <p:nvPr/>
        </p:nvSpPr>
        <p:spPr>
          <a:xfrm>
            <a:off x="717346" y="276019"/>
            <a:ext cx="11321923" cy="646331"/>
          </a:xfrm>
          <a:prstGeom prst="rect">
            <a:avLst/>
          </a:prstGeom>
          <a:noFill/>
        </p:spPr>
        <p:txBody>
          <a:bodyPr wrap="square" rtlCol="0">
            <a:spAutoFit/>
          </a:bodyPr>
          <a:lstStyle/>
          <a:p>
            <a:pPr algn="ctr"/>
            <a:r>
              <a:rPr lang="en-US" sz="3600" b="1" dirty="0">
                <a:solidFill>
                  <a:schemeClr val="bg1"/>
                </a:solidFill>
                <a:latin typeface="Stencil" panose="040409050D0802020404" pitchFamily="82" charset="0"/>
                <a:ea typeface="Yu Gothic UI Semibold" panose="020B0700000000000000" pitchFamily="34" charset="-128"/>
                <a:cs typeface="Times New Roman" panose="02020603050405020304" pitchFamily="18" charset="0"/>
              </a:rPr>
              <a:t>e-CONSENSUS Restores ThE Community Voice</a:t>
            </a:r>
            <a:endParaRPr lang="en-US" sz="3600" dirty="0">
              <a:solidFill>
                <a:schemeClr val="bg1"/>
              </a:solidFill>
            </a:endParaRPr>
          </a:p>
        </p:txBody>
      </p:sp>
      <p:sp>
        <p:nvSpPr>
          <p:cNvPr id="2" name="TextBox 1">
            <a:extLst>
              <a:ext uri="{FF2B5EF4-FFF2-40B4-BE49-F238E27FC236}">
                <a16:creationId xmlns:a16="http://schemas.microsoft.com/office/drawing/2014/main" id="{4EE2058E-3E6C-E470-78F3-581DEC0ACC2F}"/>
              </a:ext>
            </a:extLst>
          </p:cNvPr>
          <p:cNvSpPr txBox="1"/>
          <p:nvPr/>
        </p:nvSpPr>
        <p:spPr>
          <a:xfrm>
            <a:off x="949481" y="1582377"/>
            <a:ext cx="10909749" cy="4247317"/>
          </a:xfrm>
          <a:prstGeom prst="rect">
            <a:avLst/>
          </a:prstGeom>
          <a:solidFill>
            <a:schemeClr val="tx1"/>
          </a:solid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THE FORUM EMPOWERS THE DEVELOPMENT OF:</a:t>
            </a:r>
          </a:p>
          <a:p>
            <a:pPr marL="690563"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Establishing the IAC Vision</a:t>
            </a:r>
          </a:p>
          <a:p>
            <a:pPr marL="690563"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Implementing the Strategic Vision</a:t>
            </a:r>
          </a:p>
          <a:p>
            <a:pPr marL="690563"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Operating Board Meetings</a:t>
            </a:r>
          </a:p>
          <a:p>
            <a:pPr marL="690563"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Defining Operating Policy</a:t>
            </a:r>
          </a:p>
          <a:p>
            <a:pPr marL="690563"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Outreaching to the Community / Portal</a:t>
            </a:r>
          </a:p>
          <a:p>
            <a:pPr marL="690563"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Budgeting via the TechTrek Conference</a:t>
            </a:r>
          </a:p>
          <a:p>
            <a:pPr marL="690563"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Clarifying Product / Service Specifications</a:t>
            </a:r>
          </a:p>
          <a:p>
            <a:pPr marL="690563"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Prioritizing Legislative Proposals</a:t>
            </a:r>
          </a:p>
          <a:p>
            <a:pPr marL="690563" indent="-285750">
              <a:buFont typeface="Arial" panose="020B0604020202020204" pitchFamily="34" charset="0"/>
              <a:buChar char="•"/>
            </a:pPr>
            <a:endParaRPr lang="en-US" dirty="0"/>
          </a:p>
          <a:p>
            <a:endParaRPr lang="en-US" dirty="0"/>
          </a:p>
          <a:p>
            <a:endParaRPr lang="en-US" dirty="0"/>
          </a:p>
        </p:txBody>
      </p:sp>
      <p:pic>
        <p:nvPicPr>
          <p:cNvPr id="13" name="Picture 12" descr="A diagram of a structure&#10;&#10;AI-generated content may be incorrect.">
            <a:extLst>
              <a:ext uri="{FF2B5EF4-FFF2-40B4-BE49-F238E27FC236}">
                <a16:creationId xmlns:a16="http://schemas.microsoft.com/office/drawing/2014/main" id="{EBFD22E5-A82B-1C40-B90B-EA4D8E9822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6625" y="2192098"/>
            <a:ext cx="4457700" cy="3327725"/>
          </a:xfrm>
          <a:prstGeom prst="rect">
            <a:avLst/>
          </a:prstGeom>
        </p:spPr>
      </p:pic>
      <p:cxnSp>
        <p:nvCxnSpPr>
          <p:cNvPr id="6" name="Straight Connector 5">
            <a:extLst>
              <a:ext uri="{FF2B5EF4-FFF2-40B4-BE49-F238E27FC236}">
                <a16:creationId xmlns:a16="http://schemas.microsoft.com/office/drawing/2014/main" id="{C0E7D35F-7FD9-CB2F-FE22-4BBDA5178708}"/>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0948BB3-AEA0-18C1-EDB3-69FF61121592}"/>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Tree>
    <p:extLst>
      <p:ext uri="{BB962C8B-B14F-4D97-AF65-F5344CB8AC3E}">
        <p14:creationId xmlns:p14="http://schemas.microsoft.com/office/powerpoint/2010/main" val="2411175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3224B7-483B-A730-AC99-BFFE7D0388E9}"/>
              </a:ext>
            </a:extLst>
          </p:cNvPr>
          <p:cNvSpPr txBox="1"/>
          <p:nvPr/>
        </p:nvSpPr>
        <p:spPr>
          <a:xfrm rot="16200000">
            <a:off x="-4434930" y="3321315"/>
            <a:ext cx="6858002" cy="769441"/>
          </a:xfrm>
          <a:prstGeom prst="rect">
            <a:avLst/>
          </a:prstGeom>
          <a:solidFill>
            <a:schemeClr val="tx1"/>
          </a:solidFill>
        </p:spPr>
        <p:txBody>
          <a:bodyPr wrap="square" rtlCol="0">
            <a:spAutoFit/>
          </a:bodyPr>
          <a:lstStyle/>
          <a:p>
            <a:pPr algn="ctr"/>
            <a:r>
              <a:rPr lang="en-US" sz="4400" b="1" dirty="0">
                <a:solidFill>
                  <a:schemeClr val="bg1"/>
                </a:solidFill>
                <a:latin typeface="Stencil" panose="040409050D0802020404" pitchFamily="82" charset="0"/>
              </a:rPr>
              <a:t>3. e-Consensus FORUm</a:t>
            </a:r>
          </a:p>
        </p:txBody>
      </p:sp>
      <p:sp>
        <p:nvSpPr>
          <p:cNvPr id="8" name="TextBox 7">
            <a:extLst>
              <a:ext uri="{FF2B5EF4-FFF2-40B4-BE49-F238E27FC236}">
                <a16:creationId xmlns:a16="http://schemas.microsoft.com/office/drawing/2014/main" id="{D3C87BF5-944E-F546-7C00-851916A53BB8}"/>
              </a:ext>
            </a:extLst>
          </p:cNvPr>
          <p:cNvSpPr txBox="1"/>
          <p:nvPr/>
        </p:nvSpPr>
        <p:spPr>
          <a:xfrm>
            <a:off x="0" y="276019"/>
            <a:ext cx="12344400" cy="646331"/>
          </a:xfrm>
          <a:prstGeom prst="rect">
            <a:avLst/>
          </a:prstGeom>
          <a:noFill/>
        </p:spPr>
        <p:txBody>
          <a:bodyPr wrap="square" rtlCol="0">
            <a:spAutoFit/>
          </a:bodyPr>
          <a:lstStyle/>
          <a:p>
            <a:pPr algn="ctr"/>
            <a:r>
              <a:rPr lang="en-US" sz="3600" b="1" dirty="0">
                <a:solidFill>
                  <a:srgbClr val="FFFF00"/>
                </a:solidFill>
                <a:latin typeface="Times New Roman" panose="02020603050405020304" pitchFamily="18" charset="0"/>
                <a:ea typeface="Yu Gothic UI Semibold" panose="020B0700000000000000" pitchFamily="34" charset="-128"/>
                <a:cs typeface="Times New Roman" panose="02020603050405020304" pitchFamily="18" charset="0"/>
              </a:rPr>
              <a:t>THE e-CONSENSUS FORUM REPORT</a:t>
            </a:r>
            <a:endParaRPr lang="en-US" sz="3600" dirty="0">
              <a:solidFill>
                <a:srgbClr val="FFFF00"/>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B21B6928-150A-41FE-DDC2-6CD5E5CC1AF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109A0A3-A2A5-1F7E-8848-E8C8D4E3407D}"/>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Tree>
    <p:extLst>
      <p:ext uri="{BB962C8B-B14F-4D97-AF65-F5344CB8AC3E}">
        <p14:creationId xmlns:p14="http://schemas.microsoft.com/office/powerpoint/2010/main" val="497516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2343151" y="1200151"/>
            <a:ext cx="7124700" cy="4154984"/>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e-Consensus</a:t>
            </a:r>
          </a:p>
          <a:p>
            <a:pPr algn="ctr"/>
            <a:r>
              <a:rPr lang="en-US" sz="8800" dirty="0">
                <a:solidFill>
                  <a:schemeClr val="bg1"/>
                </a:solidFill>
                <a:latin typeface="Times New Roman" panose="02020603050405020304" pitchFamily="18" charset="0"/>
                <a:cs typeface="Times New Roman" panose="02020603050405020304" pitchFamily="18" charset="0"/>
              </a:rPr>
              <a:t> </a:t>
            </a:r>
          </a:p>
          <a:p>
            <a:pPr algn="ctr"/>
            <a:r>
              <a:rPr lang="en-US" sz="8800" dirty="0">
                <a:solidFill>
                  <a:schemeClr val="bg1"/>
                </a:solidFill>
                <a:latin typeface="Times New Roman" panose="02020603050405020304" pitchFamily="18" charset="0"/>
                <a:cs typeface="Times New Roman" panose="02020603050405020304" pitchFamily="18" charset="0"/>
              </a:rPr>
              <a:t>Q&amp;A </a:t>
            </a:r>
          </a:p>
        </p:txBody>
      </p:sp>
    </p:spTree>
    <p:extLst>
      <p:ext uri="{BB962C8B-B14F-4D97-AF65-F5344CB8AC3E}">
        <p14:creationId xmlns:p14="http://schemas.microsoft.com/office/powerpoint/2010/main" val="4006315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2533650" y="971551"/>
            <a:ext cx="7124700" cy="4154984"/>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The </a:t>
            </a:r>
          </a:p>
          <a:p>
            <a:pPr algn="ctr"/>
            <a:r>
              <a:rPr lang="en-US" sz="8800" dirty="0">
                <a:solidFill>
                  <a:schemeClr val="bg1"/>
                </a:solidFill>
                <a:latin typeface="Times New Roman" panose="02020603050405020304" pitchFamily="18" charset="0"/>
                <a:cs typeface="Times New Roman" panose="02020603050405020304" pitchFamily="18" charset="0"/>
              </a:rPr>
              <a:t>Lens</a:t>
            </a:r>
          </a:p>
          <a:p>
            <a:pPr algn="ctr"/>
            <a:r>
              <a:rPr lang="en-US" sz="8800" dirty="0">
                <a:solidFill>
                  <a:schemeClr val="bg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400045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752474" y="885825"/>
            <a:ext cx="10067925" cy="4031873"/>
          </a:xfrm>
          <a:prstGeom prst="rect">
            <a:avLst/>
          </a:prstGeom>
          <a:noFill/>
        </p:spPr>
        <p:txBody>
          <a:bodyPr wrap="square" rtlCol="0">
            <a:spAutoFit/>
          </a:bodyPr>
          <a:lstStyle/>
          <a:p>
            <a:pPr marL="342900"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Open with Brainerd</a:t>
            </a:r>
          </a:p>
          <a:p>
            <a:pPr marL="342900"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Illustrate examples of apps on the three Menus</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TeleCenter- </a:t>
            </a:r>
            <a:r>
              <a:rPr lang="en-US" sz="1600" dirty="0" err="1">
                <a:solidFill>
                  <a:srgbClr val="FFFF00"/>
                </a:solidFill>
                <a:latin typeface="Times New Roman" panose="02020603050405020304" pitchFamily="18" charset="0"/>
                <a:cs typeface="Times New Roman" panose="02020603050405020304" pitchFamily="18" charset="0"/>
              </a:rPr>
              <a:t>Abin</a:t>
            </a:r>
            <a:r>
              <a:rPr lang="en-US" sz="1600" dirty="0">
                <a:solidFill>
                  <a:srgbClr val="FFFF00"/>
                </a:solidFill>
                <a:latin typeface="Times New Roman" panose="02020603050405020304" pitchFamily="18" charset="0"/>
                <a:cs typeface="Times New Roman" panose="02020603050405020304" pitchFamily="18" charset="0"/>
              </a:rPr>
              <a:t> Report???</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Directory-  Restaurants</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Engagement-</a:t>
            </a:r>
            <a:r>
              <a:rPr lang="en-US" sz="1600" dirty="0">
                <a:solidFill>
                  <a:srgbClr val="FFFF00"/>
                </a:solidFill>
                <a:latin typeface="Times New Roman" panose="02020603050405020304" pitchFamily="18" charset="0"/>
                <a:cs typeface="Times New Roman" panose="02020603050405020304" pitchFamily="18" charset="0"/>
              </a:rPr>
              <a:t> Contributions/Vision/Sports???</a:t>
            </a:r>
          </a:p>
          <a:p>
            <a:pPr marL="342900"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Review “View our Neighborhood”  clean up 3 zips </a:t>
            </a:r>
          </a:p>
          <a:p>
            <a:pPr marL="342900"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Demonstrate Pop change </a:t>
            </a:r>
            <a:r>
              <a:rPr lang="en-US" sz="1600" dirty="0">
                <a:solidFill>
                  <a:srgbClr val="FFFF00"/>
                </a:solidFill>
                <a:latin typeface="Times New Roman" panose="02020603050405020304" pitchFamily="18" charset="0"/>
                <a:cs typeface="Times New Roman" panose="02020603050405020304" pitchFamily="18" charset="0"/>
              </a:rPr>
              <a:t>(or maybe the 6 indicator views)</a:t>
            </a:r>
          </a:p>
          <a:p>
            <a:pPr marL="342900"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Access Neighborhood Page</a:t>
            </a:r>
          </a:p>
          <a:p>
            <a:pPr marL="342900"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Back to Home Page    </a:t>
            </a:r>
            <a:r>
              <a:rPr lang="en-US" sz="1600" dirty="0">
                <a:solidFill>
                  <a:srgbClr val="FFFF00"/>
                </a:solidFill>
                <a:latin typeface="Times New Roman" panose="02020603050405020304" pitchFamily="18" charset="0"/>
                <a:cs typeface="Times New Roman" panose="02020603050405020304" pitchFamily="18" charset="0"/>
              </a:rPr>
              <a:t>wrong- s/b Brainerd not IAC Home Page</a:t>
            </a:r>
          </a:p>
          <a:p>
            <a:pPr marL="342900"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Review Our Profile   </a:t>
            </a:r>
            <a:r>
              <a:rPr lang="en-US" sz="1600" dirty="0">
                <a:solidFill>
                  <a:srgbClr val="FFFF00"/>
                </a:solidFill>
                <a:highlight>
                  <a:srgbClr val="000000"/>
                </a:highlight>
                <a:latin typeface="Times New Roman" panose="02020603050405020304" pitchFamily="18" charset="0"/>
                <a:cs typeface="Times New Roman" panose="02020603050405020304" pitchFamily="18" charset="0"/>
              </a:rPr>
              <a:t>Add more tables</a:t>
            </a:r>
          </a:p>
          <a:p>
            <a:pPr marL="342900" indent="-342900">
              <a:buFont typeface="Arial" panose="020B0604020202020204" pitchFamily="34" charset="0"/>
              <a:buChar char="•"/>
            </a:pPr>
            <a:r>
              <a:rPr lang="en-US" sz="1600" dirty="0">
                <a:solidFill>
                  <a:schemeClr val="bg1"/>
                </a:solidFill>
                <a:highlight>
                  <a:srgbClr val="000000"/>
                </a:highlight>
                <a:latin typeface="Times New Roman" panose="02020603050405020304" pitchFamily="18" charset="0"/>
                <a:cs typeface="Times New Roman" panose="02020603050405020304" pitchFamily="18" charset="0"/>
              </a:rPr>
              <a:t>Community Map--- head to Marshall </a:t>
            </a:r>
            <a:r>
              <a:rPr lang="en-US" sz="1600" dirty="0">
                <a:solidFill>
                  <a:srgbClr val="FFFF00"/>
                </a:solidFill>
                <a:highlight>
                  <a:srgbClr val="000000"/>
                </a:highlight>
                <a:latin typeface="Times New Roman" panose="02020603050405020304" pitchFamily="18" charset="0"/>
                <a:cs typeface="Times New Roman" panose="02020603050405020304" pitchFamily="18" charset="0"/>
              </a:rPr>
              <a:t>verify Zip orientation on all 5</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Brainerd</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St Cloud</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Willmar</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Redwood Falls</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Marshall</a:t>
            </a:r>
          </a:p>
        </p:txBody>
      </p:sp>
    </p:spTree>
    <p:extLst>
      <p:ext uri="{BB962C8B-B14F-4D97-AF65-F5344CB8AC3E}">
        <p14:creationId xmlns:p14="http://schemas.microsoft.com/office/powerpoint/2010/main" val="2575316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2343151" y="1200151"/>
            <a:ext cx="7124700" cy="4154984"/>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Lens</a:t>
            </a:r>
          </a:p>
          <a:p>
            <a:pPr algn="ctr"/>
            <a:r>
              <a:rPr lang="en-US" sz="8800" dirty="0">
                <a:solidFill>
                  <a:schemeClr val="bg1"/>
                </a:solidFill>
                <a:latin typeface="Times New Roman" panose="02020603050405020304" pitchFamily="18" charset="0"/>
                <a:cs typeface="Times New Roman" panose="02020603050405020304" pitchFamily="18" charset="0"/>
              </a:rPr>
              <a:t> </a:t>
            </a:r>
          </a:p>
          <a:p>
            <a:pPr algn="ctr"/>
            <a:r>
              <a:rPr lang="en-US" sz="8800" dirty="0">
                <a:solidFill>
                  <a:schemeClr val="bg1"/>
                </a:solidFill>
                <a:latin typeface="Times New Roman" panose="02020603050405020304" pitchFamily="18" charset="0"/>
                <a:cs typeface="Times New Roman" panose="02020603050405020304" pitchFamily="18" charset="0"/>
              </a:rPr>
              <a:t>Q&amp;A </a:t>
            </a:r>
          </a:p>
        </p:txBody>
      </p:sp>
    </p:spTree>
    <p:extLst>
      <p:ext uri="{BB962C8B-B14F-4D97-AF65-F5344CB8AC3E}">
        <p14:creationId xmlns:p14="http://schemas.microsoft.com/office/powerpoint/2010/main" val="141817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657225" y="674400"/>
            <a:ext cx="10382250" cy="4154984"/>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The </a:t>
            </a:r>
          </a:p>
          <a:p>
            <a:pPr algn="ctr"/>
            <a:r>
              <a:rPr lang="en-US" sz="8800" dirty="0">
                <a:solidFill>
                  <a:schemeClr val="bg1"/>
                </a:solidFill>
                <a:latin typeface="Times New Roman" panose="02020603050405020304" pitchFamily="18" charset="0"/>
                <a:cs typeface="Times New Roman" panose="02020603050405020304" pitchFamily="18" charset="0"/>
              </a:rPr>
              <a:t>Information Age Community </a:t>
            </a:r>
          </a:p>
        </p:txBody>
      </p:sp>
    </p:spTree>
    <p:extLst>
      <p:ext uri="{BB962C8B-B14F-4D97-AF65-F5344CB8AC3E}">
        <p14:creationId xmlns:p14="http://schemas.microsoft.com/office/powerpoint/2010/main" val="2842791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828674" y="1028700"/>
            <a:ext cx="10067925" cy="1569660"/>
          </a:xfrm>
          <a:prstGeom prst="rect">
            <a:avLst/>
          </a:prstGeom>
          <a:noFill/>
        </p:spPr>
        <p:txBody>
          <a:bodyPr wrap="square" rtlCol="0">
            <a:spAutoFit/>
          </a:bodyPr>
          <a:lstStyle/>
          <a:p>
            <a:pPr marL="342900"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Back to Home Page</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IAC Principles </a:t>
            </a:r>
            <a:r>
              <a:rPr lang="en-US" sz="1600" dirty="0">
                <a:solidFill>
                  <a:srgbClr val="FFFF00"/>
                </a:solidFill>
                <a:latin typeface="Times New Roman" panose="02020603050405020304" pitchFamily="18" charset="0"/>
                <a:cs typeface="Times New Roman" panose="02020603050405020304" pitchFamily="18" charset="0"/>
              </a:rPr>
              <a:t>Nav to </a:t>
            </a:r>
            <a:r>
              <a:rPr lang="en-US" sz="1600" dirty="0" err="1">
                <a:solidFill>
                  <a:srgbClr val="FFFF00"/>
                </a:solidFill>
                <a:latin typeface="Times New Roman" panose="02020603050405020304" pitchFamily="18" charset="0"/>
                <a:cs typeface="Times New Roman" panose="02020603050405020304" pitchFamily="18" charset="0"/>
              </a:rPr>
              <a:t>LRt</a:t>
            </a:r>
            <a:r>
              <a:rPr lang="en-US" sz="1600" dirty="0">
                <a:solidFill>
                  <a:srgbClr val="FFFF00"/>
                </a:solidFill>
                <a:latin typeface="Times New Roman" panose="02020603050405020304" pitchFamily="18" charset="0"/>
                <a:cs typeface="Times New Roman" panose="02020603050405020304" pitchFamily="18" charset="0"/>
              </a:rPr>
              <a:t>; Logo from Community Page; Centroid City  -- Global Service Center</a:t>
            </a:r>
          </a:p>
          <a:p>
            <a:pPr marL="800100" lvl="1" indent="-342900">
              <a:buFont typeface="Arial" panose="020B0604020202020204" pitchFamily="34" charset="0"/>
              <a:buChar char="•"/>
            </a:pPr>
            <a:r>
              <a:rPr lang="en-US" sz="1600" dirty="0">
                <a:solidFill>
                  <a:srgbClr val="FFFF00"/>
                </a:solidFill>
                <a:latin typeface="Times New Roman" panose="02020603050405020304" pitchFamily="18" charset="0"/>
                <a:cs typeface="Times New Roman" panose="02020603050405020304" pitchFamily="18" charset="0"/>
              </a:rPr>
              <a:t>Governance</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Find Your Community</a:t>
            </a:r>
          </a:p>
          <a:p>
            <a:pPr marL="800100" lvl="1" indent="-34290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Brainerd</a:t>
            </a:r>
          </a:p>
          <a:p>
            <a:r>
              <a:rPr lang="en-US" sz="1600" dirty="0">
                <a:solidFill>
                  <a:srgbClr val="FFFF00"/>
                </a:solidFill>
                <a:latin typeface="Times New Roman" panose="02020603050405020304" pitchFamily="18" charset="0"/>
                <a:cs typeface="Times New Roman" panose="02020603050405020304" pitchFamily="18" charset="0"/>
              </a:rPr>
              <a:t>Investigate Service Center Map????</a:t>
            </a:r>
          </a:p>
        </p:txBody>
      </p:sp>
    </p:spTree>
    <p:extLst>
      <p:ext uri="{BB962C8B-B14F-4D97-AF65-F5344CB8AC3E}">
        <p14:creationId xmlns:p14="http://schemas.microsoft.com/office/powerpoint/2010/main" val="1711480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657225" y="674400"/>
            <a:ext cx="10382250" cy="6124754"/>
          </a:xfrm>
          <a:prstGeom prst="rect">
            <a:avLst/>
          </a:prstGeom>
          <a:noFill/>
        </p:spPr>
        <p:txBody>
          <a:bodyPr wrap="square" rtlCol="0">
            <a:spAutoFit/>
          </a:bodyPr>
          <a:lstStyle/>
          <a:p>
            <a:pPr algn="ctr"/>
            <a:r>
              <a:rPr lang="en-US" sz="8800" dirty="0">
                <a:solidFill>
                  <a:schemeClr val="bg1"/>
                </a:solidFill>
                <a:latin typeface="Times New Roman" panose="02020603050405020304" pitchFamily="18" charset="0"/>
                <a:cs typeface="Times New Roman" panose="02020603050405020304" pitchFamily="18" charset="0"/>
              </a:rPr>
              <a:t>Information Age Community </a:t>
            </a:r>
          </a:p>
          <a:p>
            <a:pPr algn="ctr"/>
            <a:endParaRPr lang="en-US" sz="4000" dirty="0">
              <a:solidFill>
                <a:schemeClr val="bg1"/>
              </a:solidFill>
              <a:latin typeface="Times New Roman" panose="02020603050405020304" pitchFamily="18" charset="0"/>
              <a:cs typeface="Times New Roman" panose="02020603050405020304" pitchFamily="18" charset="0"/>
            </a:endParaRPr>
          </a:p>
          <a:p>
            <a:pPr algn="ctr"/>
            <a:r>
              <a:rPr lang="en-US" sz="8800" dirty="0">
                <a:solidFill>
                  <a:schemeClr val="bg1"/>
                </a:solidFill>
                <a:latin typeface="Times New Roman" panose="02020603050405020304" pitchFamily="18" charset="0"/>
                <a:cs typeface="Times New Roman" panose="02020603050405020304" pitchFamily="18" charset="0"/>
              </a:rPr>
              <a:t>Q &amp; A</a:t>
            </a:r>
          </a:p>
          <a:p>
            <a:pPr algn="ctr"/>
            <a:endParaRPr lang="en-US" sz="8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0034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112EE4F-C24B-3468-127F-53429AB7D326}"/>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18C2D6A-9187-F072-B71A-9B93E424D9B0}"/>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
        <p:nvSpPr>
          <p:cNvPr id="8" name="TextBox 7">
            <a:extLst>
              <a:ext uri="{FF2B5EF4-FFF2-40B4-BE49-F238E27FC236}">
                <a16:creationId xmlns:a16="http://schemas.microsoft.com/office/drawing/2014/main" id="{425D7C1E-2B7D-A1C3-C473-31B5C59CAD1E}"/>
              </a:ext>
            </a:extLst>
          </p:cNvPr>
          <p:cNvSpPr txBox="1"/>
          <p:nvPr/>
        </p:nvSpPr>
        <p:spPr>
          <a:xfrm>
            <a:off x="590550" y="1799600"/>
            <a:ext cx="10382250" cy="2800767"/>
          </a:xfrm>
          <a:prstGeom prst="rect">
            <a:avLst/>
          </a:prstGeom>
          <a:noFill/>
        </p:spPr>
        <p:txBody>
          <a:bodyPr wrap="square" rtlCol="0">
            <a:spAutoFit/>
          </a:bodyPr>
          <a:lstStyle/>
          <a:p>
            <a:pPr algn="ctr"/>
            <a:r>
              <a:rPr lang="en-US" sz="8800">
                <a:solidFill>
                  <a:schemeClr val="bg1"/>
                </a:solidFill>
                <a:latin typeface="Times New Roman" panose="02020603050405020304" pitchFamily="18" charset="0"/>
                <a:cs typeface="Times New Roman" panose="02020603050405020304" pitchFamily="18" charset="0"/>
              </a:rPr>
              <a:t>THE ASK?</a:t>
            </a:r>
            <a:endParaRPr lang="en-US" sz="8800" dirty="0">
              <a:solidFill>
                <a:schemeClr val="bg1"/>
              </a:solidFill>
              <a:latin typeface="Times New Roman" panose="02020603050405020304" pitchFamily="18" charset="0"/>
              <a:cs typeface="Times New Roman" panose="02020603050405020304" pitchFamily="18" charset="0"/>
            </a:endParaRPr>
          </a:p>
          <a:p>
            <a:pPr algn="ctr"/>
            <a:endParaRPr lang="en-US" sz="8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36835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088F8C-7CE9-55F9-19EE-2C9A3AD1C239}"/>
              </a:ext>
            </a:extLst>
          </p:cNvPr>
          <p:cNvSpPr/>
          <p:nvPr/>
        </p:nvSpPr>
        <p:spPr>
          <a:xfrm>
            <a:off x="0" y="0"/>
            <a:ext cx="12351224"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0"/>
            <a:ext cx="12192000" cy="723331"/>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THE </a:t>
            </a:r>
            <a:r>
              <a:rPr lang="en-US" sz="4000" b="1" dirty="0" err="1">
                <a:solidFill>
                  <a:schemeClr val="bg1"/>
                </a:solidFill>
                <a:latin typeface="Times New Roman" panose="02020603050405020304" pitchFamily="18" charset="0"/>
                <a:cs typeface="Times New Roman" panose="02020603050405020304" pitchFamily="18" charset="0"/>
              </a:rPr>
              <a:t>COMMUNCATION’s</a:t>
            </a:r>
            <a:r>
              <a:rPr lang="en-US" sz="4000" b="1" dirty="0">
                <a:solidFill>
                  <a:schemeClr val="bg1"/>
                </a:solidFill>
                <a:latin typeface="Times New Roman" panose="02020603050405020304" pitchFamily="18" charset="0"/>
                <a:cs typeface="Times New Roman" panose="02020603050405020304" pitchFamily="18" charset="0"/>
              </a:rPr>
              <a:t> CHALLENGE</a:t>
            </a:r>
          </a:p>
        </p:txBody>
      </p:sp>
      <p:sp>
        <p:nvSpPr>
          <p:cNvPr id="4" name="Subtitle 2">
            <a:extLst>
              <a:ext uri="{FF2B5EF4-FFF2-40B4-BE49-F238E27FC236}">
                <a16:creationId xmlns:a16="http://schemas.microsoft.com/office/drawing/2014/main" id="{15615D0E-6F01-16F0-E511-C12A8AE8B49A}"/>
              </a:ext>
            </a:extLst>
          </p:cNvPr>
          <p:cNvSpPr txBox="1">
            <a:spLocks/>
          </p:cNvSpPr>
          <p:nvPr/>
        </p:nvSpPr>
        <p:spPr>
          <a:xfrm>
            <a:off x="1295400" y="862711"/>
            <a:ext cx="10896600" cy="56116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5000"/>
              </a:lnSpc>
              <a:spcBef>
                <a:spcPts val="0"/>
              </a:spcBef>
            </a:pPr>
            <a:r>
              <a:rPr lang="en-US" sz="2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Funding     </a:t>
            </a:r>
            <a:r>
              <a:rPr lang="en-US" sz="2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Critical Mass                 Message &amp; Sequence</a:t>
            </a:r>
          </a:p>
          <a:p>
            <a:pPr algn="l">
              <a:lnSpc>
                <a:spcPct val="115000"/>
              </a:lnSpc>
              <a:spcBef>
                <a:spcPts val="0"/>
              </a:spcBef>
            </a:pPr>
            <a:endParaRPr lang="en-US" sz="2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rabicPeriod"/>
            </a:pPr>
            <a:endParaRPr lang="en-US" sz="2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rabicPeriod"/>
            </a:pPr>
            <a:endParaRPr lang="en-US" sz="28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algn="l">
              <a:lnSpc>
                <a:spcPct val="115000"/>
              </a:lnSpc>
              <a:spcBef>
                <a:spcPts val="0"/>
              </a:spcBef>
            </a:pPr>
            <a:endParaRPr lang="en-US" sz="2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rabicPeriod"/>
            </a:pPr>
            <a:endParaRPr lang="en-US" sz="28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2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28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2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28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2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28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2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2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rabicPeriod"/>
            </a:pPr>
            <a:endParaRPr lang="en-US" sz="28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Subtitle 2">
            <a:extLst>
              <a:ext uri="{FF2B5EF4-FFF2-40B4-BE49-F238E27FC236}">
                <a16:creationId xmlns:a16="http://schemas.microsoft.com/office/drawing/2014/main" id="{D25AB567-7132-BB1A-02E8-003662A5A8AE}"/>
              </a:ext>
            </a:extLst>
          </p:cNvPr>
          <p:cNvSpPr txBox="1">
            <a:spLocks/>
          </p:cNvSpPr>
          <p:nvPr/>
        </p:nvSpPr>
        <p:spPr>
          <a:xfrm>
            <a:off x="419100" y="1176516"/>
            <a:ext cx="3333750" cy="487296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5000"/>
              </a:lnSpc>
              <a:spcBef>
                <a:spcPts val="0"/>
              </a:spcBef>
            </a:pPr>
            <a:r>
              <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342900" indent="-342900" algn="l">
              <a:lnSpc>
                <a:spcPct val="115000"/>
              </a:lnSpc>
              <a:spcBef>
                <a:spcPts val="0"/>
              </a:spcBef>
              <a:buFont typeface="+mj-lt"/>
              <a:buAutoNum type="alphaU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Foundations and Agencies focus on:</a:t>
            </a:r>
          </a:p>
          <a:p>
            <a:pPr marL="800100" lvl="1" indent="-342900" algn="l">
              <a:lnSpc>
                <a:spcPct val="115000"/>
              </a:lnSpc>
              <a:spcBef>
                <a:spcPts val="0"/>
              </a:spcBef>
              <a:buFont typeface="+mj-lt"/>
              <a:buAutoNum type="arabi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Silo grants</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Jurisdictional boundaries</a:t>
            </a: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lphaU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Bush &amp; Deloitte are supporting transformation funding</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But their history is silos</a:t>
            </a:r>
          </a:p>
          <a:p>
            <a:pPr marL="800100" lvl="1" indent="-342900" algn="l">
              <a:lnSpc>
                <a:spcPct val="115000"/>
              </a:lnSpc>
              <a:spcBef>
                <a:spcPts val="0"/>
              </a:spcBef>
              <a:buFont typeface="+mj-lt"/>
              <a:buAutoNum type="arabi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None of the IAC components are familiar to them</a:t>
            </a:r>
          </a:p>
          <a:p>
            <a:pPr marL="342900" indent="-342900" algn="l">
              <a:lnSpc>
                <a:spcPct val="115000"/>
              </a:lnSpc>
              <a:spcBef>
                <a:spcPts val="0"/>
              </a:spcBef>
              <a:buFont typeface="+mj-lt"/>
              <a:buAutoNum type="alphaUcPeriod"/>
            </a:pPr>
            <a:r>
              <a:rPr lang="en-US" sz="20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The IAC is a Partnership</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Technology- </a:t>
            </a:r>
            <a:r>
              <a:rPr lang="en-US" sz="16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Starlink</a:t>
            </a: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Health Care- Mayo</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Transit- </a:t>
            </a:r>
            <a:r>
              <a:rPr lang="en-US" sz="16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Podways</a:t>
            </a: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The Alliance- Media?</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Education- Modern States</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Technology- many---</a:t>
            </a:r>
          </a:p>
          <a:p>
            <a:pPr marL="1257300" lvl="2" indent="-342900" algn="l">
              <a:lnSpc>
                <a:spcPct val="115000"/>
              </a:lnSpc>
              <a:spcBef>
                <a:spcPts val="0"/>
              </a:spcBef>
              <a:buFont typeface="+mj-lt"/>
              <a:buAutoNum type="alphaLcPeriod"/>
            </a:pPr>
            <a:r>
              <a:rPr lang="en-US"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Regional TeleCenter</a:t>
            </a:r>
          </a:p>
          <a:p>
            <a:pPr marL="1257300" lvl="2" indent="-342900" algn="l">
              <a:lnSpc>
                <a:spcPct val="115000"/>
              </a:lnSpc>
              <a:spcBef>
                <a:spcPts val="0"/>
              </a:spcBef>
              <a:buFont typeface="+mj-lt"/>
              <a:buAutoNum type="alphaLcPeriod"/>
            </a:pPr>
            <a:r>
              <a:rPr lang="en-US"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Community TeleCenters</a:t>
            </a:r>
          </a:p>
          <a:p>
            <a:pPr marL="1257300" lvl="2" indent="-342900" algn="l">
              <a:lnSpc>
                <a:spcPct val="115000"/>
              </a:lnSpc>
              <a:spcBef>
                <a:spcPts val="0"/>
              </a:spcBef>
              <a:buFont typeface="+mj-lt"/>
              <a:buAutoNum type="alphaLcPeriod"/>
            </a:pPr>
            <a:r>
              <a:rPr lang="en-US"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E-Consensus</a:t>
            </a:r>
          </a:p>
          <a:p>
            <a:pPr marL="1257300" lvl="2" indent="-342900" algn="l">
              <a:lnSpc>
                <a:spcPct val="115000"/>
              </a:lnSpc>
              <a:spcBef>
                <a:spcPts val="0"/>
              </a:spcBef>
              <a:buFont typeface="+mj-lt"/>
              <a:buAutoNum type="alphaLcPeriod"/>
            </a:pPr>
            <a:r>
              <a:rPr lang="en-US"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TCR</a:t>
            </a:r>
          </a:p>
          <a:p>
            <a:pPr marL="1257300" lvl="2" indent="-342900" algn="l">
              <a:lnSpc>
                <a:spcPct val="115000"/>
              </a:lnSpc>
              <a:spcBef>
                <a:spcPts val="0"/>
              </a:spcBef>
              <a:buFont typeface="+mj-lt"/>
              <a:buAutoNum type="alphaLcPeriod"/>
            </a:pPr>
            <a:endParaRPr lang="en-US"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l">
              <a:lnSpc>
                <a:spcPct val="115000"/>
              </a:lnSpc>
              <a:spcBef>
                <a:spcPts val="0"/>
              </a:spcBef>
              <a:buFont typeface="+mj-lt"/>
              <a:buAutoNum type="arabi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l">
              <a:lnSpc>
                <a:spcPct val="115000"/>
              </a:lnSpc>
              <a:spcBef>
                <a:spcPts val="0"/>
              </a:spcBef>
              <a:buFont typeface="+mj-lt"/>
              <a:buAutoNum type="arabi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6" name="Subtitle 2">
            <a:extLst>
              <a:ext uri="{FF2B5EF4-FFF2-40B4-BE49-F238E27FC236}">
                <a16:creationId xmlns:a16="http://schemas.microsoft.com/office/drawing/2014/main" id="{F268D25E-79A9-D6E6-04B5-7221EE384C56}"/>
              </a:ext>
            </a:extLst>
          </p:cNvPr>
          <p:cNvSpPr txBox="1">
            <a:spLocks/>
          </p:cNvSpPr>
          <p:nvPr/>
        </p:nvSpPr>
        <p:spPr>
          <a:xfrm>
            <a:off x="4476750" y="1469876"/>
            <a:ext cx="3238500" cy="339739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15000"/>
              </a:lnSpc>
              <a:spcBef>
                <a:spcPts val="0"/>
              </a:spcBef>
              <a:buFont typeface="+mj-lt"/>
              <a:buAutoNum type="alphaU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The IAC is comprehensive and integrated-</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Must be designed</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Must have partners</a:t>
            </a:r>
          </a:p>
          <a:p>
            <a:pPr marL="800100" lvl="1" indent="-342900" algn="l">
              <a:lnSpc>
                <a:spcPct val="115000"/>
              </a:lnSpc>
              <a:spcBef>
                <a:spcPts val="0"/>
              </a:spcBef>
              <a:buFont typeface="+mj-lt"/>
              <a:buAutoNum type="arabi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Must be Integrated</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Must be understood</a:t>
            </a:r>
          </a:p>
          <a:p>
            <a:pPr marL="342900" indent="-342900" algn="l">
              <a:lnSpc>
                <a:spcPct val="115000"/>
              </a:lnSpc>
              <a:spcBef>
                <a:spcPts val="0"/>
              </a:spcBef>
              <a:buFont typeface="+mj-lt"/>
              <a:buAutoNum type="alphaU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It’s the Community’s Choice</a:t>
            </a: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l">
              <a:lnSpc>
                <a:spcPct val="115000"/>
              </a:lnSpc>
              <a:spcBef>
                <a:spcPts val="0"/>
              </a:spcBef>
              <a:buFont typeface="+mj-lt"/>
              <a:buAutoNum type="arabi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Must be credible</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Must have buy-in</a:t>
            </a:r>
          </a:p>
          <a:p>
            <a:pPr marL="800100" lvl="1" indent="-342900" algn="l">
              <a:lnSpc>
                <a:spcPct val="115000"/>
              </a:lnSpc>
              <a:spcBef>
                <a:spcPts val="0"/>
              </a:spcBef>
              <a:buFont typeface="+mj-lt"/>
              <a:buAutoNum type="arabi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Must have Board</a:t>
            </a:r>
          </a:p>
          <a:p>
            <a:pPr marL="800100" lvl="1" indent="-342900" algn="l">
              <a:lnSpc>
                <a:spcPct val="115000"/>
              </a:lnSpc>
              <a:spcBef>
                <a:spcPts val="0"/>
              </a:spcBef>
              <a:buFont typeface="+mj-lt"/>
              <a:buAutoNum type="arabi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Must have collaboratives</a:t>
            </a: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a:lnSpc>
                <a:spcPct val="115000"/>
              </a:lnSpc>
              <a:spcBef>
                <a:spcPts val="0"/>
              </a:spcBef>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7" name="Subtitle 2">
            <a:extLst>
              <a:ext uri="{FF2B5EF4-FFF2-40B4-BE49-F238E27FC236}">
                <a16:creationId xmlns:a16="http://schemas.microsoft.com/office/drawing/2014/main" id="{08E9DDB0-A8EC-1B17-44E1-FA06CCC7AEA0}"/>
              </a:ext>
            </a:extLst>
          </p:cNvPr>
          <p:cNvSpPr txBox="1">
            <a:spLocks/>
          </p:cNvSpPr>
          <p:nvPr/>
        </p:nvSpPr>
        <p:spPr>
          <a:xfrm>
            <a:off x="8731369" y="1469876"/>
            <a:ext cx="3041531" cy="417844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15000"/>
              </a:lnSpc>
              <a:spcBef>
                <a:spcPts val="0"/>
              </a:spcBef>
              <a:buFont typeface="+mj-lt"/>
              <a:buAutoNum type="alphaU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The Need</a:t>
            </a:r>
          </a:p>
          <a:p>
            <a:pPr marL="342900" indent="-342900" algn="l">
              <a:lnSpc>
                <a:spcPct val="115000"/>
              </a:lnSpc>
              <a:spcBef>
                <a:spcPts val="0"/>
              </a:spcBef>
              <a:buFont typeface="+mj-lt"/>
              <a:buAutoNum type="alphaU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The Solution</a:t>
            </a:r>
          </a:p>
          <a:p>
            <a:pPr marL="342900" indent="-342900" algn="l">
              <a:lnSpc>
                <a:spcPct val="115000"/>
              </a:lnSpc>
              <a:spcBef>
                <a:spcPts val="0"/>
              </a:spcBef>
              <a:buFont typeface="+mj-lt"/>
              <a:buAutoNum type="alphaU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The Package</a:t>
            </a:r>
          </a:p>
          <a:p>
            <a:pPr marL="342900" indent="-342900" algn="l">
              <a:lnSpc>
                <a:spcPct val="115000"/>
              </a:lnSpc>
              <a:spcBef>
                <a:spcPts val="0"/>
              </a:spcBef>
              <a:buFont typeface="+mj-lt"/>
              <a:buAutoNum type="alphaU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Credibility</a:t>
            </a:r>
          </a:p>
          <a:p>
            <a:pPr marL="342900" indent="-342900" algn="l">
              <a:lnSpc>
                <a:spcPct val="115000"/>
              </a:lnSpc>
              <a:spcBef>
                <a:spcPts val="0"/>
              </a:spcBef>
              <a:buFont typeface="+mj-lt"/>
              <a:buAutoNum type="alphaU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The Structure</a:t>
            </a:r>
          </a:p>
          <a:p>
            <a:pPr algn="l">
              <a:lnSpc>
                <a:spcPct val="115000"/>
              </a:lnSpc>
              <a:spcBef>
                <a:spcPts val="0"/>
              </a:spcBef>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Funding vs Partners</a:t>
            </a:r>
          </a:p>
          <a:p>
            <a:pPr marL="342900" marR="0" lvl="0" indent="-342900" algn="l">
              <a:lnSpc>
                <a:spcPct val="115000"/>
              </a:lnSpc>
              <a:spcBef>
                <a:spcPts val="0"/>
              </a:spcBef>
              <a:spcAft>
                <a:spcPts val="0"/>
              </a:spcAft>
              <a:buFont typeface="+mj-lt"/>
              <a:buAutoNum type="alphaUcPeriod"/>
            </a:pP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Demo vs Request</a:t>
            </a:r>
          </a:p>
          <a:p>
            <a:pPr marL="342900" marR="0" lvl="0" indent="-342900" algn="l">
              <a:lnSpc>
                <a:spcPct val="115000"/>
              </a:lnSpc>
              <a:spcBef>
                <a:spcPts val="0"/>
              </a:spcBef>
              <a:spcAft>
                <a:spcPts val="0"/>
              </a:spcAft>
              <a:buFont typeface="+mj-lt"/>
              <a:buAutoNum type="alphaUcPeriod"/>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Rec</a:t>
            </a:r>
            <a:r>
              <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ruitment vs Package</a:t>
            </a: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alphaUcPeriod"/>
            </a:pPr>
            <a:endParaRPr lang="en-US" sz="16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74320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D5289A-93D3-2CBC-BE27-0D31E5FF6C8F}"/>
              </a:ext>
            </a:extLst>
          </p:cNvPr>
          <p:cNvSpPr txBox="1"/>
          <p:nvPr/>
        </p:nvSpPr>
        <p:spPr>
          <a:xfrm>
            <a:off x="7356143" y="4830605"/>
            <a:ext cx="27432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Media</a:t>
            </a:r>
          </a:p>
        </p:txBody>
      </p:sp>
      <p:grpSp>
        <p:nvGrpSpPr>
          <p:cNvPr id="27" name="Group 26">
            <a:extLst>
              <a:ext uri="{FF2B5EF4-FFF2-40B4-BE49-F238E27FC236}">
                <a16:creationId xmlns:a16="http://schemas.microsoft.com/office/drawing/2014/main" id="{B51D3155-8B60-C83E-257C-06B38A1D1A8D}"/>
              </a:ext>
            </a:extLst>
          </p:cNvPr>
          <p:cNvGrpSpPr/>
          <p:nvPr/>
        </p:nvGrpSpPr>
        <p:grpSpPr>
          <a:xfrm>
            <a:off x="2158889" y="1132260"/>
            <a:ext cx="7697068" cy="5241509"/>
            <a:chOff x="2158889" y="1132260"/>
            <a:chExt cx="7697068" cy="5241509"/>
          </a:xfrm>
        </p:grpSpPr>
        <p:sp>
          <p:nvSpPr>
            <p:cNvPr id="4" name="Oval 3">
              <a:extLst>
                <a:ext uri="{FF2B5EF4-FFF2-40B4-BE49-F238E27FC236}">
                  <a16:creationId xmlns:a16="http://schemas.microsoft.com/office/drawing/2014/main" id="{E2160C74-A1C1-A5E0-72E2-76F6DB133866}"/>
                </a:ext>
              </a:extLst>
            </p:cNvPr>
            <p:cNvSpPr/>
            <p:nvPr/>
          </p:nvSpPr>
          <p:spPr>
            <a:xfrm>
              <a:off x="4708478" y="2825087"/>
              <a:ext cx="2183641" cy="2183641"/>
            </a:xfrm>
            <a:prstGeom prst="ellipse">
              <a:avLst/>
            </a:prstGeom>
            <a:solidFill>
              <a:srgbClr val="0070C0"/>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THE IAC RESIDENT</a:t>
              </a:r>
            </a:p>
          </p:txBody>
        </p:sp>
        <p:sp>
          <p:nvSpPr>
            <p:cNvPr id="5" name="TextBox 4">
              <a:extLst>
                <a:ext uri="{FF2B5EF4-FFF2-40B4-BE49-F238E27FC236}">
                  <a16:creationId xmlns:a16="http://schemas.microsoft.com/office/drawing/2014/main" id="{768B7FE9-AAEB-458C-7A3D-B89958ACA3DC}"/>
                </a:ext>
              </a:extLst>
            </p:cNvPr>
            <p:cNvSpPr txBox="1"/>
            <p:nvPr/>
          </p:nvSpPr>
          <p:spPr>
            <a:xfrm>
              <a:off x="2969321" y="4830605"/>
              <a:ext cx="27432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Forums</a:t>
              </a:r>
            </a:p>
          </p:txBody>
        </p:sp>
        <p:sp>
          <p:nvSpPr>
            <p:cNvPr id="6" name="TextBox 5">
              <a:extLst>
                <a:ext uri="{FF2B5EF4-FFF2-40B4-BE49-F238E27FC236}">
                  <a16:creationId xmlns:a16="http://schemas.microsoft.com/office/drawing/2014/main" id="{7CDA8E59-E03D-383E-E330-825C0176C962}"/>
                </a:ext>
              </a:extLst>
            </p:cNvPr>
            <p:cNvSpPr txBox="1"/>
            <p:nvPr/>
          </p:nvSpPr>
          <p:spPr>
            <a:xfrm>
              <a:off x="4428698" y="1132260"/>
              <a:ext cx="2743200" cy="954107"/>
            </a:xfrm>
            <a:prstGeom prst="rect">
              <a:avLst/>
            </a:prstGeom>
            <a:noFill/>
            <a:ln>
              <a:noFill/>
            </a:ln>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Industry Conferences</a:t>
              </a:r>
            </a:p>
          </p:txBody>
        </p:sp>
        <p:sp>
          <p:nvSpPr>
            <p:cNvPr id="7" name="TextBox 6">
              <a:extLst>
                <a:ext uri="{FF2B5EF4-FFF2-40B4-BE49-F238E27FC236}">
                  <a16:creationId xmlns:a16="http://schemas.microsoft.com/office/drawing/2014/main" id="{191B5639-45FB-2D6D-B335-40365D5577D4}"/>
                </a:ext>
              </a:extLst>
            </p:cNvPr>
            <p:cNvSpPr txBox="1"/>
            <p:nvPr/>
          </p:nvSpPr>
          <p:spPr>
            <a:xfrm>
              <a:off x="7112757" y="2194117"/>
              <a:ext cx="27432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TED Talks</a:t>
              </a:r>
            </a:p>
          </p:txBody>
        </p:sp>
        <p:sp>
          <p:nvSpPr>
            <p:cNvPr id="9" name="TextBox 8">
              <a:extLst>
                <a:ext uri="{FF2B5EF4-FFF2-40B4-BE49-F238E27FC236}">
                  <a16:creationId xmlns:a16="http://schemas.microsoft.com/office/drawing/2014/main" id="{8FE4283F-413A-1106-58E8-08B099E931AE}"/>
                </a:ext>
              </a:extLst>
            </p:cNvPr>
            <p:cNvSpPr txBox="1"/>
            <p:nvPr/>
          </p:nvSpPr>
          <p:spPr>
            <a:xfrm>
              <a:off x="2158889" y="2193387"/>
              <a:ext cx="27432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Documentaries</a:t>
              </a:r>
            </a:p>
          </p:txBody>
        </p:sp>
        <p:cxnSp>
          <p:nvCxnSpPr>
            <p:cNvPr id="11" name="Straight Arrow Connector 10">
              <a:extLst>
                <a:ext uri="{FF2B5EF4-FFF2-40B4-BE49-F238E27FC236}">
                  <a16:creationId xmlns:a16="http://schemas.microsoft.com/office/drawing/2014/main" id="{7B007F86-E3A5-89C9-99F4-58BF010D6A06}"/>
                </a:ext>
              </a:extLst>
            </p:cNvPr>
            <p:cNvCxnSpPr>
              <a:stCxn id="6" idx="2"/>
              <a:endCxn id="4" idx="0"/>
            </p:cNvCxnSpPr>
            <p:nvPr/>
          </p:nvCxnSpPr>
          <p:spPr>
            <a:xfrm>
              <a:off x="5800298" y="2086367"/>
              <a:ext cx="1" cy="738720"/>
            </a:xfrm>
            <a:prstGeom prst="straightConnector1">
              <a:avLst/>
            </a:prstGeom>
            <a:ln w="76200">
              <a:solidFill>
                <a:schemeClr val="tx1"/>
              </a:solidFill>
              <a:tailEnd type="triangle"/>
            </a:ln>
          </p:spPr>
          <p:style>
            <a:lnRef idx="2">
              <a:schemeClr val="accent3"/>
            </a:lnRef>
            <a:fillRef idx="0">
              <a:schemeClr val="accent3"/>
            </a:fillRef>
            <a:effectRef idx="1">
              <a:schemeClr val="accent3"/>
            </a:effectRef>
            <a:fontRef idx="minor">
              <a:schemeClr val="tx1"/>
            </a:fontRef>
          </p:style>
        </p:cxnSp>
        <p:cxnSp>
          <p:nvCxnSpPr>
            <p:cNvPr id="13" name="Straight Arrow Connector 12">
              <a:extLst>
                <a:ext uri="{FF2B5EF4-FFF2-40B4-BE49-F238E27FC236}">
                  <a16:creationId xmlns:a16="http://schemas.microsoft.com/office/drawing/2014/main" id="{755F2E7A-C345-A45F-A5BC-5757F2DDBBFC}"/>
                </a:ext>
              </a:extLst>
            </p:cNvPr>
            <p:cNvCxnSpPr>
              <a:cxnSpLocks/>
            </p:cNvCxnSpPr>
            <p:nvPr/>
          </p:nvCxnSpPr>
          <p:spPr>
            <a:xfrm flipH="1" flipV="1">
              <a:off x="6705602" y="4509915"/>
              <a:ext cx="650541" cy="498813"/>
            </a:xfrm>
            <a:prstGeom prst="straightConnector1">
              <a:avLst/>
            </a:prstGeom>
            <a:ln w="76200">
              <a:solidFill>
                <a:schemeClr val="tx1"/>
              </a:solidFill>
              <a:tailEnd type="triangle"/>
            </a:ln>
          </p:spPr>
          <p:style>
            <a:lnRef idx="2">
              <a:schemeClr val="accent3"/>
            </a:lnRef>
            <a:fillRef idx="0">
              <a:schemeClr val="accent3"/>
            </a:fillRef>
            <a:effectRef idx="1">
              <a:schemeClr val="accent3"/>
            </a:effectRef>
            <a:fontRef idx="minor">
              <a:schemeClr val="tx1"/>
            </a:fontRef>
          </p:style>
        </p:cxnSp>
        <p:cxnSp>
          <p:nvCxnSpPr>
            <p:cNvPr id="14" name="Straight Arrow Connector 13">
              <a:extLst>
                <a:ext uri="{FF2B5EF4-FFF2-40B4-BE49-F238E27FC236}">
                  <a16:creationId xmlns:a16="http://schemas.microsoft.com/office/drawing/2014/main" id="{60C48AA6-B09D-889C-8B28-2EE7055765CD}"/>
                </a:ext>
              </a:extLst>
            </p:cNvPr>
            <p:cNvCxnSpPr>
              <a:cxnSpLocks/>
            </p:cNvCxnSpPr>
            <p:nvPr/>
          </p:nvCxnSpPr>
          <p:spPr>
            <a:xfrm flipV="1">
              <a:off x="4340921" y="4646332"/>
              <a:ext cx="647134" cy="382138"/>
            </a:xfrm>
            <a:prstGeom prst="straightConnector1">
              <a:avLst/>
            </a:prstGeom>
            <a:ln w="76200">
              <a:solidFill>
                <a:schemeClr val="tx1"/>
              </a:solidFill>
              <a:tailEnd type="triangle"/>
            </a:ln>
          </p:spPr>
          <p:style>
            <a:lnRef idx="2">
              <a:schemeClr val="accent3"/>
            </a:lnRef>
            <a:fillRef idx="0">
              <a:schemeClr val="accent3"/>
            </a:fillRef>
            <a:effectRef idx="1">
              <a:schemeClr val="accent3"/>
            </a:effectRef>
            <a:fontRef idx="minor">
              <a:schemeClr val="tx1"/>
            </a:fontRef>
          </p:style>
        </p:cxnSp>
        <p:cxnSp>
          <p:nvCxnSpPr>
            <p:cNvPr id="15" name="Straight Arrow Connector 14">
              <a:extLst>
                <a:ext uri="{FF2B5EF4-FFF2-40B4-BE49-F238E27FC236}">
                  <a16:creationId xmlns:a16="http://schemas.microsoft.com/office/drawing/2014/main" id="{C76E109E-52ED-A45A-9498-373AF790CA98}"/>
                </a:ext>
              </a:extLst>
            </p:cNvPr>
            <p:cNvCxnSpPr>
              <a:cxnSpLocks/>
            </p:cNvCxnSpPr>
            <p:nvPr/>
          </p:nvCxnSpPr>
          <p:spPr>
            <a:xfrm>
              <a:off x="4551326" y="2608127"/>
              <a:ext cx="464226" cy="527714"/>
            </a:xfrm>
            <a:prstGeom prst="straightConnector1">
              <a:avLst/>
            </a:prstGeom>
            <a:ln w="76200">
              <a:solidFill>
                <a:schemeClr val="tx1"/>
              </a:solidFill>
              <a:tailEnd type="triangle"/>
            </a:ln>
          </p:spPr>
          <p:style>
            <a:lnRef idx="2">
              <a:schemeClr val="accent3"/>
            </a:lnRef>
            <a:fillRef idx="0">
              <a:schemeClr val="accent3"/>
            </a:fillRef>
            <a:effectRef idx="1">
              <a:schemeClr val="accent3"/>
            </a:effectRef>
            <a:fontRef idx="minor">
              <a:schemeClr val="tx1"/>
            </a:fontRef>
          </p:style>
        </p:cxnSp>
        <p:cxnSp>
          <p:nvCxnSpPr>
            <p:cNvPr id="16" name="Straight Arrow Connector 15">
              <a:extLst>
                <a:ext uri="{FF2B5EF4-FFF2-40B4-BE49-F238E27FC236}">
                  <a16:creationId xmlns:a16="http://schemas.microsoft.com/office/drawing/2014/main" id="{5F17067F-457A-7743-0900-35B816BF8DCA}"/>
                </a:ext>
              </a:extLst>
            </p:cNvPr>
            <p:cNvCxnSpPr>
              <a:cxnSpLocks/>
              <a:endCxn id="4" idx="7"/>
            </p:cNvCxnSpPr>
            <p:nvPr/>
          </p:nvCxnSpPr>
          <p:spPr>
            <a:xfrm flipH="1">
              <a:off x="6572332" y="2576816"/>
              <a:ext cx="583643" cy="568058"/>
            </a:xfrm>
            <a:prstGeom prst="straightConnector1">
              <a:avLst/>
            </a:prstGeom>
            <a:ln w="76200">
              <a:solidFill>
                <a:schemeClr val="tx1"/>
              </a:solidFill>
              <a:tailEnd type="triangle"/>
            </a:ln>
          </p:spPr>
          <p:style>
            <a:lnRef idx="2">
              <a:schemeClr val="accent3"/>
            </a:lnRef>
            <a:fillRef idx="0">
              <a:schemeClr val="accent3"/>
            </a:fillRef>
            <a:effectRef idx="1">
              <a:schemeClr val="accent3"/>
            </a:effectRef>
            <a:fontRef idx="minor">
              <a:schemeClr val="tx1"/>
            </a:fontRef>
          </p:style>
        </p:cxnSp>
        <p:sp>
          <p:nvSpPr>
            <p:cNvPr id="26" name="TextBox 25">
              <a:extLst>
                <a:ext uri="{FF2B5EF4-FFF2-40B4-BE49-F238E27FC236}">
                  <a16:creationId xmlns:a16="http://schemas.microsoft.com/office/drawing/2014/main" id="{5D526E60-E565-03C5-C232-F7D253A5C767}"/>
                </a:ext>
              </a:extLst>
            </p:cNvPr>
            <p:cNvSpPr txBox="1"/>
            <p:nvPr/>
          </p:nvSpPr>
          <p:spPr>
            <a:xfrm>
              <a:off x="3411939" y="5419662"/>
              <a:ext cx="4776717" cy="954107"/>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BUILDING AWARENESS and PERSPECTIVES</a:t>
              </a:r>
            </a:p>
          </p:txBody>
        </p:sp>
      </p:grpSp>
    </p:spTree>
    <p:extLst>
      <p:ext uri="{BB962C8B-B14F-4D97-AF65-F5344CB8AC3E}">
        <p14:creationId xmlns:p14="http://schemas.microsoft.com/office/powerpoint/2010/main" val="24792948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088F8C-7CE9-55F9-19EE-2C9A3AD1C239}"/>
              </a:ext>
            </a:extLst>
          </p:cNvPr>
          <p:cNvSpPr/>
          <p:nvPr/>
        </p:nvSpPr>
        <p:spPr>
          <a:xfrm>
            <a:off x="-159224" y="0"/>
            <a:ext cx="12351224"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0"/>
            <a:ext cx="12192000" cy="723331"/>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DEPLOYING THE TECHNOLOGY</a:t>
            </a:r>
          </a:p>
        </p:txBody>
      </p:sp>
      <p:sp>
        <p:nvSpPr>
          <p:cNvPr id="2" name="Subtitle 2">
            <a:extLst>
              <a:ext uri="{FF2B5EF4-FFF2-40B4-BE49-F238E27FC236}">
                <a16:creationId xmlns:a16="http://schemas.microsoft.com/office/drawing/2014/main" id="{30E813FC-3CE0-78B0-D08D-1B6490A772C2}"/>
              </a:ext>
            </a:extLst>
          </p:cNvPr>
          <p:cNvSpPr txBox="1">
            <a:spLocks/>
          </p:cNvSpPr>
          <p:nvPr/>
        </p:nvSpPr>
        <p:spPr>
          <a:xfrm>
            <a:off x="948817" y="1461461"/>
            <a:ext cx="9808830" cy="2744779"/>
          </a:xfrm>
          <a:prstGeom prst="rect">
            <a:avLst/>
          </a:prstGeom>
          <a:solidFill>
            <a:schemeClr val="tx1"/>
          </a:solidFill>
          <a:ln>
            <a:solidFill>
              <a:schemeClr val="bg1"/>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R="0" lvl="0">
              <a:lnSpc>
                <a:spcPct val="115000"/>
              </a:lnSpc>
              <a:spcBef>
                <a:spcPts val="0"/>
              </a:spcBef>
              <a:spcAft>
                <a:spcPts val="0"/>
              </a:spcAft>
            </a:pPr>
            <a:r>
              <a:rPr lang="en-US" sz="2800" b="1" dirty="0">
                <a:solidFill>
                  <a:srgbClr val="FFC000"/>
                </a:solidFill>
                <a:effectLst/>
                <a:latin typeface="Times New Roman" panose="02020603050405020304" pitchFamily="18" charset="0"/>
                <a:ea typeface="Times New Roman" panose="02020603050405020304" pitchFamily="18" charset="0"/>
                <a:cs typeface="Times New Roman" panose="02020603050405020304" pitchFamily="18" charset="0"/>
              </a:rPr>
              <a:t>THE SCALING CHALLENGE</a:t>
            </a:r>
          </a:p>
          <a:p>
            <a:pPr marL="398463" marR="0" lvl="0" indent="-398463" algn="l">
              <a:lnSpc>
                <a:spcPct val="115000"/>
              </a:lnSpc>
              <a:spcBef>
                <a:spcPts val="0"/>
              </a:spcBef>
              <a:spcAft>
                <a:spcPts val="0"/>
              </a:spcAft>
              <a:buFont typeface="+mj-lt"/>
              <a:buAutoNum type="arabicPeriod" startAt="7"/>
            </a:pPr>
            <a:r>
              <a:rPr lang="en-US" sz="2800" b="1"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Configuring the Regional TeleCenter</a:t>
            </a:r>
          </a:p>
          <a:p>
            <a:pPr marL="398463" marR="0" lvl="0" indent="-398463" algn="l">
              <a:lnSpc>
                <a:spcPct val="115000"/>
              </a:lnSpc>
              <a:spcBef>
                <a:spcPts val="0"/>
              </a:spcBef>
              <a:spcAft>
                <a:spcPts val="0"/>
              </a:spcAft>
              <a:buFont typeface="+mj-lt"/>
              <a:buAutoNum type="arabicPeriod" startAt="7"/>
            </a:pPr>
            <a:r>
              <a:rPr lang="en-US" sz="2800" b="1" dirty="0">
                <a:solidFill>
                  <a:srgbClr val="FFC000"/>
                </a:solidFill>
                <a:latin typeface="Times New Roman" panose="02020603050405020304" pitchFamily="18" charset="0"/>
                <a:ea typeface="Times New Roman" panose="02020603050405020304" pitchFamily="18" charset="0"/>
                <a:cs typeface="Times New Roman" panose="02020603050405020304" pitchFamily="18" charset="0"/>
              </a:rPr>
              <a:t>Scaling a Community Lens &amp; TeleCenter</a:t>
            </a:r>
          </a:p>
          <a:p>
            <a:pPr marL="342900" marR="0" lvl="0" indent="-342900" algn="l">
              <a:lnSpc>
                <a:spcPct val="115000"/>
              </a:lnSpc>
              <a:spcBef>
                <a:spcPts val="0"/>
              </a:spcBef>
              <a:spcAft>
                <a:spcPts val="0"/>
              </a:spcAft>
              <a:buFont typeface="+mj-lt"/>
              <a:buAutoNum type="arabicPeriod" startAt="7"/>
            </a:pPr>
            <a:r>
              <a:rPr lang="en-US" sz="2800" b="1" dirty="0">
                <a:solidFill>
                  <a:srgbClr val="FFC000"/>
                </a:solidFill>
                <a:effectLst/>
                <a:latin typeface="Times New Roman" panose="02020603050405020304" pitchFamily="18" charset="0"/>
                <a:ea typeface="Times New Roman" panose="02020603050405020304" pitchFamily="18" charset="0"/>
                <a:cs typeface="Times New Roman" panose="02020603050405020304" pitchFamily="18" charset="0"/>
              </a:rPr>
              <a:t>Developing a Technology Plan, with licensing, content and divide responsibilities for maintenance</a:t>
            </a:r>
          </a:p>
        </p:txBody>
      </p:sp>
      <p:sp>
        <p:nvSpPr>
          <p:cNvPr id="6" name="Subtitle 2">
            <a:extLst>
              <a:ext uri="{FF2B5EF4-FFF2-40B4-BE49-F238E27FC236}">
                <a16:creationId xmlns:a16="http://schemas.microsoft.com/office/drawing/2014/main" id="{C5550148-67FD-CD68-1AE1-82315039BA84}"/>
              </a:ext>
            </a:extLst>
          </p:cNvPr>
          <p:cNvSpPr txBox="1">
            <a:spLocks/>
          </p:cNvSpPr>
          <p:nvPr/>
        </p:nvSpPr>
        <p:spPr>
          <a:xfrm>
            <a:off x="-159224" y="4673208"/>
            <a:ext cx="12067939" cy="1555470"/>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7200" b="1" dirty="0">
                <a:solidFill>
                  <a:schemeClr val="bg1"/>
                </a:solidFill>
                <a:latin typeface="Times New Roman" panose="02020603050405020304" pitchFamily="18" charset="0"/>
                <a:cs typeface="Times New Roman" panose="02020603050405020304" pitchFamily="18" charset="0"/>
              </a:rPr>
              <a:t>Q&amp;A</a:t>
            </a:r>
          </a:p>
          <a:p>
            <a:r>
              <a:rPr lang="en-US" sz="5600" b="1" dirty="0">
                <a:solidFill>
                  <a:schemeClr val="bg1"/>
                </a:solidFill>
                <a:latin typeface="Times New Roman" panose="02020603050405020304" pitchFamily="18" charset="0"/>
                <a:cs typeface="Times New Roman" panose="02020603050405020304" pitchFamily="18" charset="0"/>
              </a:rPr>
              <a:t>John Sanger, President, Tele-Commuter Resources, Inc.</a:t>
            </a:r>
          </a:p>
          <a:p>
            <a:r>
              <a:rPr lang="en-US" sz="5600" b="1" dirty="0">
                <a:solidFill>
                  <a:schemeClr val="bg1"/>
                </a:solidFill>
                <a:latin typeface="Times New Roman" panose="02020603050405020304" pitchFamily="18" charset="0"/>
                <a:cs typeface="Times New Roman" panose="02020603050405020304" pitchFamily="18" charset="0"/>
                <a:hlinkClick r:id="rId2"/>
              </a:rPr>
              <a:t>jfsanger@telecommuter.org</a:t>
            </a:r>
            <a:endParaRPr lang="en-US" sz="5600" b="1" dirty="0">
              <a:solidFill>
                <a:schemeClr val="bg1"/>
              </a:solidFill>
              <a:latin typeface="Times New Roman" panose="02020603050405020304" pitchFamily="18" charset="0"/>
              <a:cs typeface="Times New Roman" panose="02020603050405020304" pitchFamily="18" charset="0"/>
            </a:endParaRPr>
          </a:p>
          <a:p>
            <a:r>
              <a:rPr lang="en-US" sz="5600" b="1" dirty="0">
                <a:solidFill>
                  <a:schemeClr val="bg1"/>
                </a:solidFill>
                <a:latin typeface="Times New Roman" panose="02020603050405020304" pitchFamily="18" charset="0"/>
                <a:cs typeface="Times New Roman" panose="02020603050405020304" pitchFamily="18" charset="0"/>
              </a:rPr>
              <a:t>651-486—8408</a:t>
            </a:r>
          </a:p>
          <a:p>
            <a:r>
              <a:rPr lang="en-US" sz="5600" b="1" dirty="0">
                <a:solidFill>
                  <a:schemeClr val="bg1"/>
                </a:solidFill>
                <a:latin typeface="Times New Roman" panose="02020603050405020304" pitchFamily="18" charset="0"/>
                <a:cs typeface="Times New Roman" panose="02020603050405020304" pitchFamily="18" charset="0"/>
                <a:hlinkClick r:id="rId3"/>
              </a:rPr>
              <a:t>www.telecommuter.org</a:t>
            </a:r>
            <a:endParaRPr lang="en-US" sz="5600" b="1" dirty="0">
              <a:solidFill>
                <a:schemeClr val="bg1"/>
              </a:solidFill>
              <a:latin typeface="Times New Roman" panose="02020603050405020304" pitchFamily="18" charset="0"/>
              <a:cs typeface="Times New Roman" panose="02020603050405020304" pitchFamily="18" charset="0"/>
            </a:endParaRPr>
          </a:p>
          <a:p>
            <a:r>
              <a:rPr lang="en-US" sz="5600" b="1" dirty="0">
                <a:solidFill>
                  <a:schemeClr val="bg1"/>
                </a:solidFill>
                <a:latin typeface="Times New Roman" panose="02020603050405020304" pitchFamily="18" charset="0"/>
                <a:cs typeface="Times New Roman" panose="02020603050405020304" pitchFamily="18" charset="0"/>
                <a:hlinkClick r:id="rId4"/>
              </a:rPr>
              <a:t>www.infoagecommunity.org</a:t>
            </a:r>
            <a:r>
              <a:rPr lang="en-US" sz="5600" b="1" dirty="0">
                <a:solidFill>
                  <a:schemeClr val="bg1"/>
                </a:solidFill>
                <a:latin typeface="Times New Roman" panose="02020603050405020304" pitchFamily="18" charset="0"/>
                <a:cs typeface="Times New Roman" panose="02020603050405020304" pitchFamily="18" charset="0"/>
              </a:rPr>
              <a:t>  (under development</a:t>
            </a:r>
          </a:p>
        </p:txBody>
      </p:sp>
    </p:spTree>
    <p:extLst>
      <p:ext uri="{BB962C8B-B14F-4D97-AF65-F5344CB8AC3E}">
        <p14:creationId xmlns:p14="http://schemas.microsoft.com/office/powerpoint/2010/main" val="3805420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088F8C-7CE9-55F9-19EE-2C9A3AD1C239}"/>
              </a:ext>
            </a:extLst>
          </p:cNvPr>
          <p:cNvSpPr/>
          <p:nvPr/>
        </p:nvSpPr>
        <p:spPr>
          <a:xfrm>
            <a:off x="-79612" y="0"/>
            <a:ext cx="12351224"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0"/>
            <a:ext cx="12192000" cy="723331"/>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DATA STRUCTURE</a:t>
            </a:r>
          </a:p>
        </p:txBody>
      </p:sp>
      <p:sp>
        <p:nvSpPr>
          <p:cNvPr id="4" name="Subtitle 2">
            <a:extLst>
              <a:ext uri="{FF2B5EF4-FFF2-40B4-BE49-F238E27FC236}">
                <a16:creationId xmlns:a16="http://schemas.microsoft.com/office/drawing/2014/main" id="{15615D0E-6F01-16F0-E511-C12A8AE8B49A}"/>
              </a:ext>
            </a:extLst>
          </p:cNvPr>
          <p:cNvSpPr txBox="1">
            <a:spLocks/>
          </p:cNvSpPr>
          <p:nvPr/>
        </p:nvSpPr>
        <p:spPr>
          <a:xfrm>
            <a:off x="361950" y="984913"/>
            <a:ext cx="4800600" cy="4072862"/>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l">
              <a:lnSpc>
                <a:spcPct val="115000"/>
              </a:lnSpc>
              <a:spcBef>
                <a:spcPts val="0"/>
              </a:spcBef>
              <a:spcAft>
                <a:spcPts val="0"/>
              </a:spcAft>
              <a:buFont typeface="+mj-lt"/>
              <a:buAutoNum type="romanLcPeriod"/>
              <a:tabLst>
                <a:tab pos="228600" algn="l"/>
                <a:tab pos="457200" algn="l"/>
              </a:tabLst>
            </a:pPr>
            <a:r>
              <a:rPr lang="en-US" sz="6400" i="1" u="sng"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Data Structure</a:t>
            </a:r>
            <a:r>
              <a:rPr lang="en-US" sz="6400" i="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6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The Information Age Community maintains a database that supports those engine inquiries</a:t>
            </a:r>
          </a:p>
          <a:p>
            <a:pPr marL="342900" marR="0" lvl="0" indent="-342900" algn="l">
              <a:lnSpc>
                <a:spcPct val="115000"/>
              </a:lnSpc>
              <a:spcBef>
                <a:spcPts val="0"/>
              </a:spcBef>
              <a:spcAft>
                <a:spcPts val="0"/>
              </a:spcAft>
              <a:buFont typeface="+mj-lt"/>
              <a:buAutoNum type="romanLcPeriod"/>
              <a:tabLst>
                <a:tab pos="228600" algn="l"/>
                <a:tab pos="457200" algn="l"/>
              </a:tabLst>
            </a:pPr>
            <a:endParaRPr lang="en-US" sz="6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l">
              <a:lnSpc>
                <a:spcPct val="115000"/>
              </a:lnSpc>
              <a:spcBef>
                <a:spcPts val="0"/>
              </a:spcBef>
              <a:spcAft>
                <a:spcPts val="0"/>
              </a:spcAft>
              <a:buFont typeface="+mj-lt"/>
              <a:buAutoNum type="romanLcPeriod"/>
            </a:pPr>
            <a:r>
              <a:rPr lang="en-US" sz="6400" b="0" i="1" u="sng"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Data Structure-  </a:t>
            </a:r>
            <a:r>
              <a:rPr lang="en-US" sz="6400" b="0"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The IAC data structure is designed to look back at historical data, integrate present data and forecast trends for future data.  Using AI, it is being developed to integrate the relevant data to support community inquiries across all data sets. Developed at the zip code level, it not only profiles every small town but it also aggregates the data to the Community Level as this process is describing. </a:t>
            </a:r>
            <a:endParaRPr lang="en-US" sz="6400" b="1"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gn="l">
              <a:lnSpc>
                <a:spcPct val="115000"/>
              </a:lnSpc>
              <a:spcBef>
                <a:spcPts val="0"/>
              </a:spcBef>
              <a:spcAft>
                <a:spcPts val="0"/>
              </a:spcAft>
            </a:pPr>
            <a:r>
              <a:rPr lang="en-US" sz="6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algn="l">
              <a:lnSpc>
                <a:spcPct val="115000"/>
              </a:lnSpc>
              <a:spcBef>
                <a:spcPts val="0"/>
              </a:spcBef>
              <a:spcAft>
                <a:spcPts val="0"/>
              </a:spcAft>
            </a:pPr>
            <a:r>
              <a:rPr lang="en-US" sz="6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342900" marR="0" lvl="0" indent="-342900" algn="l">
              <a:lnSpc>
                <a:spcPct val="115000"/>
              </a:lnSpc>
              <a:spcBef>
                <a:spcPts val="0"/>
              </a:spcBef>
              <a:spcAft>
                <a:spcPts val="0"/>
              </a:spcAft>
              <a:buFont typeface="+mj-lt"/>
              <a:buAutoNum type="romanLcPeriod"/>
              <a:tabLst>
                <a:tab pos="228600" algn="l"/>
                <a:tab pos="457200" algn="l"/>
              </a:tabLst>
            </a:pPr>
            <a:endParaRPr lang="en-US" sz="2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Subtitle 2">
            <a:extLst>
              <a:ext uri="{FF2B5EF4-FFF2-40B4-BE49-F238E27FC236}">
                <a16:creationId xmlns:a16="http://schemas.microsoft.com/office/drawing/2014/main" id="{80E8A6E5-983E-5340-C39E-0DB4806FD26C}"/>
              </a:ext>
            </a:extLst>
          </p:cNvPr>
          <p:cNvSpPr txBox="1">
            <a:spLocks/>
          </p:cNvSpPr>
          <p:nvPr/>
        </p:nvSpPr>
        <p:spPr>
          <a:xfrm>
            <a:off x="5468558" y="984913"/>
            <a:ext cx="3549413" cy="564448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514350" marR="0" lvl="0" indent="-514350" algn="l">
              <a:lnSpc>
                <a:spcPct val="115000"/>
              </a:lnSpc>
              <a:spcBef>
                <a:spcPts val="0"/>
              </a:spcBef>
              <a:spcAft>
                <a:spcPts val="0"/>
              </a:spcAft>
              <a:buFont typeface="+mj-lt"/>
              <a:buAutoNum type="romanUcPeriod"/>
              <a:tabLst>
                <a:tab pos="228600" algn="l"/>
                <a:tab pos="457200" algn="l"/>
              </a:tabLst>
            </a:pPr>
            <a:r>
              <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Infrastructure</a:t>
            </a:r>
          </a:p>
          <a:p>
            <a:pPr marL="514350" marR="0" lvl="0" indent="-514350" algn="l">
              <a:lnSpc>
                <a:spcPct val="115000"/>
              </a:lnSpc>
              <a:spcBef>
                <a:spcPts val="0"/>
              </a:spcBef>
              <a:spcAft>
                <a:spcPts val="0"/>
              </a:spcAft>
              <a:buFont typeface="+mj-lt"/>
              <a:buAutoNum type="romanU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Services</a:t>
            </a:r>
          </a:p>
          <a:p>
            <a:pPr marL="971550" lvl="1" indent="-514350" algn="l">
              <a:lnSpc>
                <a:spcPct val="115000"/>
              </a:lnSpc>
              <a:spcBef>
                <a:spcPts val="0"/>
              </a:spcBef>
              <a:buFont typeface="+mj-lt"/>
              <a:buAutoNum type="alphaUcPeriod"/>
              <a:tabLst>
                <a:tab pos="228600" algn="l"/>
                <a:tab pos="457200" algn="l"/>
              </a:tabLst>
            </a:pPr>
            <a:r>
              <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Health Care &amp; Services</a:t>
            </a:r>
          </a:p>
          <a:p>
            <a:pPr marL="1257300" lvl="2" indent="-342900" algn="l">
              <a:lnSpc>
                <a:spcPct val="115000"/>
              </a:lnSpc>
              <a:spcBef>
                <a:spcPts val="0"/>
              </a:spcBef>
              <a:buFont typeface="+mj-lt"/>
              <a:buAutoNum type="arabi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Community Coverage</a:t>
            </a:r>
          </a:p>
          <a:p>
            <a:pPr marL="1257300" lvl="2" indent="-342900" algn="l">
              <a:lnSpc>
                <a:spcPct val="115000"/>
              </a:lnSpc>
              <a:spcBef>
                <a:spcPts val="0"/>
              </a:spcBef>
              <a:buFont typeface="+mj-lt"/>
              <a:buAutoNum type="arabi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Specialty Services</a:t>
            </a:r>
          </a:p>
          <a:p>
            <a:pPr marL="1257300" lvl="2" indent="-342900" algn="l">
              <a:lnSpc>
                <a:spcPct val="115000"/>
              </a:lnSpc>
              <a:spcBef>
                <a:spcPts val="0"/>
              </a:spcBef>
              <a:buFont typeface="+mj-lt"/>
              <a:buAutoNum type="arabi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Preventative Care</a:t>
            </a:r>
          </a:p>
          <a:p>
            <a:pPr marL="1257300" lvl="2" indent="-342900" algn="l">
              <a:lnSpc>
                <a:spcPct val="115000"/>
              </a:lnSpc>
              <a:spcBef>
                <a:spcPts val="0"/>
              </a:spcBef>
              <a:buFont typeface="+mj-lt"/>
              <a:buAutoNum type="arabi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Maternal &amp; Child Health</a:t>
            </a:r>
          </a:p>
          <a:p>
            <a:pPr marL="1257300" lvl="2" indent="-342900" algn="l">
              <a:lnSpc>
                <a:spcPct val="115000"/>
              </a:lnSpc>
              <a:spcBef>
                <a:spcPts val="0"/>
              </a:spcBef>
              <a:buFont typeface="+mj-lt"/>
              <a:buAutoNum type="arabi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Geriatric Care</a:t>
            </a:r>
          </a:p>
          <a:p>
            <a:pPr marL="1257300" lvl="2" indent="-342900" algn="l">
              <a:lnSpc>
                <a:spcPct val="115000"/>
              </a:lnSpc>
              <a:spcBef>
                <a:spcPts val="0"/>
              </a:spcBef>
              <a:buFont typeface="+mj-lt"/>
              <a:buAutoNum type="arabi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Disability Support</a:t>
            </a:r>
          </a:p>
          <a:p>
            <a:pPr marL="800100" lvl="1" indent="-342900" algn="l">
              <a:lnSpc>
                <a:spcPct val="115000"/>
              </a:lnSpc>
              <a:spcBef>
                <a:spcPts val="0"/>
              </a:spcBef>
              <a:buFont typeface="+mj-lt"/>
              <a:buAutoNum type="alphaU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Educational Performance</a:t>
            </a:r>
          </a:p>
          <a:p>
            <a:pPr marL="800100" lvl="1" indent="-342900" algn="l">
              <a:lnSpc>
                <a:spcPct val="115000"/>
              </a:lnSpc>
              <a:spcBef>
                <a:spcPts val="0"/>
              </a:spcBef>
              <a:buFont typeface="+mj-lt"/>
              <a:buAutoNum type="alphaU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Public Safety</a:t>
            </a:r>
          </a:p>
          <a:p>
            <a:pPr marL="800100" lvl="1" indent="-342900" algn="l">
              <a:lnSpc>
                <a:spcPct val="115000"/>
              </a:lnSpc>
              <a:spcBef>
                <a:spcPts val="0"/>
              </a:spcBef>
              <a:buFont typeface="+mj-lt"/>
              <a:buAutoNum type="alphaU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Human Support</a:t>
            </a:r>
          </a:p>
          <a:p>
            <a:pPr marL="800100" lvl="1" indent="-342900" algn="l">
              <a:lnSpc>
                <a:spcPct val="115000"/>
              </a:lnSpc>
              <a:spcBef>
                <a:spcPts val="0"/>
              </a:spcBef>
              <a:buFont typeface="+mj-lt"/>
              <a:buAutoNum type="alphaU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Communications</a:t>
            </a:r>
          </a:p>
          <a:p>
            <a:pPr marL="342900" indent="-342900" algn="l">
              <a:lnSpc>
                <a:spcPct val="115000"/>
              </a:lnSpc>
              <a:spcBef>
                <a:spcPts val="0"/>
              </a:spcBef>
              <a:buFont typeface="+mj-lt"/>
              <a:buAutoNum type="romanU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ENVIRONMENT</a:t>
            </a:r>
          </a:p>
          <a:p>
            <a:pPr marL="342900" indent="-342900" algn="l">
              <a:lnSpc>
                <a:spcPct val="115000"/>
              </a:lnSpc>
              <a:spcBef>
                <a:spcPts val="0"/>
              </a:spcBef>
              <a:buFont typeface="+mj-lt"/>
              <a:buAutoNum type="romanU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ECONOMY</a:t>
            </a:r>
          </a:p>
          <a:p>
            <a:pPr marL="342900" indent="-342900" algn="l">
              <a:lnSpc>
                <a:spcPct val="115000"/>
              </a:lnSpc>
              <a:spcBef>
                <a:spcPts val="0"/>
              </a:spcBef>
              <a:buFont typeface="+mj-lt"/>
              <a:buAutoNum type="romanU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DEMOGRAPHICS</a:t>
            </a:r>
          </a:p>
          <a:p>
            <a:pPr marL="342900" indent="-342900" algn="l">
              <a:lnSpc>
                <a:spcPct val="115000"/>
              </a:lnSpc>
              <a:spcBef>
                <a:spcPts val="0"/>
              </a:spcBef>
              <a:buFont typeface="+mj-lt"/>
              <a:buAutoNum type="romanUcPeriod"/>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GOVERNANCE</a:t>
            </a:r>
          </a:p>
          <a:p>
            <a:pPr marL="800100" lvl="1" indent="-342900" algn="l">
              <a:lnSpc>
                <a:spcPct val="115000"/>
              </a:lnSpc>
              <a:spcBef>
                <a:spcPts val="0"/>
              </a:spcBef>
              <a:buFont typeface="+mj-lt"/>
              <a:buAutoNum type="alphaUcPeriod"/>
              <a:tabLst>
                <a:tab pos="228600" algn="l"/>
                <a:tab pos="457200" algn="l"/>
              </a:tabLst>
            </a:pPr>
            <a:endParaRPr lang="en-US"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1257300" lvl="2" indent="-342900" algn="l">
              <a:lnSpc>
                <a:spcPct val="115000"/>
              </a:lnSpc>
              <a:spcBef>
                <a:spcPts val="0"/>
              </a:spcBef>
              <a:buFont typeface="+mj-lt"/>
              <a:buAutoNum type="arabicPeriod"/>
              <a:tabLst>
                <a:tab pos="228600" algn="l"/>
                <a:tab pos="457200" algn="l"/>
              </a:tabLst>
            </a:pPr>
            <a:endParaRPr lang="en-US"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22D929C2-DFE4-0D13-0700-BE1CAB892176}"/>
              </a:ext>
            </a:extLst>
          </p:cNvPr>
          <p:cNvSpPr txBox="1">
            <a:spLocks/>
          </p:cNvSpPr>
          <p:nvPr/>
        </p:nvSpPr>
        <p:spPr>
          <a:xfrm>
            <a:off x="9323980" y="1007801"/>
            <a:ext cx="2868020" cy="188779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marR="0" lvl="0" indent="-228600" algn="l">
              <a:lnSpc>
                <a:spcPct val="115000"/>
              </a:lnSpc>
              <a:spcBef>
                <a:spcPts val="0"/>
              </a:spcBef>
              <a:spcAft>
                <a:spcPts val="0"/>
              </a:spcAft>
              <a:buFont typeface="+mj-lt"/>
              <a:buAutoNum type="romanUcPeriod"/>
            </a:pPr>
            <a:r>
              <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Categories</a:t>
            </a:r>
          </a:p>
          <a:p>
            <a:pPr marL="342900" lvl="2" algn="l">
              <a:lnSpc>
                <a:spcPct val="115000"/>
              </a:lnSpc>
              <a:spcBef>
                <a:spcPts val="0"/>
              </a:spcBef>
              <a:tabLst>
                <a:tab pos="228600" algn="l"/>
                <a:tab pos="457200" algn="l"/>
              </a:tabLst>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 Topics</a:t>
            </a:r>
          </a:p>
          <a:p>
            <a:pPr marL="685800" lvl="2" algn="l">
              <a:lnSpc>
                <a:spcPct val="115000"/>
              </a:lnSpc>
              <a:spcBef>
                <a:spcPts val="0"/>
              </a:spcBef>
            </a:pPr>
            <a:r>
              <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1. Components</a:t>
            </a:r>
          </a:p>
          <a:p>
            <a:pPr marL="971550" lvl="2" algn="l">
              <a:lnSpc>
                <a:spcPct val="115000"/>
              </a:lnSpc>
              <a:spcBef>
                <a:spcPts val="0"/>
              </a:spcBef>
            </a:pPr>
            <a:r>
              <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 Clusters</a:t>
            </a:r>
          </a:p>
          <a:p>
            <a:pPr marL="1428750" lvl="2" indent="-114300" algn="l">
              <a:lnSpc>
                <a:spcPct val="115000"/>
              </a:lnSpc>
              <a:spcBef>
                <a:spcPts val="0"/>
              </a:spcBef>
              <a:buAutoNum type="romanLcParenR"/>
            </a:pPr>
            <a:r>
              <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Indicators</a:t>
            </a:r>
          </a:p>
          <a:p>
            <a:pPr marL="1600200" lvl="2" indent="-285750" algn="l">
              <a:lnSpc>
                <a:spcPct val="115000"/>
              </a:lnSpc>
              <a:spcBef>
                <a:spcPts val="0"/>
              </a:spcBef>
              <a:buAutoNum type="romanLcParenR"/>
            </a:pPr>
            <a:endParaRPr lang="en-US"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marL="57150" algn="l">
              <a:lnSpc>
                <a:spcPct val="115000"/>
              </a:lnSpc>
              <a:spcBef>
                <a:spcPts val="0"/>
              </a:spcBef>
            </a:pPr>
            <a:r>
              <a:rPr lang="en-US" sz="16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Based upon the implementation of the Research protocol, the final indicators will be defined.</a:t>
            </a:r>
          </a:p>
        </p:txBody>
      </p:sp>
    </p:spTree>
    <p:extLst>
      <p:ext uri="{BB962C8B-B14F-4D97-AF65-F5344CB8AC3E}">
        <p14:creationId xmlns:p14="http://schemas.microsoft.com/office/powerpoint/2010/main" val="2262648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8BD9530-E2DD-F1EB-2D2D-E5AE1AD71EF7}"/>
              </a:ext>
            </a:extLst>
          </p:cNvPr>
          <p:cNvSpPr txBox="1"/>
          <p:nvPr/>
        </p:nvSpPr>
        <p:spPr>
          <a:xfrm rot="16200000">
            <a:off x="-4182653" y="3003102"/>
            <a:ext cx="6858002" cy="769441"/>
          </a:xfrm>
          <a:prstGeom prst="rect">
            <a:avLst/>
          </a:prstGeom>
          <a:solidFill>
            <a:schemeClr val="tx1"/>
          </a:solidFill>
        </p:spPr>
        <p:txBody>
          <a:bodyPr wrap="square" rtlCol="0">
            <a:spAutoFit/>
          </a:bodyPr>
          <a:lstStyle/>
          <a:p>
            <a:pPr algn="ctr"/>
            <a:r>
              <a:rPr lang="en-US" sz="4400" b="1" dirty="0">
                <a:solidFill>
                  <a:schemeClr val="bg1"/>
                </a:solidFill>
                <a:latin typeface="Stencil" panose="040409050D0802020404" pitchFamily="82" charset="0"/>
              </a:rPr>
              <a:t>THE STRATeGIC  PLAN</a:t>
            </a:r>
          </a:p>
        </p:txBody>
      </p:sp>
      <p:sp>
        <p:nvSpPr>
          <p:cNvPr id="13" name="TextBox 12">
            <a:extLst>
              <a:ext uri="{FF2B5EF4-FFF2-40B4-BE49-F238E27FC236}">
                <a16:creationId xmlns:a16="http://schemas.microsoft.com/office/drawing/2014/main" id="{87AD4B88-4203-9CC4-AD5D-0ABF55A005F0}"/>
              </a:ext>
            </a:extLst>
          </p:cNvPr>
          <p:cNvSpPr txBox="1"/>
          <p:nvPr/>
        </p:nvSpPr>
        <p:spPr>
          <a:xfrm>
            <a:off x="0" y="184379"/>
            <a:ext cx="12529225" cy="769441"/>
          </a:xfrm>
          <a:prstGeom prst="rect">
            <a:avLst/>
          </a:prstGeom>
          <a:noFill/>
        </p:spPr>
        <p:txBody>
          <a:bodyPr wrap="square" rtlCol="0">
            <a:spAutoFit/>
          </a:bodyPr>
          <a:lstStyle/>
          <a:p>
            <a:pPr algn="ctr"/>
            <a:r>
              <a:rPr lang="en-US" sz="4400" b="1" dirty="0">
                <a:solidFill>
                  <a:schemeClr val="bg1"/>
                </a:solidFill>
                <a:latin typeface="Times New Roman" panose="02020603050405020304" pitchFamily="18" charset="0"/>
                <a:cs typeface="Times New Roman" panose="02020603050405020304" pitchFamily="18" charset="0"/>
              </a:rPr>
              <a:t>GOVERNED BY THE COMMUNITY</a:t>
            </a:r>
          </a:p>
        </p:txBody>
      </p:sp>
      <p:pic>
        <p:nvPicPr>
          <p:cNvPr id="2" name="Picture 1" descr="A diagram of a service model&#10;&#10;AI-generated content may be incorrect.">
            <a:extLst>
              <a:ext uri="{FF2B5EF4-FFF2-40B4-BE49-F238E27FC236}">
                <a16:creationId xmlns:a16="http://schemas.microsoft.com/office/drawing/2014/main" id="{D1B2D5C1-879F-06F1-1097-628009A0E465}"/>
              </a:ext>
            </a:extLst>
          </p:cNvPr>
          <p:cNvPicPr>
            <a:picLocks noChangeAspect="1"/>
          </p:cNvPicPr>
          <p:nvPr/>
        </p:nvPicPr>
        <p:blipFill>
          <a:blip r:embed="rId2">
            <a:extLst>
              <a:ext uri="{28A0092B-C50C-407E-A947-70E740481C1C}">
                <a14:useLocalDpi xmlns:a14="http://schemas.microsoft.com/office/drawing/2010/main" val="0"/>
              </a:ext>
            </a:extLst>
          </a:blip>
          <a:srcRect l="45997"/>
          <a:stretch/>
        </p:blipFill>
        <p:spPr>
          <a:xfrm>
            <a:off x="1325462" y="-1506163"/>
            <a:ext cx="1857375" cy="1483834"/>
          </a:xfrm>
          <a:prstGeom prst="rect">
            <a:avLst/>
          </a:prstGeom>
        </p:spPr>
      </p:pic>
      <p:sp>
        <p:nvSpPr>
          <p:cNvPr id="27" name="TextBox 26">
            <a:extLst>
              <a:ext uri="{FF2B5EF4-FFF2-40B4-BE49-F238E27FC236}">
                <a16:creationId xmlns:a16="http://schemas.microsoft.com/office/drawing/2014/main" id="{B95D4E35-7BD0-7B95-FBBE-EAB8A68DEA26}"/>
              </a:ext>
            </a:extLst>
          </p:cNvPr>
          <p:cNvSpPr txBox="1"/>
          <p:nvPr/>
        </p:nvSpPr>
        <p:spPr>
          <a:xfrm>
            <a:off x="8735681" y="1014550"/>
            <a:ext cx="2566322" cy="1877437"/>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COLLABORATVIES:</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Educational</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Formation</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Economic Development</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Legal</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Marketing</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Funding</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Political Engagement</a:t>
            </a:r>
          </a:p>
        </p:txBody>
      </p:sp>
      <p:sp>
        <p:nvSpPr>
          <p:cNvPr id="3" name="Oval 2">
            <a:extLst>
              <a:ext uri="{FF2B5EF4-FFF2-40B4-BE49-F238E27FC236}">
                <a16:creationId xmlns:a16="http://schemas.microsoft.com/office/drawing/2014/main" id="{B320A2CE-DF10-7C81-3335-18163E7CD0AA}"/>
              </a:ext>
            </a:extLst>
          </p:cNvPr>
          <p:cNvSpPr/>
          <p:nvPr/>
        </p:nvSpPr>
        <p:spPr>
          <a:xfrm>
            <a:off x="5163934" y="1256711"/>
            <a:ext cx="2346408" cy="738663"/>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Executive  Committee</a:t>
            </a:r>
          </a:p>
        </p:txBody>
      </p:sp>
      <p:sp>
        <p:nvSpPr>
          <p:cNvPr id="4" name="Oval 3">
            <a:extLst>
              <a:ext uri="{FF2B5EF4-FFF2-40B4-BE49-F238E27FC236}">
                <a16:creationId xmlns:a16="http://schemas.microsoft.com/office/drawing/2014/main" id="{401534D8-65F9-6496-2551-2D612790491B}"/>
              </a:ext>
            </a:extLst>
          </p:cNvPr>
          <p:cNvSpPr/>
          <p:nvPr/>
        </p:nvSpPr>
        <p:spPr>
          <a:xfrm>
            <a:off x="5163934" y="2279115"/>
            <a:ext cx="2346408" cy="738663"/>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IAC BOARD </a:t>
            </a:r>
          </a:p>
        </p:txBody>
      </p:sp>
      <p:sp>
        <p:nvSpPr>
          <p:cNvPr id="8" name="Oval 7">
            <a:extLst>
              <a:ext uri="{FF2B5EF4-FFF2-40B4-BE49-F238E27FC236}">
                <a16:creationId xmlns:a16="http://schemas.microsoft.com/office/drawing/2014/main" id="{849DD261-3505-A37F-B2F6-14AD929319B1}"/>
              </a:ext>
            </a:extLst>
          </p:cNvPr>
          <p:cNvSpPr/>
          <p:nvPr/>
        </p:nvSpPr>
        <p:spPr>
          <a:xfrm>
            <a:off x="8160972" y="3229659"/>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Transit Deployment</a:t>
            </a:r>
          </a:p>
        </p:txBody>
      </p:sp>
      <p:sp>
        <p:nvSpPr>
          <p:cNvPr id="9" name="Oval 8">
            <a:extLst>
              <a:ext uri="{FF2B5EF4-FFF2-40B4-BE49-F238E27FC236}">
                <a16:creationId xmlns:a16="http://schemas.microsoft.com/office/drawing/2014/main" id="{799EED02-5DD9-88ED-3873-0825429F10E3}"/>
              </a:ext>
            </a:extLst>
          </p:cNvPr>
          <p:cNvSpPr/>
          <p:nvPr/>
        </p:nvSpPr>
        <p:spPr>
          <a:xfrm>
            <a:off x="2346309" y="3261881"/>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TeleCenter Network</a:t>
            </a:r>
          </a:p>
        </p:txBody>
      </p:sp>
      <p:sp>
        <p:nvSpPr>
          <p:cNvPr id="10" name="Oval 9">
            <a:extLst>
              <a:ext uri="{FF2B5EF4-FFF2-40B4-BE49-F238E27FC236}">
                <a16:creationId xmlns:a16="http://schemas.microsoft.com/office/drawing/2014/main" id="{CD6309B7-21AC-0CF7-5221-62E4436AC81E}"/>
              </a:ext>
            </a:extLst>
          </p:cNvPr>
          <p:cNvSpPr/>
          <p:nvPr/>
        </p:nvSpPr>
        <p:spPr>
          <a:xfrm>
            <a:off x="5167243" y="3269413"/>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Leadership</a:t>
            </a:r>
          </a:p>
        </p:txBody>
      </p:sp>
      <p:sp>
        <p:nvSpPr>
          <p:cNvPr id="12" name="TextBox 11">
            <a:extLst>
              <a:ext uri="{FF2B5EF4-FFF2-40B4-BE49-F238E27FC236}">
                <a16:creationId xmlns:a16="http://schemas.microsoft.com/office/drawing/2014/main" id="{608149C2-6419-D726-4F78-DFDB78BD8038}"/>
              </a:ext>
            </a:extLst>
          </p:cNvPr>
          <p:cNvSpPr txBox="1"/>
          <p:nvPr/>
        </p:nvSpPr>
        <p:spPr>
          <a:xfrm>
            <a:off x="4454787" y="4898779"/>
            <a:ext cx="2566322" cy="1384995"/>
          </a:xfrm>
          <a:prstGeom prst="rect">
            <a:avLst/>
          </a:prstGeom>
          <a:noFill/>
        </p:spPr>
        <p:txBody>
          <a:bodyPr wrap="square" rtlCol="0">
            <a:spAutoFit/>
          </a:bodyPr>
          <a:lstStyle/>
          <a:p>
            <a:r>
              <a:rPr lang="en-US" sz="1400" b="1" dirty="0">
                <a:solidFill>
                  <a:schemeClr val="bg1"/>
                </a:solidFill>
                <a:latin typeface="Times New Roman" panose="02020603050405020304" pitchFamily="18" charset="0"/>
                <a:cs typeface="Times New Roman" panose="02020603050405020304" pitchFamily="18" charset="0"/>
              </a:rPr>
              <a:t>Service Center Committees</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Application Management</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Distribution </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Operations &amp; Recruitment</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Services Advisors</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Technology</a:t>
            </a:r>
          </a:p>
        </p:txBody>
      </p:sp>
      <p:sp>
        <p:nvSpPr>
          <p:cNvPr id="16" name="Oval 15">
            <a:extLst>
              <a:ext uri="{FF2B5EF4-FFF2-40B4-BE49-F238E27FC236}">
                <a16:creationId xmlns:a16="http://schemas.microsoft.com/office/drawing/2014/main" id="{088B0554-A100-3C10-5A86-128382DC0155}"/>
              </a:ext>
            </a:extLst>
          </p:cNvPr>
          <p:cNvSpPr/>
          <p:nvPr/>
        </p:nvSpPr>
        <p:spPr>
          <a:xfrm>
            <a:off x="3678230" y="4119929"/>
            <a:ext cx="2323204"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SoTA Development </a:t>
            </a:r>
          </a:p>
        </p:txBody>
      </p:sp>
      <p:sp>
        <p:nvSpPr>
          <p:cNvPr id="17" name="Oval 16">
            <a:extLst>
              <a:ext uri="{FF2B5EF4-FFF2-40B4-BE49-F238E27FC236}">
                <a16:creationId xmlns:a16="http://schemas.microsoft.com/office/drawing/2014/main" id="{DCE66CEF-FD33-A41C-4D03-DFCE2E983CCD}"/>
              </a:ext>
            </a:extLst>
          </p:cNvPr>
          <p:cNvSpPr/>
          <p:nvPr/>
        </p:nvSpPr>
        <p:spPr>
          <a:xfrm>
            <a:off x="6754239" y="4058891"/>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Visioning</a:t>
            </a:r>
          </a:p>
        </p:txBody>
      </p:sp>
      <p:sp>
        <p:nvSpPr>
          <p:cNvPr id="18" name="TextBox 17">
            <a:extLst>
              <a:ext uri="{FF2B5EF4-FFF2-40B4-BE49-F238E27FC236}">
                <a16:creationId xmlns:a16="http://schemas.microsoft.com/office/drawing/2014/main" id="{D1F4BF91-59C8-97BD-E2E4-1C242D4A5826}"/>
              </a:ext>
            </a:extLst>
          </p:cNvPr>
          <p:cNvSpPr txBox="1"/>
          <p:nvPr/>
        </p:nvSpPr>
        <p:spPr>
          <a:xfrm>
            <a:off x="8051015" y="4858592"/>
            <a:ext cx="2566322" cy="738664"/>
          </a:xfrm>
          <a:prstGeom prst="rect">
            <a:avLst/>
          </a:prstGeom>
          <a:noFill/>
        </p:spPr>
        <p:txBody>
          <a:bodyPr wrap="square" rtlCol="0">
            <a:spAutoFit/>
          </a:bodyPr>
          <a:lstStyle/>
          <a:p>
            <a:pPr marL="166688" indent="-166688">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Regional  Monitor</a:t>
            </a:r>
          </a:p>
          <a:p>
            <a:pPr marL="166688" indent="-166688">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TechTrek</a:t>
            </a:r>
          </a:p>
          <a:p>
            <a:pPr marL="166688" indent="-166688">
              <a:buFont typeface="Arial" panose="020B0604020202020204" pitchFamily="34" charset="0"/>
              <a:buChar char="•"/>
            </a:pPr>
            <a:r>
              <a:rPr lang="en-US" sz="1400" b="1" dirty="0">
                <a:solidFill>
                  <a:schemeClr val="bg1"/>
                </a:solidFill>
                <a:latin typeface="Times New Roman" panose="02020603050405020304" pitchFamily="18" charset="0"/>
                <a:cs typeface="Times New Roman" panose="02020603050405020304" pitchFamily="18" charset="0"/>
              </a:rPr>
              <a:t>Metrix Tracking</a:t>
            </a:r>
          </a:p>
        </p:txBody>
      </p:sp>
      <p:cxnSp>
        <p:nvCxnSpPr>
          <p:cNvPr id="21" name="Straight Connector 20">
            <a:extLst>
              <a:ext uri="{FF2B5EF4-FFF2-40B4-BE49-F238E27FC236}">
                <a16:creationId xmlns:a16="http://schemas.microsoft.com/office/drawing/2014/main" id="{912856CC-DA42-4C3D-3719-278191D6E0C0}"/>
              </a:ext>
            </a:extLst>
          </p:cNvPr>
          <p:cNvCxnSpPr>
            <a:stCxn id="3" idx="4"/>
            <a:endCxn id="4" idx="0"/>
          </p:cNvCxnSpPr>
          <p:nvPr/>
        </p:nvCxnSpPr>
        <p:spPr>
          <a:xfrm>
            <a:off x="6337138" y="1995374"/>
            <a:ext cx="0" cy="283741"/>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EFF657A-8CD6-9024-D261-8AA0B3E7F719}"/>
              </a:ext>
            </a:extLst>
          </p:cNvPr>
          <p:cNvCxnSpPr>
            <a:cxnSpLocks/>
            <a:stCxn id="4" idx="2"/>
            <a:endCxn id="9" idx="7"/>
          </p:cNvCxnSpPr>
          <p:nvPr/>
        </p:nvCxnSpPr>
        <p:spPr>
          <a:xfrm flipH="1">
            <a:off x="4349094" y="2648447"/>
            <a:ext cx="814840" cy="721609"/>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AAA4578D-18BB-47C9-51A5-66B06BF5E640}"/>
              </a:ext>
            </a:extLst>
          </p:cNvPr>
          <p:cNvCxnSpPr>
            <a:cxnSpLocks/>
          </p:cNvCxnSpPr>
          <p:nvPr/>
        </p:nvCxnSpPr>
        <p:spPr>
          <a:xfrm>
            <a:off x="7195663" y="2909603"/>
            <a:ext cx="760724" cy="1149288"/>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2A96704A-A7AD-F85F-1426-C5E11C79D6AA}"/>
              </a:ext>
            </a:extLst>
          </p:cNvPr>
          <p:cNvCxnSpPr>
            <a:cxnSpLocks/>
            <a:stCxn id="4" idx="3"/>
            <a:endCxn id="16" idx="0"/>
          </p:cNvCxnSpPr>
          <p:nvPr/>
        </p:nvCxnSpPr>
        <p:spPr>
          <a:xfrm flipH="1">
            <a:off x="4839832" y="2909603"/>
            <a:ext cx="667725" cy="1210326"/>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12CC5152-5B57-50DF-4CC5-93F37F659B4E}"/>
              </a:ext>
            </a:extLst>
          </p:cNvPr>
          <p:cNvCxnSpPr>
            <a:cxnSpLocks/>
            <a:stCxn id="4" idx="4"/>
            <a:endCxn id="10" idx="0"/>
          </p:cNvCxnSpPr>
          <p:nvPr/>
        </p:nvCxnSpPr>
        <p:spPr>
          <a:xfrm>
            <a:off x="6337138" y="3017778"/>
            <a:ext cx="3309" cy="251635"/>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797555D-9FFE-2018-1D46-EB2200AE12D0}"/>
              </a:ext>
            </a:extLst>
          </p:cNvPr>
          <p:cNvCxnSpPr>
            <a:cxnSpLocks/>
            <a:stCxn id="4" idx="6"/>
            <a:endCxn id="8" idx="1"/>
          </p:cNvCxnSpPr>
          <p:nvPr/>
        </p:nvCxnSpPr>
        <p:spPr>
          <a:xfrm>
            <a:off x="7510342" y="2648447"/>
            <a:ext cx="994253" cy="689387"/>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1FE0FB7A-3CBC-BB93-B508-88AF20F2D03D}"/>
              </a:ext>
            </a:extLst>
          </p:cNvPr>
          <p:cNvSpPr txBox="1"/>
          <p:nvPr/>
        </p:nvSpPr>
        <p:spPr>
          <a:xfrm>
            <a:off x="632764" y="5439804"/>
            <a:ext cx="1956691" cy="738664"/>
          </a:xfrm>
          <a:prstGeom prst="rect">
            <a:avLst/>
          </a:prstGeom>
          <a:noFill/>
        </p:spPr>
        <p:txBody>
          <a:bodyPr wrap="square" rtlCol="0">
            <a:spAutoFit/>
          </a:bodyPr>
          <a:lstStyle/>
          <a:p>
            <a:r>
              <a:rPr lang="en-US" sz="1400" b="1" dirty="0">
                <a:solidFill>
                  <a:schemeClr val="bg1"/>
                </a:solidFill>
                <a:latin typeface="Times New Roman" panose="02020603050405020304" pitchFamily="18" charset="0"/>
                <a:cs typeface="Times New Roman" panose="02020603050405020304" pitchFamily="18" charset="0"/>
              </a:rPr>
              <a:t>Service Center Board</a:t>
            </a:r>
          </a:p>
          <a:p>
            <a:pPr marL="285750" indent="-173038">
              <a:buFont typeface="Arial" panose="020B0604020202020204" pitchFamily="34" charset="0"/>
              <a:buChar char="•"/>
              <a:tabLst>
                <a:tab pos="168275" algn="l"/>
              </a:tabLst>
            </a:pPr>
            <a:r>
              <a:rPr lang="en-US" sz="1400" b="1" dirty="0">
                <a:solidFill>
                  <a:schemeClr val="bg1"/>
                </a:solidFill>
                <a:latin typeface="Times New Roman" panose="02020603050405020304" pitchFamily="18" charset="0"/>
                <a:cs typeface="Times New Roman" panose="02020603050405020304" pitchFamily="18" charset="0"/>
              </a:rPr>
              <a:t>Sector Appointees</a:t>
            </a:r>
          </a:p>
          <a:p>
            <a:pPr marL="285750" indent="-173038">
              <a:buFont typeface="Arial" panose="020B0604020202020204" pitchFamily="34" charset="0"/>
              <a:buChar char="•"/>
              <a:tabLst>
                <a:tab pos="168275" algn="l"/>
              </a:tabLst>
            </a:pPr>
            <a:endParaRPr lang="en-US" sz="1400" b="1" dirty="0">
              <a:solidFill>
                <a:schemeClr val="bg1"/>
              </a:solidFill>
              <a:latin typeface="Times New Roman" panose="02020603050405020304" pitchFamily="18" charset="0"/>
              <a:cs typeface="Times New Roman" panose="02020603050405020304" pitchFamily="18" charset="0"/>
            </a:endParaRPr>
          </a:p>
        </p:txBody>
      </p:sp>
      <p:cxnSp>
        <p:nvCxnSpPr>
          <p:cNvPr id="61" name="Straight Connector 60">
            <a:extLst>
              <a:ext uri="{FF2B5EF4-FFF2-40B4-BE49-F238E27FC236}">
                <a16:creationId xmlns:a16="http://schemas.microsoft.com/office/drawing/2014/main" id="{F5F12667-FFFE-CD86-4706-56BA2193FA5D}"/>
              </a:ext>
            </a:extLst>
          </p:cNvPr>
          <p:cNvCxnSpPr>
            <a:cxnSpLocks/>
          </p:cNvCxnSpPr>
          <p:nvPr/>
        </p:nvCxnSpPr>
        <p:spPr>
          <a:xfrm flipH="1">
            <a:off x="3470871" y="4708455"/>
            <a:ext cx="406185" cy="88135"/>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CB3E6B48-BB55-7440-75A9-24F88042336E}"/>
              </a:ext>
            </a:extLst>
          </p:cNvPr>
          <p:cNvSpPr/>
          <p:nvPr/>
        </p:nvSpPr>
        <p:spPr>
          <a:xfrm>
            <a:off x="2384911" y="3261881"/>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TeleCenter Network</a:t>
            </a:r>
          </a:p>
        </p:txBody>
      </p:sp>
      <p:sp>
        <p:nvSpPr>
          <p:cNvPr id="25" name="Oval 24">
            <a:extLst>
              <a:ext uri="{FF2B5EF4-FFF2-40B4-BE49-F238E27FC236}">
                <a16:creationId xmlns:a16="http://schemas.microsoft.com/office/drawing/2014/main" id="{31AFED72-485B-CEB4-1995-A52A9EC8B660}"/>
              </a:ext>
            </a:extLst>
          </p:cNvPr>
          <p:cNvSpPr/>
          <p:nvPr/>
        </p:nvSpPr>
        <p:spPr>
          <a:xfrm>
            <a:off x="5205845" y="3269413"/>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Leadership</a:t>
            </a:r>
          </a:p>
        </p:txBody>
      </p:sp>
      <p:sp>
        <p:nvSpPr>
          <p:cNvPr id="26" name="Oval 25">
            <a:extLst>
              <a:ext uri="{FF2B5EF4-FFF2-40B4-BE49-F238E27FC236}">
                <a16:creationId xmlns:a16="http://schemas.microsoft.com/office/drawing/2014/main" id="{C029847E-DACC-C2DB-6988-1DB112D1A06B}"/>
              </a:ext>
            </a:extLst>
          </p:cNvPr>
          <p:cNvSpPr/>
          <p:nvPr/>
        </p:nvSpPr>
        <p:spPr>
          <a:xfrm>
            <a:off x="3693628" y="4119929"/>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SoTA Development </a:t>
            </a:r>
          </a:p>
        </p:txBody>
      </p:sp>
      <p:cxnSp>
        <p:nvCxnSpPr>
          <p:cNvPr id="28" name="Straight Connector 27">
            <a:extLst>
              <a:ext uri="{FF2B5EF4-FFF2-40B4-BE49-F238E27FC236}">
                <a16:creationId xmlns:a16="http://schemas.microsoft.com/office/drawing/2014/main" id="{22433E0C-3501-86EA-B25C-687CD7F147B5}"/>
              </a:ext>
            </a:extLst>
          </p:cNvPr>
          <p:cNvCxnSpPr>
            <a:cxnSpLocks/>
          </p:cNvCxnSpPr>
          <p:nvPr/>
        </p:nvCxnSpPr>
        <p:spPr>
          <a:xfrm>
            <a:off x="7195663" y="2940182"/>
            <a:ext cx="760724" cy="1149288"/>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FA66610C-FFDB-17BB-5E17-C2C6D79B9311}"/>
              </a:ext>
            </a:extLst>
          </p:cNvPr>
          <p:cNvSpPr/>
          <p:nvPr/>
        </p:nvSpPr>
        <p:spPr>
          <a:xfrm>
            <a:off x="2384911" y="3292460"/>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TeleCenter Network</a:t>
            </a:r>
          </a:p>
        </p:txBody>
      </p:sp>
      <p:sp>
        <p:nvSpPr>
          <p:cNvPr id="31" name="Oval 30">
            <a:extLst>
              <a:ext uri="{FF2B5EF4-FFF2-40B4-BE49-F238E27FC236}">
                <a16:creationId xmlns:a16="http://schemas.microsoft.com/office/drawing/2014/main" id="{B20B8FB7-8D6B-EF1E-4101-1C77817E5F0E}"/>
              </a:ext>
            </a:extLst>
          </p:cNvPr>
          <p:cNvSpPr/>
          <p:nvPr/>
        </p:nvSpPr>
        <p:spPr>
          <a:xfrm>
            <a:off x="5205845" y="3299992"/>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Leadership</a:t>
            </a:r>
          </a:p>
        </p:txBody>
      </p:sp>
      <p:sp>
        <p:nvSpPr>
          <p:cNvPr id="33" name="Oval 32">
            <a:extLst>
              <a:ext uri="{FF2B5EF4-FFF2-40B4-BE49-F238E27FC236}">
                <a16:creationId xmlns:a16="http://schemas.microsoft.com/office/drawing/2014/main" id="{A098A440-7A4D-878F-FC39-70959438939C}"/>
              </a:ext>
            </a:extLst>
          </p:cNvPr>
          <p:cNvSpPr/>
          <p:nvPr/>
        </p:nvSpPr>
        <p:spPr>
          <a:xfrm>
            <a:off x="3693628" y="4150508"/>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SoTA Development </a:t>
            </a:r>
          </a:p>
        </p:txBody>
      </p:sp>
      <p:sp>
        <p:nvSpPr>
          <p:cNvPr id="35" name="Oval 34">
            <a:extLst>
              <a:ext uri="{FF2B5EF4-FFF2-40B4-BE49-F238E27FC236}">
                <a16:creationId xmlns:a16="http://schemas.microsoft.com/office/drawing/2014/main" id="{9C8BD777-7C49-83D0-6503-C9F242C60450}"/>
              </a:ext>
            </a:extLst>
          </p:cNvPr>
          <p:cNvSpPr/>
          <p:nvPr/>
        </p:nvSpPr>
        <p:spPr>
          <a:xfrm>
            <a:off x="6779914" y="4058891"/>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Visioning</a:t>
            </a:r>
          </a:p>
        </p:txBody>
      </p:sp>
      <p:cxnSp>
        <p:nvCxnSpPr>
          <p:cNvPr id="37" name="Straight Connector 36">
            <a:extLst>
              <a:ext uri="{FF2B5EF4-FFF2-40B4-BE49-F238E27FC236}">
                <a16:creationId xmlns:a16="http://schemas.microsoft.com/office/drawing/2014/main" id="{C0A7A25B-07A4-65CF-474D-AD303024A07C}"/>
              </a:ext>
            </a:extLst>
          </p:cNvPr>
          <p:cNvCxnSpPr>
            <a:cxnSpLocks/>
          </p:cNvCxnSpPr>
          <p:nvPr/>
        </p:nvCxnSpPr>
        <p:spPr>
          <a:xfrm>
            <a:off x="7280633" y="2940182"/>
            <a:ext cx="760724" cy="1149288"/>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3A7F313A-A84E-6732-9272-30E64FA17FCF}"/>
              </a:ext>
            </a:extLst>
          </p:cNvPr>
          <p:cNvSpPr/>
          <p:nvPr/>
        </p:nvSpPr>
        <p:spPr>
          <a:xfrm>
            <a:off x="1173105" y="4584807"/>
            <a:ext cx="2346408" cy="733538"/>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Service Center Coordination</a:t>
            </a:r>
          </a:p>
        </p:txBody>
      </p:sp>
      <p:sp>
        <p:nvSpPr>
          <p:cNvPr id="39" name="Oval 38">
            <a:extLst>
              <a:ext uri="{FF2B5EF4-FFF2-40B4-BE49-F238E27FC236}">
                <a16:creationId xmlns:a16="http://schemas.microsoft.com/office/drawing/2014/main" id="{F233CBE8-060D-95C5-F9C9-BE90C9C9A21E}"/>
              </a:ext>
            </a:extLst>
          </p:cNvPr>
          <p:cNvSpPr/>
          <p:nvPr/>
        </p:nvSpPr>
        <p:spPr>
          <a:xfrm>
            <a:off x="2377839" y="3269412"/>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TeleCenter Network</a:t>
            </a:r>
          </a:p>
        </p:txBody>
      </p:sp>
      <p:sp>
        <p:nvSpPr>
          <p:cNvPr id="41" name="Oval 40">
            <a:extLst>
              <a:ext uri="{FF2B5EF4-FFF2-40B4-BE49-F238E27FC236}">
                <a16:creationId xmlns:a16="http://schemas.microsoft.com/office/drawing/2014/main" id="{8B3F185E-1DEF-3368-9A38-F5B553B0D570}"/>
              </a:ext>
            </a:extLst>
          </p:cNvPr>
          <p:cNvSpPr/>
          <p:nvPr/>
        </p:nvSpPr>
        <p:spPr>
          <a:xfrm>
            <a:off x="5197570" y="3284702"/>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Leadership</a:t>
            </a:r>
          </a:p>
        </p:txBody>
      </p:sp>
      <p:sp>
        <p:nvSpPr>
          <p:cNvPr id="42" name="Oval 41">
            <a:extLst>
              <a:ext uri="{FF2B5EF4-FFF2-40B4-BE49-F238E27FC236}">
                <a16:creationId xmlns:a16="http://schemas.microsoft.com/office/drawing/2014/main" id="{811F1D33-E6F3-EB2D-A0CF-CF3C88AE6B76}"/>
              </a:ext>
            </a:extLst>
          </p:cNvPr>
          <p:cNvSpPr/>
          <p:nvPr/>
        </p:nvSpPr>
        <p:spPr>
          <a:xfrm>
            <a:off x="3703905" y="4127461"/>
            <a:ext cx="2346408" cy="738663"/>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SoTA Development </a:t>
            </a:r>
          </a:p>
        </p:txBody>
      </p:sp>
      <p:cxnSp>
        <p:nvCxnSpPr>
          <p:cNvPr id="5" name="Straight Connector 4">
            <a:extLst>
              <a:ext uri="{FF2B5EF4-FFF2-40B4-BE49-F238E27FC236}">
                <a16:creationId xmlns:a16="http://schemas.microsoft.com/office/drawing/2014/main" id="{B174D095-FAC5-22A5-AB8B-04B3CA381120}"/>
              </a:ext>
            </a:extLst>
          </p:cNvPr>
          <p:cNvCxnSpPr>
            <a:cxnSpLocks/>
          </p:cNvCxnSpPr>
          <p:nvPr/>
        </p:nvCxnSpPr>
        <p:spPr>
          <a:xfrm>
            <a:off x="0" y="6038850"/>
            <a:ext cx="12192000"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96D7496-AD5D-A3FF-5340-7D2AD3CA83ED}"/>
              </a:ext>
            </a:extLst>
          </p:cNvPr>
          <p:cNvSpPr txBox="1"/>
          <p:nvPr/>
        </p:nvSpPr>
        <p:spPr>
          <a:xfrm>
            <a:off x="0" y="6115050"/>
            <a:ext cx="4867275" cy="584775"/>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Revitalizing Small Town America</a:t>
            </a:r>
          </a:p>
          <a:p>
            <a:r>
              <a:rPr lang="en-US" sz="1400" i="1" dirty="0">
                <a:solidFill>
                  <a:schemeClr val="bg1"/>
                </a:solidFill>
                <a:latin typeface="Times New Roman" panose="02020603050405020304" pitchFamily="18" charset="0"/>
                <a:cs typeface="Times New Roman" panose="02020603050405020304" pitchFamily="18" charset="0"/>
              </a:rPr>
              <a:t>© Tele-Commuter Resources, Inc  August, 2026</a:t>
            </a:r>
          </a:p>
        </p:txBody>
      </p:sp>
    </p:spTree>
    <p:extLst>
      <p:ext uri="{BB962C8B-B14F-4D97-AF65-F5344CB8AC3E}">
        <p14:creationId xmlns:p14="http://schemas.microsoft.com/office/powerpoint/2010/main" val="3544490357"/>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088F8C-7CE9-55F9-19EE-2C9A3AD1C239}"/>
              </a:ext>
            </a:extLst>
          </p:cNvPr>
          <p:cNvSpPr/>
          <p:nvPr/>
        </p:nvSpPr>
        <p:spPr>
          <a:xfrm>
            <a:off x="-79612" y="0"/>
            <a:ext cx="12351224"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0"/>
            <a:ext cx="12192000" cy="723331"/>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THE VIABILITY OF THE COMMUNITY SECTOR</a:t>
            </a:r>
          </a:p>
        </p:txBody>
      </p:sp>
      <p:sp>
        <p:nvSpPr>
          <p:cNvPr id="4" name="Subtitle 2">
            <a:extLst>
              <a:ext uri="{FF2B5EF4-FFF2-40B4-BE49-F238E27FC236}">
                <a16:creationId xmlns:a16="http://schemas.microsoft.com/office/drawing/2014/main" id="{15615D0E-6F01-16F0-E511-C12A8AE8B49A}"/>
              </a:ext>
            </a:extLst>
          </p:cNvPr>
          <p:cNvSpPr txBox="1">
            <a:spLocks/>
          </p:cNvSpPr>
          <p:nvPr/>
        </p:nvSpPr>
        <p:spPr>
          <a:xfrm>
            <a:off x="598120" y="1170844"/>
            <a:ext cx="11593880" cy="60422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solidFill>
                  <a:schemeClr val="bg1"/>
                </a:solidFill>
                <a:latin typeface="Times New Roman" panose="02020603050405020304" pitchFamily="18" charset="0"/>
                <a:cs typeface="Times New Roman" panose="02020603050405020304" pitchFamily="18" charset="0"/>
              </a:rPr>
              <a:t>      DIVISIVE FUNDING                         COMPARATIVE MANAGEMENT</a:t>
            </a:r>
          </a:p>
        </p:txBody>
      </p:sp>
      <p:pic>
        <p:nvPicPr>
          <p:cNvPr id="9" name="Picture 8">
            <a:extLst>
              <a:ext uri="{FF2B5EF4-FFF2-40B4-BE49-F238E27FC236}">
                <a16:creationId xmlns:a16="http://schemas.microsoft.com/office/drawing/2014/main" id="{61D5919A-6D1B-9236-D3C5-0C09150B3E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503" y="1775065"/>
            <a:ext cx="4512922" cy="3567176"/>
          </a:xfrm>
          <a:prstGeom prst="rect">
            <a:avLst/>
          </a:prstGeom>
        </p:spPr>
      </p:pic>
      <p:pic>
        <p:nvPicPr>
          <p:cNvPr id="11" name="Picture 10">
            <a:extLst>
              <a:ext uri="{FF2B5EF4-FFF2-40B4-BE49-F238E27FC236}">
                <a16:creationId xmlns:a16="http://schemas.microsoft.com/office/drawing/2014/main" id="{D6949839-5C5D-8FF7-C8B3-25A2432D9E69}"/>
              </a:ext>
            </a:extLst>
          </p:cNvPr>
          <p:cNvPicPr>
            <a:picLocks noChangeAspect="1"/>
          </p:cNvPicPr>
          <p:nvPr/>
        </p:nvPicPr>
        <p:blipFill>
          <a:blip r:embed="rId3">
            <a:extLst>
              <a:ext uri="{28A0092B-C50C-407E-A947-70E740481C1C}">
                <a14:useLocalDpi xmlns:a14="http://schemas.microsoft.com/office/drawing/2010/main" val="0"/>
              </a:ext>
            </a:extLst>
          </a:blip>
          <a:srcRect l="4814" t="7870" r="5693" b="25598"/>
          <a:stretch/>
        </p:blipFill>
        <p:spPr>
          <a:xfrm>
            <a:off x="4967565" y="1813104"/>
            <a:ext cx="6938682" cy="2063409"/>
          </a:xfrm>
          <a:prstGeom prst="rect">
            <a:avLst/>
          </a:prstGeom>
        </p:spPr>
      </p:pic>
      <p:pic>
        <p:nvPicPr>
          <p:cNvPr id="12" name="Picture 11">
            <a:extLst>
              <a:ext uri="{FF2B5EF4-FFF2-40B4-BE49-F238E27FC236}">
                <a16:creationId xmlns:a16="http://schemas.microsoft.com/office/drawing/2014/main" id="{99E4AB78-D257-1261-3BB2-44018AC38F11}"/>
              </a:ext>
            </a:extLst>
          </p:cNvPr>
          <p:cNvPicPr>
            <a:picLocks noChangeAspect="1"/>
          </p:cNvPicPr>
          <p:nvPr/>
        </p:nvPicPr>
        <p:blipFill>
          <a:blip r:embed="rId3">
            <a:extLst>
              <a:ext uri="{28A0092B-C50C-407E-A947-70E740481C1C}">
                <a14:useLocalDpi xmlns:a14="http://schemas.microsoft.com/office/drawing/2010/main" val="0"/>
              </a:ext>
            </a:extLst>
          </a:blip>
          <a:srcRect l="17315" t="74405" r="18815" b="-296"/>
          <a:stretch/>
        </p:blipFill>
        <p:spPr>
          <a:xfrm>
            <a:off x="5067517" y="4259059"/>
            <a:ext cx="6680728" cy="1083182"/>
          </a:xfrm>
          <a:prstGeom prst="rect">
            <a:avLst/>
          </a:prstGeom>
        </p:spPr>
      </p:pic>
    </p:spTree>
    <p:extLst>
      <p:ext uri="{BB962C8B-B14F-4D97-AF65-F5344CB8AC3E}">
        <p14:creationId xmlns:p14="http://schemas.microsoft.com/office/powerpoint/2010/main" val="1624424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088F8C-7CE9-55F9-19EE-2C9A3AD1C239}"/>
              </a:ext>
            </a:extLst>
          </p:cNvPr>
          <p:cNvSpPr/>
          <p:nvPr/>
        </p:nvSpPr>
        <p:spPr>
          <a:xfrm>
            <a:off x="-79612" y="0"/>
            <a:ext cx="12351224"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63058EFB-C7E1-B5A1-7072-CD7B9F74EC16}"/>
              </a:ext>
            </a:extLst>
          </p:cNvPr>
          <p:cNvSpPr>
            <a:spLocks noGrp="1"/>
          </p:cNvSpPr>
          <p:nvPr>
            <p:ph type="subTitle" idx="1"/>
          </p:nvPr>
        </p:nvSpPr>
        <p:spPr>
          <a:xfrm>
            <a:off x="0" y="0"/>
            <a:ext cx="12192000" cy="723331"/>
          </a:xfrm>
        </p:spPr>
        <p:txBody>
          <a:bodyPr>
            <a:normAutofit/>
          </a:bodyPr>
          <a:lstStyle/>
          <a:p>
            <a:r>
              <a:rPr lang="en-US" sz="4000" b="1" dirty="0">
                <a:solidFill>
                  <a:schemeClr val="bg1"/>
                </a:solidFill>
                <a:latin typeface="Times New Roman" panose="02020603050405020304" pitchFamily="18" charset="0"/>
                <a:cs typeface="Times New Roman" panose="02020603050405020304" pitchFamily="18" charset="0"/>
              </a:rPr>
              <a:t>THE INFORMATION AGE COMMUNITY</a:t>
            </a:r>
          </a:p>
        </p:txBody>
      </p:sp>
      <p:sp>
        <p:nvSpPr>
          <p:cNvPr id="4" name="Subtitle 2">
            <a:extLst>
              <a:ext uri="{FF2B5EF4-FFF2-40B4-BE49-F238E27FC236}">
                <a16:creationId xmlns:a16="http://schemas.microsoft.com/office/drawing/2014/main" id="{15615D0E-6F01-16F0-E511-C12A8AE8B49A}"/>
              </a:ext>
            </a:extLst>
          </p:cNvPr>
          <p:cNvSpPr txBox="1">
            <a:spLocks/>
          </p:cNvSpPr>
          <p:nvPr/>
        </p:nvSpPr>
        <p:spPr>
          <a:xfrm>
            <a:off x="6180559" y="1228725"/>
            <a:ext cx="6045061" cy="5200650"/>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solidFill>
                  <a:schemeClr val="bg1"/>
                </a:solidFill>
                <a:latin typeface="Times New Roman" panose="02020603050405020304" pitchFamily="18" charset="0"/>
                <a:cs typeface="Times New Roman" panose="02020603050405020304" pitchFamily="18" charset="0"/>
              </a:rPr>
              <a:t>The Minneapolis-St Paul IAC</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Redefines Minneapolis-St Paul “Community”-</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Restores Viability to six unique Living Environments</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Restructures Community Hierarchy</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Establishes 80 “Communities”</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Restores the Community Voice </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Empowers the Community Sector</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Market-based- not political jurisdictions</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National Prototype: 1 of 32 potential IACs</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Supports AI based decision-making</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Full, Rural-Urban, Economic Integration</a:t>
            </a:r>
          </a:p>
          <a:p>
            <a:pPr marL="342900" indent="-171450" algn="l">
              <a:spcBef>
                <a:spcPts val="600"/>
              </a:spcBef>
              <a:spcAft>
                <a:spcPts val="600"/>
              </a:spcAft>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Principles of Collaboration &amp; Critical Mass</a:t>
            </a:r>
          </a:p>
          <a:p>
            <a:pPr marL="342900" lvl="1" indent="-171450" algn="l">
              <a:buFont typeface="Arial" panose="020B0604020202020204" pitchFamily="34" charset="0"/>
              <a:buChar char="•"/>
            </a:pPr>
            <a:r>
              <a:rPr lang="en-US" sz="2200" dirty="0">
                <a:solidFill>
                  <a:schemeClr val="bg1"/>
                </a:solidFill>
                <a:latin typeface="Times New Roman" panose="02020603050405020304" pitchFamily="18" charset="0"/>
                <a:cs typeface="Times New Roman" panose="02020603050405020304" pitchFamily="18" charset="0"/>
              </a:rPr>
              <a:t>Assures Equal access to all services</a:t>
            </a:r>
          </a:p>
          <a:p>
            <a:pPr marL="342900" indent="-171450" algn="l">
              <a:buFont typeface="Arial" panose="020B0604020202020204" pitchFamily="34" charset="0"/>
              <a:buChar char="•"/>
            </a:pPr>
            <a:endParaRPr lang="en-US"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A84009D-CF37-31DD-BDF8-84766738E2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116" y="1228725"/>
            <a:ext cx="5501443" cy="3228975"/>
          </a:xfrm>
          <a:prstGeom prst="rect">
            <a:avLst/>
          </a:prstGeom>
        </p:spPr>
      </p:pic>
    </p:spTree>
    <p:extLst>
      <p:ext uri="{BB962C8B-B14F-4D97-AF65-F5344CB8AC3E}">
        <p14:creationId xmlns:p14="http://schemas.microsoft.com/office/powerpoint/2010/main" val="5550623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1FB026D-A7E1-2D3B-7888-5651D7DEDA5D}"/>
              </a:ext>
            </a:extLst>
          </p:cNvPr>
          <p:cNvSpPr/>
          <p:nvPr/>
        </p:nvSpPr>
        <p:spPr>
          <a:xfrm>
            <a:off x="0" y="0"/>
            <a:ext cx="12191998"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extBox 3">
            <a:extLst>
              <a:ext uri="{FF2B5EF4-FFF2-40B4-BE49-F238E27FC236}">
                <a16:creationId xmlns:a16="http://schemas.microsoft.com/office/drawing/2014/main" id="{B94CD582-7AEE-7604-5DF6-930C9CFAB49A}"/>
              </a:ext>
            </a:extLst>
          </p:cNvPr>
          <p:cNvSpPr txBox="1"/>
          <p:nvPr/>
        </p:nvSpPr>
        <p:spPr>
          <a:xfrm>
            <a:off x="67911" y="237435"/>
            <a:ext cx="12124090" cy="1138773"/>
          </a:xfrm>
          <a:prstGeom prst="rect">
            <a:avLst/>
          </a:prstGeom>
          <a:noFill/>
        </p:spPr>
        <p:txBody>
          <a:bodyPr wrap="square" rtlCol="0">
            <a:spAutoFit/>
          </a:bodyPr>
          <a:lstStyle/>
          <a:p>
            <a:pPr algn="ctr"/>
            <a:r>
              <a:rPr lang="en-US" sz="4400" b="1" dirty="0">
                <a:solidFill>
                  <a:schemeClr val="bg1"/>
                </a:solidFill>
                <a:latin typeface="Stencil" panose="040409050D0802020404" pitchFamily="82" charset="0"/>
              </a:rPr>
              <a:t>THE INFORMATION AGE COMMUNITY</a:t>
            </a:r>
          </a:p>
          <a:p>
            <a:pPr algn="ctr"/>
            <a:r>
              <a:rPr lang="en-US" sz="2400" b="1" i="1" dirty="0">
                <a:solidFill>
                  <a:schemeClr val="bg1"/>
                </a:solidFill>
                <a:latin typeface="Stencil" panose="040409050D0802020404" pitchFamily="82" charset="0"/>
              </a:rPr>
              <a:t>Defining the Minneapolis-St. Paul Information Age Community</a:t>
            </a:r>
          </a:p>
        </p:txBody>
      </p:sp>
      <p:pic>
        <p:nvPicPr>
          <p:cNvPr id="6" name="Picture 5" descr="A diagram of a map with arrows pointing to different areas&#10;&#10;AI-generated content may be incorrect.">
            <a:extLst>
              <a:ext uri="{FF2B5EF4-FFF2-40B4-BE49-F238E27FC236}">
                <a16:creationId xmlns:a16="http://schemas.microsoft.com/office/drawing/2014/main" id="{6E6B0C6D-AA0D-EC94-A6B4-1059775DAF98}"/>
              </a:ext>
            </a:extLst>
          </p:cNvPr>
          <p:cNvPicPr>
            <a:picLocks noChangeAspect="1"/>
          </p:cNvPicPr>
          <p:nvPr/>
        </p:nvPicPr>
        <p:blipFill>
          <a:blip r:embed="rId2">
            <a:extLst>
              <a:ext uri="{28A0092B-C50C-407E-A947-70E740481C1C}">
                <a14:useLocalDpi xmlns:a14="http://schemas.microsoft.com/office/drawing/2010/main" val="0"/>
              </a:ext>
            </a:extLst>
          </a:blip>
          <a:srcRect l="5749" t="4949" r="8041" b="4244"/>
          <a:stretch/>
        </p:blipFill>
        <p:spPr>
          <a:xfrm>
            <a:off x="3309442" y="1744075"/>
            <a:ext cx="2477724" cy="1711838"/>
          </a:xfrm>
          <a:prstGeom prst="rect">
            <a:avLst/>
          </a:prstGeom>
          <a:ln w="28575">
            <a:solidFill>
              <a:schemeClr val="tx1"/>
            </a:solidFill>
          </a:ln>
        </p:spPr>
      </p:pic>
      <p:pic>
        <p:nvPicPr>
          <p:cNvPr id="8" name="Picture 7" descr="A map of the united states of america&#10;&#10;AI-generated content may be incorrect.">
            <a:extLst>
              <a:ext uri="{FF2B5EF4-FFF2-40B4-BE49-F238E27FC236}">
                <a16:creationId xmlns:a16="http://schemas.microsoft.com/office/drawing/2014/main" id="{25519BE9-F829-7744-CFD6-024C9605FFB2}"/>
              </a:ext>
            </a:extLst>
          </p:cNvPr>
          <p:cNvPicPr>
            <a:picLocks noChangeAspect="1"/>
          </p:cNvPicPr>
          <p:nvPr/>
        </p:nvPicPr>
        <p:blipFill>
          <a:blip r:embed="rId3">
            <a:extLst>
              <a:ext uri="{28A0092B-C50C-407E-A947-70E740481C1C}">
                <a14:useLocalDpi xmlns:a14="http://schemas.microsoft.com/office/drawing/2010/main" val="0"/>
              </a:ext>
            </a:extLst>
          </a:blip>
          <a:srcRect l="8699" t="5183" r="4687" b="1799"/>
          <a:stretch/>
        </p:blipFill>
        <p:spPr>
          <a:xfrm>
            <a:off x="9325259" y="1631594"/>
            <a:ext cx="1917512" cy="1312728"/>
          </a:xfrm>
          <a:prstGeom prst="rect">
            <a:avLst/>
          </a:prstGeom>
        </p:spPr>
      </p:pic>
      <p:pic>
        <p:nvPicPr>
          <p:cNvPr id="10" name="Picture 9" descr="A map of different colored ovals&#10;&#10;AI-generated content may be incorrect.">
            <a:extLst>
              <a:ext uri="{FF2B5EF4-FFF2-40B4-BE49-F238E27FC236}">
                <a16:creationId xmlns:a16="http://schemas.microsoft.com/office/drawing/2014/main" id="{782EC6A0-DEF2-4112-428F-16EEF393CD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6441" y="2354286"/>
            <a:ext cx="1523545" cy="1076729"/>
          </a:xfrm>
          <a:prstGeom prst="rect">
            <a:avLst/>
          </a:prstGeom>
        </p:spPr>
      </p:pic>
      <p:pic>
        <p:nvPicPr>
          <p:cNvPr id="12" name="Picture 11" descr="A diagram of a typology&#10;&#10;AI-generated content may be incorrect.">
            <a:extLst>
              <a:ext uri="{FF2B5EF4-FFF2-40B4-BE49-F238E27FC236}">
                <a16:creationId xmlns:a16="http://schemas.microsoft.com/office/drawing/2014/main" id="{0C1B94EB-6F4A-2163-1274-AB708C516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26774" y="3643783"/>
            <a:ext cx="2117360" cy="1718755"/>
          </a:xfrm>
          <a:prstGeom prst="rect">
            <a:avLst/>
          </a:prstGeom>
        </p:spPr>
      </p:pic>
      <p:pic>
        <p:nvPicPr>
          <p:cNvPr id="14" name="Picture 13" descr="A screenshot of a game&#10;&#10;AI-generated content may be incorrect.">
            <a:extLst>
              <a:ext uri="{FF2B5EF4-FFF2-40B4-BE49-F238E27FC236}">
                <a16:creationId xmlns:a16="http://schemas.microsoft.com/office/drawing/2014/main" id="{E602D983-0DE5-6F41-7D8F-BA096C3D24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92133" y="4492809"/>
            <a:ext cx="1439824" cy="1718756"/>
          </a:xfrm>
          <a:prstGeom prst="rect">
            <a:avLst/>
          </a:prstGeom>
        </p:spPr>
      </p:pic>
      <p:pic>
        <p:nvPicPr>
          <p:cNvPr id="16" name="Picture 15" descr="A diagram of a network&#10;&#10;AI-generated content may be incorrect.">
            <a:extLst>
              <a:ext uri="{FF2B5EF4-FFF2-40B4-BE49-F238E27FC236}">
                <a16:creationId xmlns:a16="http://schemas.microsoft.com/office/drawing/2014/main" id="{DC353E51-DFC9-783E-93CE-F6F76B57F93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48948" y="4513429"/>
            <a:ext cx="2121018" cy="1718756"/>
          </a:xfrm>
          <a:prstGeom prst="rect">
            <a:avLst/>
          </a:prstGeom>
        </p:spPr>
      </p:pic>
      <p:pic>
        <p:nvPicPr>
          <p:cNvPr id="18" name="Picture 17" descr="A diagram of a neighborhood&#10;&#10;AI-generated content may be incorrect.">
            <a:extLst>
              <a:ext uri="{FF2B5EF4-FFF2-40B4-BE49-F238E27FC236}">
                <a16:creationId xmlns:a16="http://schemas.microsoft.com/office/drawing/2014/main" id="{BEED2CEF-84A4-57EF-F19D-AC037F6C6A8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191999" y="-849663"/>
            <a:ext cx="1811450" cy="1823527"/>
          </a:xfrm>
          <a:prstGeom prst="rect">
            <a:avLst/>
          </a:prstGeom>
        </p:spPr>
      </p:pic>
      <p:pic>
        <p:nvPicPr>
          <p:cNvPr id="20" name="Picture 19" descr="A diagram of a diagram of a community&#10;&#10;AI-generated content may be incorrect.">
            <a:extLst>
              <a:ext uri="{FF2B5EF4-FFF2-40B4-BE49-F238E27FC236}">
                <a16:creationId xmlns:a16="http://schemas.microsoft.com/office/drawing/2014/main" id="{DBACFF5E-83C6-502C-DBA5-9CC3E4E36C5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04205" y="-813184"/>
            <a:ext cx="1378880" cy="1075908"/>
          </a:xfrm>
          <a:prstGeom prst="rect">
            <a:avLst/>
          </a:prstGeom>
        </p:spPr>
      </p:pic>
      <p:pic>
        <p:nvPicPr>
          <p:cNvPr id="24" name="Picture 23" descr="A map of the state of minnesota&#10;&#10;AI-generated content may be incorrect.">
            <a:extLst>
              <a:ext uri="{FF2B5EF4-FFF2-40B4-BE49-F238E27FC236}">
                <a16:creationId xmlns:a16="http://schemas.microsoft.com/office/drawing/2014/main" id="{6926CB49-3B2A-9843-6BC6-ABE27ECEDD5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9534" y="1447561"/>
            <a:ext cx="2452127" cy="2223384"/>
          </a:xfrm>
          <a:prstGeom prst="rect">
            <a:avLst/>
          </a:prstGeom>
        </p:spPr>
      </p:pic>
      <p:pic>
        <p:nvPicPr>
          <p:cNvPr id="26" name="Picture 25" descr="A map with red circles and black arrows&#10;&#10;AI-generated content may be incorrect.">
            <a:extLst>
              <a:ext uri="{FF2B5EF4-FFF2-40B4-BE49-F238E27FC236}">
                <a16:creationId xmlns:a16="http://schemas.microsoft.com/office/drawing/2014/main" id="{25304C9B-FFD0-6FBD-1CCF-DBA5F0FFC71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031957" y="4417906"/>
            <a:ext cx="982112" cy="1003840"/>
          </a:xfrm>
          <a:prstGeom prst="rect">
            <a:avLst/>
          </a:prstGeom>
        </p:spPr>
      </p:pic>
      <p:sp>
        <p:nvSpPr>
          <p:cNvPr id="27" name="TextBox 26">
            <a:extLst>
              <a:ext uri="{FF2B5EF4-FFF2-40B4-BE49-F238E27FC236}">
                <a16:creationId xmlns:a16="http://schemas.microsoft.com/office/drawing/2014/main" id="{A64AACB9-A439-E3EF-2E68-2FA39A12B04A}"/>
              </a:ext>
            </a:extLst>
          </p:cNvPr>
          <p:cNvSpPr txBox="1"/>
          <p:nvPr/>
        </p:nvSpPr>
        <p:spPr>
          <a:xfrm>
            <a:off x="987607" y="6260641"/>
            <a:ext cx="2632842"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1. Community Alliance</a:t>
            </a:r>
          </a:p>
        </p:txBody>
      </p:sp>
      <p:sp>
        <p:nvSpPr>
          <p:cNvPr id="28" name="TextBox 27">
            <a:extLst>
              <a:ext uri="{FF2B5EF4-FFF2-40B4-BE49-F238E27FC236}">
                <a16:creationId xmlns:a16="http://schemas.microsoft.com/office/drawing/2014/main" id="{4C2A0E41-A646-C18D-8CAF-1B0E6F19266D}"/>
              </a:ext>
            </a:extLst>
          </p:cNvPr>
          <p:cNvSpPr txBox="1"/>
          <p:nvPr/>
        </p:nvSpPr>
        <p:spPr>
          <a:xfrm>
            <a:off x="8289445" y="6297257"/>
            <a:ext cx="3131648"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3. Regional Transit Network</a:t>
            </a:r>
          </a:p>
        </p:txBody>
      </p:sp>
      <p:sp>
        <p:nvSpPr>
          <p:cNvPr id="29" name="TextBox 28">
            <a:extLst>
              <a:ext uri="{FF2B5EF4-FFF2-40B4-BE49-F238E27FC236}">
                <a16:creationId xmlns:a16="http://schemas.microsoft.com/office/drawing/2014/main" id="{35BFF4C5-4DEB-39C5-6A74-D0DA59CCDED6}"/>
              </a:ext>
            </a:extLst>
          </p:cNvPr>
          <p:cNvSpPr txBox="1"/>
          <p:nvPr/>
        </p:nvSpPr>
        <p:spPr>
          <a:xfrm>
            <a:off x="4374426" y="6310377"/>
            <a:ext cx="4448686"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2. Community TeleCenter Network</a:t>
            </a:r>
          </a:p>
        </p:txBody>
      </p:sp>
      <p:sp>
        <p:nvSpPr>
          <p:cNvPr id="30" name="TextBox 29">
            <a:extLst>
              <a:ext uri="{FF2B5EF4-FFF2-40B4-BE49-F238E27FC236}">
                <a16:creationId xmlns:a16="http://schemas.microsoft.com/office/drawing/2014/main" id="{AD719353-DC87-CEDD-A21C-7229B440ADC9}"/>
              </a:ext>
            </a:extLst>
          </p:cNvPr>
          <p:cNvSpPr txBox="1"/>
          <p:nvPr/>
        </p:nvSpPr>
        <p:spPr>
          <a:xfrm>
            <a:off x="818090" y="3650358"/>
            <a:ext cx="2117360" cy="523220"/>
          </a:xfrm>
          <a:prstGeom prst="rect">
            <a:avLst/>
          </a:prstGeom>
          <a:noFill/>
        </p:spPr>
        <p:txBody>
          <a:bodyPr wrap="square" rtlCol="0">
            <a:spAutoFit/>
          </a:bodyPr>
          <a:lstStyle/>
          <a:p>
            <a:pPr algn="ctr"/>
            <a:r>
              <a:rPr lang="en-US" sz="1400" b="1" dirty="0">
                <a:solidFill>
                  <a:schemeClr val="bg1"/>
                </a:solidFill>
                <a:latin typeface="Times New Roman" panose="02020603050405020304" pitchFamily="18" charset="0"/>
                <a:cs typeface="Times New Roman" panose="02020603050405020304" pitchFamily="18" charset="0"/>
              </a:rPr>
              <a:t>It is a Basic Demographic Problem</a:t>
            </a:r>
          </a:p>
        </p:txBody>
      </p:sp>
      <p:sp>
        <p:nvSpPr>
          <p:cNvPr id="31" name="TextBox 30">
            <a:extLst>
              <a:ext uri="{FF2B5EF4-FFF2-40B4-BE49-F238E27FC236}">
                <a16:creationId xmlns:a16="http://schemas.microsoft.com/office/drawing/2014/main" id="{9788B14A-B8B4-DAB4-F003-A2FAEE13CA42}"/>
              </a:ext>
            </a:extLst>
          </p:cNvPr>
          <p:cNvSpPr txBox="1"/>
          <p:nvPr/>
        </p:nvSpPr>
        <p:spPr>
          <a:xfrm>
            <a:off x="3293793" y="3680198"/>
            <a:ext cx="2594812" cy="523220"/>
          </a:xfrm>
          <a:prstGeom prst="rect">
            <a:avLst/>
          </a:prstGeom>
          <a:noFill/>
        </p:spPr>
        <p:txBody>
          <a:bodyPr wrap="square" rtlCol="0">
            <a:spAutoFit/>
          </a:bodyPr>
          <a:lstStyle/>
          <a:p>
            <a:pPr algn="ctr"/>
            <a:r>
              <a:rPr lang="en-US" sz="1400" b="1" dirty="0">
                <a:solidFill>
                  <a:schemeClr val="bg1"/>
                </a:solidFill>
                <a:latin typeface="Times New Roman" panose="02020603050405020304" pitchFamily="18" charset="0"/>
                <a:cs typeface="Times New Roman" panose="02020603050405020304" pitchFamily="18" charset="0"/>
              </a:rPr>
              <a:t>Socio-economic data defines a large community!</a:t>
            </a:r>
          </a:p>
        </p:txBody>
      </p:sp>
      <p:pic>
        <p:nvPicPr>
          <p:cNvPr id="33" name="Picture 32" descr="A cartoon of a train&#10;&#10;AI-generated content may be incorrect.">
            <a:extLst>
              <a:ext uri="{FF2B5EF4-FFF2-40B4-BE49-F238E27FC236}">
                <a16:creationId xmlns:a16="http://schemas.microsoft.com/office/drawing/2014/main" id="{09FFF401-3880-F5C4-ED62-4396E3060D7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818673" y="1569493"/>
            <a:ext cx="2485714" cy="2714286"/>
          </a:xfrm>
          <a:prstGeom prst="rect">
            <a:avLst/>
          </a:prstGeom>
        </p:spPr>
      </p:pic>
      <p:pic>
        <p:nvPicPr>
          <p:cNvPr id="35" name="Picture 34" descr="A cartoon of a red and pink vehicle&#10;&#10;AI-generated content may be incorrect.">
            <a:extLst>
              <a:ext uri="{FF2B5EF4-FFF2-40B4-BE49-F238E27FC236}">
                <a16:creationId xmlns:a16="http://schemas.microsoft.com/office/drawing/2014/main" id="{EABC2E11-0D9D-BDC4-7EF2-4935E26A7F6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84092" y="5421746"/>
            <a:ext cx="736749" cy="784798"/>
          </a:xfrm>
          <a:prstGeom prst="rect">
            <a:avLst/>
          </a:prstGeom>
        </p:spPr>
      </p:pic>
      <p:sp>
        <p:nvSpPr>
          <p:cNvPr id="40" name="TextBox 39">
            <a:extLst>
              <a:ext uri="{FF2B5EF4-FFF2-40B4-BE49-F238E27FC236}">
                <a16:creationId xmlns:a16="http://schemas.microsoft.com/office/drawing/2014/main" id="{5F8DB4CA-C9CB-1C2B-B6D5-82B65315FD7F}"/>
              </a:ext>
            </a:extLst>
          </p:cNvPr>
          <p:cNvSpPr txBox="1"/>
          <p:nvPr/>
        </p:nvSpPr>
        <p:spPr>
          <a:xfrm>
            <a:off x="6109457" y="3723061"/>
            <a:ext cx="2729090" cy="523220"/>
          </a:xfrm>
          <a:prstGeom prst="rect">
            <a:avLst/>
          </a:prstGeom>
          <a:noFill/>
        </p:spPr>
        <p:txBody>
          <a:bodyPr wrap="square" rtlCol="0">
            <a:spAutoFit/>
          </a:bodyPr>
          <a:lstStyle/>
          <a:p>
            <a:pPr algn="ctr"/>
            <a:r>
              <a:rPr lang="en-US" sz="1400" b="1" dirty="0">
                <a:solidFill>
                  <a:schemeClr val="bg1"/>
                </a:solidFill>
                <a:latin typeface="Times New Roman" panose="02020603050405020304" pitchFamily="18" charset="0"/>
                <a:cs typeface="Times New Roman" panose="02020603050405020304" pitchFamily="18" charset="0"/>
              </a:rPr>
              <a:t>Thousands of Jurisdictions or a Community Focused Structure?</a:t>
            </a:r>
          </a:p>
        </p:txBody>
      </p:sp>
      <p:sp>
        <p:nvSpPr>
          <p:cNvPr id="41" name="TextBox 40">
            <a:extLst>
              <a:ext uri="{FF2B5EF4-FFF2-40B4-BE49-F238E27FC236}">
                <a16:creationId xmlns:a16="http://schemas.microsoft.com/office/drawing/2014/main" id="{CC2EA2DE-FD95-D298-EB97-585154799CA2}"/>
              </a:ext>
            </a:extLst>
          </p:cNvPr>
          <p:cNvSpPr txBox="1"/>
          <p:nvPr/>
        </p:nvSpPr>
        <p:spPr>
          <a:xfrm>
            <a:off x="8924396" y="3737052"/>
            <a:ext cx="2729090" cy="523220"/>
          </a:xfrm>
          <a:prstGeom prst="rect">
            <a:avLst/>
          </a:prstGeom>
          <a:noFill/>
        </p:spPr>
        <p:txBody>
          <a:bodyPr wrap="square" rtlCol="0">
            <a:spAutoFit/>
          </a:bodyPr>
          <a:lstStyle/>
          <a:p>
            <a:pPr algn="ctr"/>
            <a:r>
              <a:rPr lang="en-US" sz="1400" b="1" dirty="0">
                <a:solidFill>
                  <a:schemeClr val="bg1"/>
                </a:solidFill>
                <a:latin typeface="Times New Roman" panose="02020603050405020304" pitchFamily="18" charset="0"/>
                <a:cs typeface="Times New Roman" panose="02020603050405020304" pitchFamily="18" charset="0"/>
              </a:rPr>
              <a:t>And it can be Replicated Nationally</a:t>
            </a:r>
          </a:p>
        </p:txBody>
      </p:sp>
      <p:pic>
        <p:nvPicPr>
          <p:cNvPr id="43" name="Picture 42" descr="A map of the state of minnesota&#10;&#10;AI-generated content may be incorrect.">
            <a:extLst>
              <a:ext uri="{FF2B5EF4-FFF2-40B4-BE49-F238E27FC236}">
                <a16:creationId xmlns:a16="http://schemas.microsoft.com/office/drawing/2014/main" id="{42DFDF46-7557-18E6-9774-B29DFA9568A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225702" y="1613643"/>
            <a:ext cx="2526542" cy="1842270"/>
          </a:xfrm>
          <a:prstGeom prst="rect">
            <a:avLst/>
          </a:prstGeom>
        </p:spPr>
      </p:pic>
      <p:grpSp>
        <p:nvGrpSpPr>
          <p:cNvPr id="45" name="Group 44">
            <a:extLst>
              <a:ext uri="{FF2B5EF4-FFF2-40B4-BE49-F238E27FC236}">
                <a16:creationId xmlns:a16="http://schemas.microsoft.com/office/drawing/2014/main" id="{EF3BCEA7-6DE9-10A3-AC01-6A3E69F0387B}"/>
              </a:ext>
            </a:extLst>
          </p:cNvPr>
          <p:cNvGrpSpPr/>
          <p:nvPr/>
        </p:nvGrpSpPr>
        <p:grpSpPr>
          <a:xfrm>
            <a:off x="7492397" y="2185774"/>
            <a:ext cx="2117360" cy="1520110"/>
            <a:chOff x="7646693" y="2028623"/>
            <a:chExt cx="2578417" cy="1824673"/>
          </a:xfrm>
        </p:grpSpPr>
        <p:grpSp>
          <p:nvGrpSpPr>
            <p:cNvPr id="36" name="Group 35">
              <a:extLst>
                <a:ext uri="{FF2B5EF4-FFF2-40B4-BE49-F238E27FC236}">
                  <a16:creationId xmlns:a16="http://schemas.microsoft.com/office/drawing/2014/main" id="{99837155-3387-291A-8371-B7F76F9991BA}"/>
                </a:ext>
              </a:extLst>
            </p:cNvPr>
            <p:cNvGrpSpPr/>
            <p:nvPr/>
          </p:nvGrpSpPr>
          <p:grpSpPr>
            <a:xfrm>
              <a:off x="7646693" y="2028623"/>
              <a:ext cx="2400763" cy="1824673"/>
              <a:chOff x="6211105" y="1508104"/>
              <a:chExt cx="3516574" cy="2180759"/>
            </a:xfrm>
          </p:grpSpPr>
          <p:pic>
            <p:nvPicPr>
              <p:cNvPr id="37" name="Picture 36" descr="Several types of houses&#10;&#10;AI-generated content may be incorrect.">
                <a:extLst>
                  <a:ext uri="{FF2B5EF4-FFF2-40B4-BE49-F238E27FC236}">
                    <a16:creationId xmlns:a16="http://schemas.microsoft.com/office/drawing/2014/main" id="{258455FD-FC03-8083-7DFD-FC3679B07BB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297213" y="2203102"/>
                <a:ext cx="2017043" cy="1485761"/>
              </a:xfrm>
              <a:prstGeom prst="rect">
                <a:avLst/>
              </a:prstGeom>
            </p:spPr>
          </p:pic>
          <p:pic>
            <p:nvPicPr>
              <p:cNvPr id="38" name="Picture 37" descr="A close-up of several buildings&#10;&#10;AI-generated content may be incorrect.">
                <a:extLst>
                  <a:ext uri="{FF2B5EF4-FFF2-40B4-BE49-F238E27FC236}">
                    <a16:creationId xmlns:a16="http://schemas.microsoft.com/office/drawing/2014/main" id="{A303B6BD-B332-69CE-54A4-F34020F5ED73}"/>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314256" y="2185465"/>
                <a:ext cx="1413423" cy="1331879"/>
              </a:xfrm>
              <a:prstGeom prst="rect">
                <a:avLst/>
              </a:prstGeom>
            </p:spPr>
          </p:pic>
          <p:sp>
            <p:nvSpPr>
              <p:cNvPr id="39" name="TextBox 38">
                <a:extLst>
                  <a:ext uri="{FF2B5EF4-FFF2-40B4-BE49-F238E27FC236}">
                    <a16:creationId xmlns:a16="http://schemas.microsoft.com/office/drawing/2014/main" id="{EBEC61E1-4F4E-6907-B73F-EACAD1D1EC2B}"/>
                  </a:ext>
                </a:extLst>
              </p:cNvPr>
              <p:cNvSpPr txBox="1"/>
              <p:nvPr/>
            </p:nvSpPr>
            <p:spPr>
              <a:xfrm>
                <a:off x="6211105" y="1508104"/>
                <a:ext cx="3200401" cy="529846"/>
              </a:xfrm>
              <a:prstGeom prst="rect">
                <a:avLst/>
              </a:prstGeom>
              <a:noFill/>
            </p:spPr>
            <p:txBody>
              <a:bodyPr wrap="square" rtlCol="0">
                <a:spAutoFit/>
              </a:bodyPr>
              <a:lstStyle/>
              <a:p>
                <a:pPr algn="ctr"/>
                <a:endParaRPr lang="en-US" b="1" dirty="0">
                  <a:solidFill>
                    <a:schemeClr val="bg1"/>
                  </a:solidFill>
                  <a:latin typeface="Times New Roman" panose="02020603050405020304" pitchFamily="18" charset="0"/>
                  <a:cs typeface="Times New Roman" panose="02020603050405020304" pitchFamily="18" charset="0"/>
                </a:endParaRPr>
              </a:p>
            </p:txBody>
          </p:sp>
        </p:grpSp>
        <p:sp>
          <p:nvSpPr>
            <p:cNvPr id="44" name="Rectangle 43">
              <a:extLst>
                <a:ext uri="{FF2B5EF4-FFF2-40B4-BE49-F238E27FC236}">
                  <a16:creationId xmlns:a16="http://schemas.microsoft.com/office/drawing/2014/main" id="{8CB67651-F39B-30DC-D319-AA4DC8BF8AA9}"/>
                </a:ext>
              </a:extLst>
            </p:cNvPr>
            <p:cNvSpPr/>
            <p:nvPr/>
          </p:nvSpPr>
          <p:spPr>
            <a:xfrm>
              <a:off x="7746685" y="2588727"/>
              <a:ext cx="2478425" cy="120267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sp>
        <p:nvSpPr>
          <p:cNvPr id="2" name="TextBox 1">
            <a:extLst>
              <a:ext uri="{FF2B5EF4-FFF2-40B4-BE49-F238E27FC236}">
                <a16:creationId xmlns:a16="http://schemas.microsoft.com/office/drawing/2014/main" id="{1E9ACF9E-EC4A-3716-F622-CC53A9DEE548}"/>
              </a:ext>
            </a:extLst>
          </p:cNvPr>
          <p:cNvSpPr txBox="1"/>
          <p:nvPr/>
        </p:nvSpPr>
        <p:spPr>
          <a:xfrm rot="16200000">
            <a:off x="-4106957" y="2984194"/>
            <a:ext cx="6858002" cy="769441"/>
          </a:xfrm>
          <a:prstGeom prst="rect">
            <a:avLst/>
          </a:prstGeom>
          <a:solidFill>
            <a:schemeClr val="tx1"/>
          </a:solidFill>
        </p:spPr>
        <p:txBody>
          <a:bodyPr wrap="square" rtlCol="0">
            <a:spAutoFit/>
          </a:bodyPr>
          <a:lstStyle/>
          <a:p>
            <a:pPr algn="ctr"/>
            <a:r>
              <a:rPr lang="en-US" sz="4400" b="1" dirty="0" err="1">
                <a:solidFill>
                  <a:schemeClr val="bg1"/>
                </a:solidFill>
                <a:latin typeface="Stencil" panose="040409050D0802020404" pitchFamily="82" charset="0"/>
              </a:rPr>
              <a:t>ThE</a:t>
            </a:r>
            <a:r>
              <a:rPr lang="en-US" sz="4400" b="1" dirty="0">
                <a:solidFill>
                  <a:schemeClr val="bg1"/>
                </a:solidFill>
                <a:latin typeface="Stencil" panose="040409050D0802020404" pitchFamily="82" charset="0"/>
              </a:rPr>
              <a:t> PLAN</a:t>
            </a:r>
          </a:p>
        </p:txBody>
      </p:sp>
      <p:pic>
        <p:nvPicPr>
          <p:cNvPr id="7" name="Picture 6">
            <a:extLst>
              <a:ext uri="{FF2B5EF4-FFF2-40B4-BE49-F238E27FC236}">
                <a16:creationId xmlns:a16="http://schemas.microsoft.com/office/drawing/2014/main" id="{5A028A5F-35DC-D8DD-0553-5006EAE4CEB7}"/>
              </a:ext>
            </a:extLst>
          </p:cNvPr>
          <p:cNvPicPr>
            <a:picLocks noChangeAspect="1"/>
          </p:cNvPicPr>
          <p:nvPr/>
        </p:nvPicPr>
        <p:blipFill>
          <a:blip r:embed="rId17">
            <a:extLst>
              <a:ext uri="{28A0092B-C50C-407E-A947-70E740481C1C}">
                <a14:useLocalDpi xmlns:a14="http://schemas.microsoft.com/office/drawing/2010/main" val="0"/>
              </a:ext>
            </a:extLst>
          </a:blip>
          <a:srcRect l="36121" t="20327" r="20467" b="6061"/>
          <a:stretch/>
        </p:blipFill>
        <p:spPr>
          <a:xfrm>
            <a:off x="1009156" y="4572321"/>
            <a:ext cx="2475005" cy="1723705"/>
          </a:xfrm>
          <a:prstGeom prst="rect">
            <a:avLst/>
          </a:prstGeom>
        </p:spPr>
      </p:pic>
    </p:spTree>
    <p:extLst>
      <p:ext uri="{BB962C8B-B14F-4D97-AF65-F5344CB8AC3E}">
        <p14:creationId xmlns:p14="http://schemas.microsoft.com/office/powerpoint/2010/main" val="1498521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5454</TotalTime>
  <Words>2067</Words>
  <Application>Microsoft Office PowerPoint</Application>
  <PresentationFormat>Widescreen</PresentationFormat>
  <Paragraphs>471</Paragraphs>
  <Slides>34</Slides>
  <Notes>0</Notes>
  <HiddenSlides>8</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Stencil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Sanger</dc:creator>
  <cp:lastModifiedBy>John Sanger</cp:lastModifiedBy>
  <cp:revision>24</cp:revision>
  <dcterms:created xsi:type="dcterms:W3CDTF">2026-07-31T16:59:53Z</dcterms:created>
  <dcterms:modified xsi:type="dcterms:W3CDTF">2026-08-15T01:21:01Z</dcterms:modified>
</cp:coreProperties>
</file>