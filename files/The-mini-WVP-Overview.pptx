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8" r:id="rId2"/>
    <p:sldId id="263" r:id="rId3"/>
    <p:sldId id="260" r:id="rId4"/>
    <p:sldId id="262" r:id="rId5"/>
    <p:sldId id="270" r:id="rId6"/>
    <p:sldId id="265" r:id="rId7"/>
    <p:sldId id="269" r:id="rId8"/>
    <p:sldId id="258" r:id="rId9"/>
    <p:sldId id="256" r:id="rId10"/>
    <p:sldId id="257" r:id="rId11"/>
    <p:sldId id="261" r:id="rId12"/>
    <p:sldId id="264" r:id="rId13"/>
    <p:sldId id="259"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8" autoAdjust="0"/>
    <p:restoredTop sz="94660"/>
  </p:normalViewPr>
  <p:slideViewPr>
    <p:cSldViewPr snapToGrid="0">
      <p:cViewPr>
        <p:scale>
          <a:sx n="98" d="100"/>
          <a:sy n="98" d="100"/>
        </p:scale>
        <p:origin x="978" y="144"/>
      </p:cViewPr>
      <p:guideLst/>
    </p:cSldViewPr>
  </p:slideViewPr>
  <p:notesTextViewPr>
    <p:cViewPr>
      <p:scale>
        <a:sx n="1" d="1"/>
        <a:sy n="1" d="1"/>
      </p:scale>
      <p:origin x="0" y="0"/>
    </p:cViewPr>
  </p:notesTextViewPr>
  <p:sorterViewPr>
    <p:cViewPr>
      <p:scale>
        <a:sx n="100" d="100"/>
        <a:sy n="100" d="100"/>
      </p:scale>
      <p:origin x="0" y="-117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1A933C-DF1D-4B9D-8ACC-E327146C9CB5}" type="datetimeFigureOut">
              <a:rPr lang="en-US" smtClean="0"/>
              <a:t>7/18/2026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F0D43-818C-41F6-861C-053B3DEB7AC4}" type="slidenum">
              <a:rPr lang="en-US" smtClean="0"/>
              <a:t>‹#›</a:t>
            </a:fld>
            <a:endParaRPr lang="en-US" dirty="0"/>
          </a:p>
        </p:txBody>
      </p:sp>
    </p:spTree>
    <p:extLst>
      <p:ext uri="{BB962C8B-B14F-4D97-AF65-F5344CB8AC3E}">
        <p14:creationId xmlns:p14="http://schemas.microsoft.com/office/powerpoint/2010/main" val="3046992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F0D43-818C-41F6-861C-053B3DEB7AC4}" type="slidenum">
              <a:rPr lang="en-US" smtClean="0"/>
              <a:t>5</a:t>
            </a:fld>
            <a:endParaRPr lang="en-US" dirty="0"/>
          </a:p>
        </p:txBody>
      </p:sp>
    </p:spTree>
    <p:extLst>
      <p:ext uri="{BB962C8B-B14F-4D97-AF65-F5344CB8AC3E}">
        <p14:creationId xmlns:p14="http://schemas.microsoft.com/office/powerpoint/2010/main" val="2046618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F0D43-818C-41F6-861C-053B3DEB7AC4}" type="slidenum">
              <a:rPr lang="en-US" smtClean="0"/>
              <a:t>7</a:t>
            </a:fld>
            <a:endParaRPr lang="en-US" dirty="0"/>
          </a:p>
        </p:txBody>
      </p:sp>
    </p:spTree>
    <p:extLst>
      <p:ext uri="{BB962C8B-B14F-4D97-AF65-F5344CB8AC3E}">
        <p14:creationId xmlns:p14="http://schemas.microsoft.com/office/powerpoint/2010/main" val="3287381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3B219-24CD-4660-4550-2C8D8EA725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5BD163-47D4-B708-6AD2-0357A2F8F8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505C33-0BCE-3F60-A71D-518C80C2F2B3}"/>
              </a:ext>
            </a:extLst>
          </p:cNvPr>
          <p:cNvSpPr>
            <a:spLocks noGrp="1"/>
          </p:cNvSpPr>
          <p:nvPr>
            <p:ph type="dt" sz="half" idx="10"/>
          </p:nvPr>
        </p:nvSpPr>
        <p:spPr/>
        <p:txBody>
          <a:bodyPr/>
          <a:lstStyle/>
          <a:p>
            <a:fld id="{FEC8D64D-1D67-4463-AB18-A674BEEBBE8C}" type="datetimeFigureOut">
              <a:rPr lang="en-US" smtClean="0"/>
              <a:t>7/18/2026</a:t>
            </a:fld>
            <a:endParaRPr lang="en-US" dirty="0"/>
          </a:p>
        </p:txBody>
      </p:sp>
      <p:sp>
        <p:nvSpPr>
          <p:cNvPr id="5" name="Footer Placeholder 4">
            <a:extLst>
              <a:ext uri="{FF2B5EF4-FFF2-40B4-BE49-F238E27FC236}">
                <a16:creationId xmlns:a16="http://schemas.microsoft.com/office/drawing/2014/main" id="{CC632999-4D69-1BD1-BCAF-DEA7D523F5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5F1147-76EE-217D-D55E-FBE80E07A2C1}"/>
              </a:ext>
            </a:extLst>
          </p:cNvPr>
          <p:cNvSpPr>
            <a:spLocks noGrp="1"/>
          </p:cNvSpPr>
          <p:nvPr>
            <p:ph type="sldNum" sz="quarter" idx="12"/>
          </p:nvPr>
        </p:nvSpPr>
        <p:spPr/>
        <p:txBody>
          <a:bodyPr/>
          <a:lstStyle/>
          <a:p>
            <a:fld id="{B6944BF9-02EB-4B05-97F9-202D855C3461}" type="slidenum">
              <a:rPr lang="en-US" smtClean="0"/>
              <a:t>‹#›</a:t>
            </a:fld>
            <a:endParaRPr lang="en-US" dirty="0"/>
          </a:p>
        </p:txBody>
      </p:sp>
    </p:spTree>
    <p:extLst>
      <p:ext uri="{BB962C8B-B14F-4D97-AF65-F5344CB8AC3E}">
        <p14:creationId xmlns:p14="http://schemas.microsoft.com/office/powerpoint/2010/main" val="2317281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F62A3-71F4-21B9-29AB-15A48D7A93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158670-FC8E-EF2A-4D1B-B79DAD3D14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24BE5C-6A01-19E8-AA83-585082BDC43D}"/>
              </a:ext>
            </a:extLst>
          </p:cNvPr>
          <p:cNvSpPr>
            <a:spLocks noGrp="1"/>
          </p:cNvSpPr>
          <p:nvPr>
            <p:ph type="dt" sz="half" idx="10"/>
          </p:nvPr>
        </p:nvSpPr>
        <p:spPr/>
        <p:txBody>
          <a:bodyPr/>
          <a:lstStyle/>
          <a:p>
            <a:fld id="{FEC8D64D-1D67-4463-AB18-A674BEEBBE8C}" type="datetimeFigureOut">
              <a:rPr lang="en-US" smtClean="0"/>
              <a:t>7/18/2026</a:t>
            </a:fld>
            <a:endParaRPr lang="en-US" dirty="0"/>
          </a:p>
        </p:txBody>
      </p:sp>
      <p:sp>
        <p:nvSpPr>
          <p:cNvPr id="5" name="Footer Placeholder 4">
            <a:extLst>
              <a:ext uri="{FF2B5EF4-FFF2-40B4-BE49-F238E27FC236}">
                <a16:creationId xmlns:a16="http://schemas.microsoft.com/office/drawing/2014/main" id="{E52204BF-E75E-AC87-BD46-839E12BAEFE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C7AE40-90B8-94D9-81C2-075D8BB2AFDA}"/>
              </a:ext>
            </a:extLst>
          </p:cNvPr>
          <p:cNvSpPr>
            <a:spLocks noGrp="1"/>
          </p:cNvSpPr>
          <p:nvPr>
            <p:ph type="sldNum" sz="quarter" idx="12"/>
          </p:nvPr>
        </p:nvSpPr>
        <p:spPr/>
        <p:txBody>
          <a:bodyPr/>
          <a:lstStyle/>
          <a:p>
            <a:fld id="{B6944BF9-02EB-4B05-97F9-202D855C3461}" type="slidenum">
              <a:rPr lang="en-US" smtClean="0"/>
              <a:t>‹#›</a:t>
            </a:fld>
            <a:endParaRPr lang="en-US" dirty="0"/>
          </a:p>
        </p:txBody>
      </p:sp>
    </p:spTree>
    <p:extLst>
      <p:ext uri="{BB962C8B-B14F-4D97-AF65-F5344CB8AC3E}">
        <p14:creationId xmlns:p14="http://schemas.microsoft.com/office/powerpoint/2010/main" val="3585707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8EB24-8B8D-D3D3-8E3C-6A3D3E9CFD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E344AC-E95E-7E98-F099-A6CC0286EC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8106E4-94FD-6C88-600F-0316C2238D2D}"/>
              </a:ext>
            </a:extLst>
          </p:cNvPr>
          <p:cNvSpPr>
            <a:spLocks noGrp="1"/>
          </p:cNvSpPr>
          <p:nvPr>
            <p:ph type="dt" sz="half" idx="10"/>
          </p:nvPr>
        </p:nvSpPr>
        <p:spPr/>
        <p:txBody>
          <a:bodyPr/>
          <a:lstStyle/>
          <a:p>
            <a:fld id="{FEC8D64D-1D67-4463-AB18-A674BEEBBE8C}" type="datetimeFigureOut">
              <a:rPr lang="en-US" smtClean="0"/>
              <a:t>7/18/2026</a:t>
            </a:fld>
            <a:endParaRPr lang="en-US" dirty="0"/>
          </a:p>
        </p:txBody>
      </p:sp>
      <p:sp>
        <p:nvSpPr>
          <p:cNvPr id="5" name="Footer Placeholder 4">
            <a:extLst>
              <a:ext uri="{FF2B5EF4-FFF2-40B4-BE49-F238E27FC236}">
                <a16:creationId xmlns:a16="http://schemas.microsoft.com/office/drawing/2014/main" id="{F914850D-D77C-3CDD-D2F1-CE7352C2E1B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7475828-3F17-23B3-92FA-7C9CEB741D69}"/>
              </a:ext>
            </a:extLst>
          </p:cNvPr>
          <p:cNvSpPr>
            <a:spLocks noGrp="1"/>
          </p:cNvSpPr>
          <p:nvPr>
            <p:ph type="sldNum" sz="quarter" idx="12"/>
          </p:nvPr>
        </p:nvSpPr>
        <p:spPr/>
        <p:txBody>
          <a:bodyPr/>
          <a:lstStyle/>
          <a:p>
            <a:fld id="{B6944BF9-02EB-4B05-97F9-202D855C3461}" type="slidenum">
              <a:rPr lang="en-US" smtClean="0"/>
              <a:t>‹#›</a:t>
            </a:fld>
            <a:endParaRPr lang="en-US" dirty="0"/>
          </a:p>
        </p:txBody>
      </p:sp>
    </p:spTree>
    <p:extLst>
      <p:ext uri="{BB962C8B-B14F-4D97-AF65-F5344CB8AC3E}">
        <p14:creationId xmlns:p14="http://schemas.microsoft.com/office/powerpoint/2010/main" val="2990950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AD7BF-1717-208F-D2D0-036BAE3A4E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9A5038-ED84-AB40-BC15-8FB39216D9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097F57-37FD-2F40-487B-411AA2D5DC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59EEB8-8BCC-167D-F05B-64B9658CD1F2}"/>
              </a:ext>
            </a:extLst>
          </p:cNvPr>
          <p:cNvSpPr>
            <a:spLocks noGrp="1"/>
          </p:cNvSpPr>
          <p:nvPr>
            <p:ph type="dt" sz="half" idx="10"/>
          </p:nvPr>
        </p:nvSpPr>
        <p:spPr/>
        <p:txBody>
          <a:bodyPr/>
          <a:lstStyle/>
          <a:p>
            <a:fld id="{FEC8D64D-1D67-4463-AB18-A674BEEBBE8C}" type="datetimeFigureOut">
              <a:rPr lang="en-US" smtClean="0"/>
              <a:t>7/18/2026</a:t>
            </a:fld>
            <a:endParaRPr lang="en-US" dirty="0"/>
          </a:p>
        </p:txBody>
      </p:sp>
      <p:sp>
        <p:nvSpPr>
          <p:cNvPr id="6" name="Footer Placeholder 5">
            <a:extLst>
              <a:ext uri="{FF2B5EF4-FFF2-40B4-BE49-F238E27FC236}">
                <a16:creationId xmlns:a16="http://schemas.microsoft.com/office/drawing/2014/main" id="{ECDCBB55-1FA5-F392-42E8-D5F860C77E6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95F8BA0-FDEA-340C-F514-D6B2393EF769}"/>
              </a:ext>
            </a:extLst>
          </p:cNvPr>
          <p:cNvSpPr>
            <a:spLocks noGrp="1"/>
          </p:cNvSpPr>
          <p:nvPr>
            <p:ph type="sldNum" sz="quarter" idx="12"/>
          </p:nvPr>
        </p:nvSpPr>
        <p:spPr/>
        <p:txBody>
          <a:bodyPr/>
          <a:lstStyle/>
          <a:p>
            <a:fld id="{B6944BF9-02EB-4B05-97F9-202D855C3461}" type="slidenum">
              <a:rPr lang="en-US" smtClean="0"/>
              <a:t>‹#›</a:t>
            </a:fld>
            <a:endParaRPr lang="en-US" dirty="0"/>
          </a:p>
        </p:txBody>
      </p:sp>
    </p:spTree>
    <p:extLst>
      <p:ext uri="{BB962C8B-B14F-4D97-AF65-F5344CB8AC3E}">
        <p14:creationId xmlns:p14="http://schemas.microsoft.com/office/powerpoint/2010/main" val="2594428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AD10-D6DE-8E57-C300-B49BAF96D4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184637-540F-B3EF-E2B1-87D4D86943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991304-6CE2-C34A-6B09-02C44F71E9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EC1319-261B-3E38-7111-3563B4AE63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73837E-1880-39A8-5C61-8FE2585805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0934CD-DF65-C5B9-C0C9-3480EAB31C53}"/>
              </a:ext>
            </a:extLst>
          </p:cNvPr>
          <p:cNvSpPr>
            <a:spLocks noGrp="1"/>
          </p:cNvSpPr>
          <p:nvPr>
            <p:ph type="dt" sz="half" idx="10"/>
          </p:nvPr>
        </p:nvSpPr>
        <p:spPr/>
        <p:txBody>
          <a:bodyPr/>
          <a:lstStyle/>
          <a:p>
            <a:fld id="{FEC8D64D-1D67-4463-AB18-A674BEEBBE8C}" type="datetimeFigureOut">
              <a:rPr lang="en-US" smtClean="0"/>
              <a:t>7/18/2026</a:t>
            </a:fld>
            <a:endParaRPr lang="en-US" dirty="0"/>
          </a:p>
        </p:txBody>
      </p:sp>
      <p:sp>
        <p:nvSpPr>
          <p:cNvPr id="8" name="Footer Placeholder 7">
            <a:extLst>
              <a:ext uri="{FF2B5EF4-FFF2-40B4-BE49-F238E27FC236}">
                <a16:creationId xmlns:a16="http://schemas.microsoft.com/office/drawing/2014/main" id="{00A22313-3D13-57FE-62EA-7DD21E61CE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3FDD167-C419-5BE1-F5E6-D30532F96593}"/>
              </a:ext>
            </a:extLst>
          </p:cNvPr>
          <p:cNvSpPr>
            <a:spLocks noGrp="1"/>
          </p:cNvSpPr>
          <p:nvPr>
            <p:ph type="sldNum" sz="quarter" idx="12"/>
          </p:nvPr>
        </p:nvSpPr>
        <p:spPr/>
        <p:txBody>
          <a:bodyPr/>
          <a:lstStyle/>
          <a:p>
            <a:fld id="{B6944BF9-02EB-4B05-97F9-202D855C3461}" type="slidenum">
              <a:rPr lang="en-US" smtClean="0"/>
              <a:t>‹#›</a:t>
            </a:fld>
            <a:endParaRPr lang="en-US" dirty="0"/>
          </a:p>
        </p:txBody>
      </p:sp>
    </p:spTree>
    <p:extLst>
      <p:ext uri="{BB962C8B-B14F-4D97-AF65-F5344CB8AC3E}">
        <p14:creationId xmlns:p14="http://schemas.microsoft.com/office/powerpoint/2010/main" val="1113059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55003-BC55-554F-7187-034431E2E0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19A35E-3BD3-713E-D272-04F08B281347}"/>
              </a:ext>
            </a:extLst>
          </p:cNvPr>
          <p:cNvSpPr>
            <a:spLocks noGrp="1"/>
          </p:cNvSpPr>
          <p:nvPr>
            <p:ph type="dt" sz="half" idx="10"/>
          </p:nvPr>
        </p:nvSpPr>
        <p:spPr/>
        <p:txBody>
          <a:bodyPr/>
          <a:lstStyle/>
          <a:p>
            <a:fld id="{FEC8D64D-1D67-4463-AB18-A674BEEBBE8C}" type="datetimeFigureOut">
              <a:rPr lang="en-US" smtClean="0"/>
              <a:t>7/18/2026</a:t>
            </a:fld>
            <a:endParaRPr lang="en-US" dirty="0"/>
          </a:p>
        </p:txBody>
      </p:sp>
      <p:sp>
        <p:nvSpPr>
          <p:cNvPr id="4" name="Footer Placeholder 3">
            <a:extLst>
              <a:ext uri="{FF2B5EF4-FFF2-40B4-BE49-F238E27FC236}">
                <a16:creationId xmlns:a16="http://schemas.microsoft.com/office/drawing/2014/main" id="{C523AB9D-FB77-7DEC-76D3-87F392D6A1E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CC841E5-23E8-A064-CFA8-0D774D1A070D}"/>
              </a:ext>
            </a:extLst>
          </p:cNvPr>
          <p:cNvSpPr>
            <a:spLocks noGrp="1"/>
          </p:cNvSpPr>
          <p:nvPr>
            <p:ph type="sldNum" sz="quarter" idx="12"/>
          </p:nvPr>
        </p:nvSpPr>
        <p:spPr/>
        <p:txBody>
          <a:bodyPr/>
          <a:lstStyle/>
          <a:p>
            <a:fld id="{B6944BF9-02EB-4B05-97F9-202D855C3461}" type="slidenum">
              <a:rPr lang="en-US" smtClean="0"/>
              <a:t>‹#›</a:t>
            </a:fld>
            <a:endParaRPr lang="en-US" dirty="0"/>
          </a:p>
        </p:txBody>
      </p:sp>
    </p:spTree>
    <p:extLst>
      <p:ext uri="{BB962C8B-B14F-4D97-AF65-F5344CB8AC3E}">
        <p14:creationId xmlns:p14="http://schemas.microsoft.com/office/powerpoint/2010/main" val="2453220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98582A-5BDF-0306-9C1A-2115AF1542B2}"/>
              </a:ext>
            </a:extLst>
          </p:cNvPr>
          <p:cNvSpPr>
            <a:spLocks noGrp="1"/>
          </p:cNvSpPr>
          <p:nvPr>
            <p:ph type="dt" sz="half" idx="10"/>
          </p:nvPr>
        </p:nvSpPr>
        <p:spPr/>
        <p:txBody>
          <a:bodyPr/>
          <a:lstStyle/>
          <a:p>
            <a:fld id="{FEC8D64D-1D67-4463-AB18-A674BEEBBE8C}" type="datetimeFigureOut">
              <a:rPr lang="en-US" smtClean="0"/>
              <a:t>7/18/2026</a:t>
            </a:fld>
            <a:endParaRPr lang="en-US" dirty="0"/>
          </a:p>
        </p:txBody>
      </p:sp>
      <p:sp>
        <p:nvSpPr>
          <p:cNvPr id="3" name="Footer Placeholder 2">
            <a:extLst>
              <a:ext uri="{FF2B5EF4-FFF2-40B4-BE49-F238E27FC236}">
                <a16:creationId xmlns:a16="http://schemas.microsoft.com/office/drawing/2014/main" id="{16E8DE04-C8CC-BF8B-6CE3-6F812342F01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03494E4-CCE5-0CA1-C6F0-C3AAA12D0759}"/>
              </a:ext>
            </a:extLst>
          </p:cNvPr>
          <p:cNvSpPr>
            <a:spLocks noGrp="1"/>
          </p:cNvSpPr>
          <p:nvPr>
            <p:ph type="sldNum" sz="quarter" idx="12"/>
          </p:nvPr>
        </p:nvSpPr>
        <p:spPr/>
        <p:txBody>
          <a:bodyPr/>
          <a:lstStyle/>
          <a:p>
            <a:fld id="{B6944BF9-02EB-4B05-97F9-202D855C3461}" type="slidenum">
              <a:rPr lang="en-US" smtClean="0"/>
              <a:t>‹#›</a:t>
            </a:fld>
            <a:endParaRPr lang="en-US" dirty="0"/>
          </a:p>
        </p:txBody>
      </p:sp>
    </p:spTree>
    <p:extLst>
      <p:ext uri="{BB962C8B-B14F-4D97-AF65-F5344CB8AC3E}">
        <p14:creationId xmlns:p14="http://schemas.microsoft.com/office/powerpoint/2010/main" val="1195792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594CE-B96E-CF59-C134-65BFAD2EC8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4F9834-24EA-42BB-C7E9-7178A9853A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FCD44E-EE2E-E46A-A0C5-BD4BD0474D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7354C0-8A27-20BD-D158-1B926BED362A}"/>
              </a:ext>
            </a:extLst>
          </p:cNvPr>
          <p:cNvSpPr>
            <a:spLocks noGrp="1"/>
          </p:cNvSpPr>
          <p:nvPr>
            <p:ph type="dt" sz="half" idx="10"/>
          </p:nvPr>
        </p:nvSpPr>
        <p:spPr/>
        <p:txBody>
          <a:bodyPr/>
          <a:lstStyle/>
          <a:p>
            <a:fld id="{FEC8D64D-1D67-4463-AB18-A674BEEBBE8C}" type="datetimeFigureOut">
              <a:rPr lang="en-US" smtClean="0"/>
              <a:t>7/18/2026</a:t>
            </a:fld>
            <a:endParaRPr lang="en-US" dirty="0"/>
          </a:p>
        </p:txBody>
      </p:sp>
      <p:sp>
        <p:nvSpPr>
          <p:cNvPr id="6" name="Footer Placeholder 5">
            <a:extLst>
              <a:ext uri="{FF2B5EF4-FFF2-40B4-BE49-F238E27FC236}">
                <a16:creationId xmlns:a16="http://schemas.microsoft.com/office/drawing/2014/main" id="{4E125423-C886-CD51-B899-E53F6C8880F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83762B6-A748-9A47-EB9E-C72C9066A48F}"/>
              </a:ext>
            </a:extLst>
          </p:cNvPr>
          <p:cNvSpPr>
            <a:spLocks noGrp="1"/>
          </p:cNvSpPr>
          <p:nvPr>
            <p:ph type="sldNum" sz="quarter" idx="12"/>
          </p:nvPr>
        </p:nvSpPr>
        <p:spPr/>
        <p:txBody>
          <a:bodyPr/>
          <a:lstStyle/>
          <a:p>
            <a:fld id="{B6944BF9-02EB-4B05-97F9-202D855C3461}" type="slidenum">
              <a:rPr lang="en-US" smtClean="0"/>
              <a:t>‹#›</a:t>
            </a:fld>
            <a:endParaRPr lang="en-US" dirty="0"/>
          </a:p>
        </p:txBody>
      </p:sp>
    </p:spTree>
    <p:extLst>
      <p:ext uri="{BB962C8B-B14F-4D97-AF65-F5344CB8AC3E}">
        <p14:creationId xmlns:p14="http://schemas.microsoft.com/office/powerpoint/2010/main" val="1065164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EBF76-B5D1-1736-32D4-2C1E828BFE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93D42A-810B-0A99-76A7-055E06445D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B4F541B-317E-790D-81A4-92970985F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046158-5E97-A585-60EA-17C5057E810E}"/>
              </a:ext>
            </a:extLst>
          </p:cNvPr>
          <p:cNvSpPr>
            <a:spLocks noGrp="1"/>
          </p:cNvSpPr>
          <p:nvPr>
            <p:ph type="dt" sz="half" idx="10"/>
          </p:nvPr>
        </p:nvSpPr>
        <p:spPr/>
        <p:txBody>
          <a:bodyPr/>
          <a:lstStyle/>
          <a:p>
            <a:fld id="{FEC8D64D-1D67-4463-AB18-A674BEEBBE8C}" type="datetimeFigureOut">
              <a:rPr lang="en-US" smtClean="0"/>
              <a:t>7/18/2026</a:t>
            </a:fld>
            <a:endParaRPr lang="en-US" dirty="0"/>
          </a:p>
        </p:txBody>
      </p:sp>
      <p:sp>
        <p:nvSpPr>
          <p:cNvPr id="6" name="Footer Placeholder 5">
            <a:extLst>
              <a:ext uri="{FF2B5EF4-FFF2-40B4-BE49-F238E27FC236}">
                <a16:creationId xmlns:a16="http://schemas.microsoft.com/office/drawing/2014/main" id="{C5BE2C51-3AAA-0F24-569F-DC1C9B46912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373FC55-8241-EB01-74E3-52BA5EB9CE3C}"/>
              </a:ext>
            </a:extLst>
          </p:cNvPr>
          <p:cNvSpPr>
            <a:spLocks noGrp="1"/>
          </p:cNvSpPr>
          <p:nvPr>
            <p:ph type="sldNum" sz="quarter" idx="12"/>
          </p:nvPr>
        </p:nvSpPr>
        <p:spPr/>
        <p:txBody>
          <a:bodyPr/>
          <a:lstStyle/>
          <a:p>
            <a:fld id="{B6944BF9-02EB-4B05-97F9-202D855C3461}" type="slidenum">
              <a:rPr lang="en-US" smtClean="0"/>
              <a:t>‹#›</a:t>
            </a:fld>
            <a:endParaRPr lang="en-US" dirty="0"/>
          </a:p>
        </p:txBody>
      </p:sp>
    </p:spTree>
    <p:extLst>
      <p:ext uri="{BB962C8B-B14F-4D97-AF65-F5344CB8AC3E}">
        <p14:creationId xmlns:p14="http://schemas.microsoft.com/office/powerpoint/2010/main" val="919840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7CE9C-5A76-8B6C-4BBA-E69E6C27DD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4552F7-90B5-4CCB-8536-C6F8275014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080DC7-6095-EA1D-0E1E-98D4D319CFDD}"/>
              </a:ext>
            </a:extLst>
          </p:cNvPr>
          <p:cNvSpPr>
            <a:spLocks noGrp="1"/>
          </p:cNvSpPr>
          <p:nvPr>
            <p:ph type="dt" sz="half" idx="10"/>
          </p:nvPr>
        </p:nvSpPr>
        <p:spPr/>
        <p:txBody>
          <a:bodyPr/>
          <a:lstStyle/>
          <a:p>
            <a:fld id="{FEC8D64D-1D67-4463-AB18-A674BEEBBE8C}" type="datetimeFigureOut">
              <a:rPr lang="en-US" smtClean="0"/>
              <a:t>7/18/2026</a:t>
            </a:fld>
            <a:endParaRPr lang="en-US" dirty="0"/>
          </a:p>
        </p:txBody>
      </p:sp>
      <p:sp>
        <p:nvSpPr>
          <p:cNvPr id="5" name="Footer Placeholder 4">
            <a:extLst>
              <a:ext uri="{FF2B5EF4-FFF2-40B4-BE49-F238E27FC236}">
                <a16:creationId xmlns:a16="http://schemas.microsoft.com/office/drawing/2014/main" id="{79FB81F5-779A-1FF7-AD21-57BD4B94DC2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25F752-5AAE-3571-C1AF-308AC7589D4F}"/>
              </a:ext>
            </a:extLst>
          </p:cNvPr>
          <p:cNvSpPr>
            <a:spLocks noGrp="1"/>
          </p:cNvSpPr>
          <p:nvPr>
            <p:ph type="sldNum" sz="quarter" idx="12"/>
          </p:nvPr>
        </p:nvSpPr>
        <p:spPr/>
        <p:txBody>
          <a:bodyPr/>
          <a:lstStyle/>
          <a:p>
            <a:fld id="{B6944BF9-02EB-4B05-97F9-202D855C3461}" type="slidenum">
              <a:rPr lang="en-US" smtClean="0"/>
              <a:t>‹#›</a:t>
            </a:fld>
            <a:endParaRPr lang="en-US" dirty="0"/>
          </a:p>
        </p:txBody>
      </p:sp>
    </p:spTree>
    <p:extLst>
      <p:ext uri="{BB962C8B-B14F-4D97-AF65-F5344CB8AC3E}">
        <p14:creationId xmlns:p14="http://schemas.microsoft.com/office/powerpoint/2010/main" val="2240585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6D6CCB-FDF8-7365-BCF1-BB9DE1E96C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F854EF-22C8-831A-3A04-ED00348C44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C8BEDA-004B-0289-E51F-4D4FFCA1BF63}"/>
              </a:ext>
            </a:extLst>
          </p:cNvPr>
          <p:cNvSpPr>
            <a:spLocks noGrp="1"/>
          </p:cNvSpPr>
          <p:nvPr>
            <p:ph type="dt" sz="half" idx="10"/>
          </p:nvPr>
        </p:nvSpPr>
        <p:spPr/>
        <p:txBody>
          <a:bodyPr/>
          <a:lstStyle/>
          <a:p>
            <a:fld id="{FEC8D64D-1D67-4463-AB18-A674BEEBBE8C}" type="datetimeFigureOut">
              <a:rPr lang="en-US" smtClean="0"/>
              <a:t>7/18/2026</a:t>
            </a:fld>
            <a:endParaRPr lang="en-US" dirty="0"/>
          </a:p>
        </p:txBody>
      </p:sp>
      <p:sp>
        <p:nvSpPr>
          <p:cNvPr id="5" name="Footer Placeholder 4">
            <a:extLst>
              <a:ext uri="{FF2B5EF4-FFF2-40B4-BE49-F238E27FC236}">
                <a16:creationId xmlns:a16="http://schemas.microsoft.com/office/drawing/2014/main" id="{C97E50D4-2F8B-A1A1-B6C5-70709A26458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82D4D8E-AF7E-BA79-C750-68EC684C5CBD}"/>
              </a:ext>
            </a:extLst>
          </p:cNvPr>
          <p:cNvSpPr>
            <a:spLocks noGrp="1"/>
          </p:cNvSpPr>
          <p:nvPr>
            <p:ph type="sldNum" sz="quarter" idx="12"/>
          </p:nvPr>
        </p:nvSpPr>
        <p:spPr/>
        <p:txBody>
          <a:bodyPr/>
          <a:lstStyle/>
          <a:p>
            <a:fld id="{B6944BF9-02EB-4B05-97F9-202D855C3461}" type="slidenum">
              <a:rPr lang="en-US" smtClean="0"/>
              <a:t>‹#›</a:t>
            </a:fld>
            <a:endParaRPr lang="en-US" dirty="0"/>
          </a:p>
        </p:txBody>
      </p:sp>
    </p:spTree>
    <p:extLst>
      <p:ext uri="{BB962C8B-B14F-4D97-AF65-F5344CB8AC3E}">
        <p14:creationId xmlns:p14="http://schemas.microsoft.com/office/powerpoint/2010/main" val="1214610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916C6C-6B33-F528-70D0-69A4E07746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660B5C-293D-4B6E-CAAF-0AC0ED3D13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9DDD7F-69C0-B826-8816-52BA2A20F1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C8D64D-1D67-4463-AB18-A674BEEBBE8C}" type="datetimeFigureOut">
              <a:rPr lang="en-US" smtClean="0"/>
              <a:t>7/18/2026</a:t>
            </a:fld>
            <a:endParaRPr lang="en-US" dirty="0"/>
          </a:p>
        </p:txBody>
      </p:sp>
      <p:sp>
        <p:nvSpPr>
          <p:cNvPr id="5" name="Footer Placeholder 4">
            <a:extLst>
              <a:ext uri="{FF2B5EF4-FFF2-40B4-BE49-F238E27FC236}">
                <a16:creationId xmlns:a16="http://schemas.microsoft.com/office/drawing/2014/main" id="{05274257-D1C4-7D41-8055-E104BFA648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72F6197C-0395-5A21-A9E5-D350E67A93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944BF9-02EB-4B05-97F9-202D855C3461}" type="slidenum">
              <a:rPr lang="en-US" smtClean="0"/>
              <a:t>‹#›</a:t>
            </a:fld>
            <a:endParaRPr lang="en-US" dirty="0"/>
          </a:p>
        </p:txBody>
      </p:sp>
    </p:spTree>
    <p:extLst>
      <p:ext uri="{BB962C8B-B14F-4D97-AF65-F5344CB8AC3E}">
        <p14:creationId xmlns:p14="http://schemas.microsoft.com/office/powerpoint/2010/main" val="3000126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1411F58-C5B9-FBE2-FD47-F8C0F478F7F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080" t="1122" r="2239" b="3520"/>
          <a:stretch/>
        </p:blipFill>
        <p:spPr>
          <a:xfrm>
            <a:off x="4120753" y="981075"/>
            <a:ext cx="7167563" cy="5419725"/>
          </a:xfrm>
          <a:ln>
            <a:solidFill>
              <a:schemeClr val="tx1"/>
            </a:solidFill>
          </a:ln>
        </p:spPr>
      </p:pic>
      <p:sp>
        <p:nvSpPr>
          <p:cNvPr id="6" name="Rectangle: Rounded Corners 5">
            <a:extLst>
              <a:ext uri="{FF2B5EF4-FFF2-40B4-BE49-F238E27FC236}">
                <a16:creationId xmlns:a16="http://schemas.microsoft.com/office/drawing/2014/main" id="{77126801-53D6-C07A-9E23-7B693617322A}"/>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ction Button: Go to End 6">
            <a:hlinkClick r:id="" action="ppaction://hlinkshowjump?jump=nextslide" highlightClick="1"/>
            <a:extLst>
              <a:ext uri="{FF2B5EF4-FFF2-40B4-BE49-F238E27FC236}">
                <a16:creationId xmlns:a16="http://schemas.microsoft.com/office/drawing/2014/main" id="{03D7565B-206E-9FB7-B8E6-433328CFA2AA}"/>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9E21E230-5F8C-B7E3-7A0F-C0839E02FCB0}"/>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BEGIN WITH A CONCEPT</a:t>
            </a:r>
          </a:p>
        </p:txBody>
      </p:sp>
      <p:cxnSp>
        <p:nvCxnSpPr>
          <p:cNvPr id="10" name="Straight Connector 9">
            <a:extLst>
              <a:ext uri="{FF2B5EF4-FFF2-40B4-BE49-F238E27FC236}">
                <a16:creationId xmlns:a16="http://schemas.microsoft.com/office/drawing/2014/main" id="{CF6D245D-0A94-44F9-2796-E28D086B08CF}"/>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C3ED1BE-055D-C396-CFA6-E531A798E75E}"/>
              </a:ext>
            </a:extLst>
          </p:cNvPr>
          <p:cNvSpPr txBox="1"/>
          <p:nvPr/>
        </p:nvSpPr>
        <p:spPr>
          <a:xfrm>
            <a:off x="647701" y="1485900"/>
            <a:ext cx="2695574" cy="2246769"/>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As part of Tele-Commuter Resources’ Information Age Community project , the WVP  supports the Community, the Public and  the Private Sector.</a:t>
            </a:r>
          </a:p>
        </p:txBody>
      </p:sp>
    </p:spTree>
    <p:extLst>
      <p:ext uri="{BB962C8B-B14F-4D97-AF65-F5344CB8AC3E}">
        <p14:creationId xmlns:p14="http://schemas.microsoft.com/office/powerpoint/2010/main" val="1041794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38AA7B2-8855-7CC7-ED98-DDCDE0C561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43331" y="554093"/>
            <a:ext cx="7772432" cy="5330031"/>
          </a:xfrm>
          <a:prstGeom prst="rect">
            <a:avLst/>
          </a:prstGeom>
        </p:spPr>
      </p:pic>
      <p:sp>
        <p:nvSpPr>
          <p:cNvPr id="5" name="Rectangle: Rounded Corners 4">
            <a:extLst>
              <a:ext uri="{FF2B5EF4-FFF2-40B4-BE49-F238E27FC236}">
                <a16:creationId xmlns:a16="http://schemas.microsoft.com/office/drawing/2014/main" id="{9E5763B1-957D-94B2-2AD7-B93834D85E58}"/>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ction Button: Go to End 5">
            <a:hlinkClick r:id="" action="ppaction://hlinkshowjump?jump=nextslide" highlightClick="1"/>
            <a:extLst>
              <a:ext uri="{FF2B5EF4-FFF2-40B4-BE49-F238E27FC236}">
                <a16:creationId xmlns:a16="http://schemas.microsoft.com/office/drawing/2014/main" id="{EDB2670B-20F7-03FE-E264-5F3EA0E68D58}"/>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64676787-F62C-7BC1-69AC-D220D0C1E9D2}"/>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AN INTEGRATED AND HOLISTIC APPROACH</a:t>
            </a:r>
          </a:p>
        </p:txBody>
      </p:sp>
      <p:cxnSp>
        <p:nvCxnSpPr>
          <p:cNvPr id="8" name="Straight Connector 7">
            <a:extLst>
              <a:ext uri="{FF2B5EF4-FFF2-40B4-BE49-F238E27FC236}">
                <a16:creationId xmlns:a16="http://schemas.microsoft.com/office/drawing/2014/main" id="{708810DC-5036-C445-A0A2-B50A5DB98EC2}"/>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90B7E1D-8435-2646-B338-9D4A16BFB2A2}"/>
              </a:ext>
            </a:extLst>
          </p:cNvPr>
          <p:cNvSpPr txBox="1"/>
          <p:nvPr/>
        </p:nvSpPr>
        <p:spPr>
          <a:xfrm>
            <a:off x="561975" y="1485900"/>
            <a:ext cx="2781300" cy="3477875"/>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All Sectors rely on silos, but TCR believes they are inefficient, ineffective and counterproductive.  Accordingly, the WVP integrates ALL organizational stakeholders/departments to maximize fiscal and operational outcomes</a:t>
            </a:r>
          </a:p>
        </p:txBody>
      </p:sp>
    </p:spTree>
    <p:extLst>
      <p:ext uri="{BB962C8B-B14F-4D97-AF65-F5344CB8AC3E}">
        <p14:creationId xmlns:p14="http://schemas.microsoft.com/office/powerpoint/2010/main" val="1547745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1F21E6-57F5-A0DE-E8BE-13652C06A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057275"/>
            <a:ext cx="2731586" cy="4952388"/>
          </a:xfrm>
          <a:prstGeom prst="rect">
            <a:avLst/>
          </a:prstGeom>
        </p:spPr>
      </p:pic>
      <p:sp>
        <p:nvSpPr>
          <p:cNvPr id="5" name="Rectangle: Rounded Corners 4">
            <a:extLst>
              <a:ext uri="{FF2B5EF4-FFF2-40B4-BE49-F238E27FC236}">
                <a16:creationId xmlns:a16="http://schemas.microsoft.com/office/drawing/2014/main" id="{1FFD7790-32FE-6C06-BDD6-39F97730FCDE}"/>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ction Button: Go to End 5">
            <a:hlinkClick r:id="" action="ppaction://hlinkshowjump?jump=nextslide" highlightClick="1"/>
            <a:extLst>
              <a:ext uri="{FF2B5EF4-FFF2-40B4-BE49-F238E27FC236}">
                <a16:creationId xmlns:a16="http://schemas.microsoft.com/office/drawing/2014/main" id="{87E7179C-C13F-CA7E-8021-6757F8ED3755}"/>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0A4F7709-07D9-6AEE-509E-89B35FAA35C6}"/>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TEST  FEASIBILITY TO ENSURE AN ROI</a:t>
            </a:r>
          </a:p>
        </p:txBody>
      </p:sp>
      <p:cxnSp>
        <p:nvCxnSpPr>
          <p:cNvPr id="8" name="Straight Connector 7">
            <a:extLst>
              <a:ext uri="{FF2B5EF4-FFF2-40B4-BE49-F238E27FC236}">
                <a16:creationId xmlns:a16="http://schemas.microsoft.com/office/drawing/2014/main" id="{D532C0AA-17EF-5893-3712-7E26816D337A}"/>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77237B3-DF0E-7999-9AD8-EA3161EC43C0}"/>
              </a:ext>
            </a:extLst>
          </p:cNvPr>
          <p:cNvSpPr txBox="1"/>
          <p:nvPr/>
        </p:nvSpPr>
        <p:spPr>
          <a:xfrm>
            <a:off x="473725" y="1258758"/>
            <a:ext cx="2850500" cy="5016758"/>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Don’t focus on the employee, focus on the occupation.  First deploy your employees with continuity roles; and you don’t need 20 people doing the same job on site nor do you have to have everyone there just in case you have a question.  Strategically deploy everyone on the basis on hierarchy, technology and the number of days per week that they can work remotely. </a:t>
            </a:r>
          </a:p>
        </p:txBody>
      </p:sp>
    </p:spTree>
    <p:extLst>
      <p:ext uri="{BB962C8B-B14F-4D97-AF65-F5344CB8AC3E}">
        <p14:creationId xmlns:p14="http://schemas.microsoft.com/office/powerpoint/2010/main" val="4185555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AFD299-60B6-0A03-1873-269821A2C19B}"/>
              </a:ext>
            </a:extLst>
          </p:cNvPr>
          <p:cNvPicPr>
            <a:picLocks noChangeAspect="1"/>
          </p:cNvPicPr>
          <p:nvPr/>
        </p:nvPicPr>
        <p:blipFill>
          <a:blip r:embed="rId2">
            <a:extLst>
              <a:ext uri="{28A0092B-C50C-407E-A947-70E740481C1C}">
                <a14:useLocalDpi xmlns:a14="http://schemas.microsoft.com/office/drawing/2010/main" val="0"/>
              </a:ext>
            </a:extLst>
          </a:blip>
          <a:srcRect l="428" t="1531" r="1878" b="3111"/>
          <a:stretch/>
        </p:blipFill>
        <p:spPr>
          <a:xfrm>
            <a:off x="4791075" y="1502896"/>
            <a:ext cx="5715000" cy="3909437"/>
          </a:xfrm>
          <a:prstGeom prst="rect">
            <a:avLst/>
          </a:prstGeom>
        </p:spPr>
      </p:pic>
      <p:sp>
        <p:nvSpPr>
          <p:cNvPr id="5" name="Rectangle: Rounded Corners 4">
            <a:extLst>
              <a:ext uri="{FF2B5EF4-FFF2-40B4-BE49-F238E27FC236}">
                <a16:creationId xmlns:a16="http://schemas.microsoft.com/office/drawing/2014/main" id="{28804E94-E847-555F-3CFC-025BA01854F0}"/>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ction Button: Go to End 5">
            <a:hlinkClick r:id="" action="ppaction://hlinkshowjump?jump=nextslide" highlightClick="1"/>
            <a:extLst>
              <a:ext uri="{FF2B5EF4-FFF2-40B4-BE49-F238E27FC236}">
                <a16:creationId xmlns:a16="http://schemas.microsoft.com/office/drawing/2014/main" id="{79F68099-9B46-D043-C480-F2FBB44EB451}"/>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60EE045A-548F-EB2C-D9A9-60534DC5F50C}"/>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VERIFY IT WILL ACHIEVE YOUR GOALS</a:t>
            </a:r>
          </a:p>
        </p:txBody>
      </p:sp>
      <p:cxnSp>
        <p:nvCxnSpPr>
          <p:cNvPr id="8" name="Straight Connector 7">
            <a:extLst>
              <a:ext uri="{FF2B5EF4-FFF2-40B4-BE49-F238E27FC236}">
                <a16:creationId xmlns:a16="http://schemas.microsoft.com/office/drawing/2014/main" id="{E6C9A256-6359-88C8-460A-1BC14A378DA5}"/>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F3DA706-52BC-E2AC-7B13-02123E5A2826}"/>
              </a:ext>
            </a:extLst>
          </p:cNvPr>
          <p:cNvSpPr txBox="1"/>
          <p:nvPr/>
        </p:nvSpPr>
        <p:spPr>
          <a:xfrm>
            <a:off x="647701" y="1485900"/>
            <a:ext cx="2695574" cy="4093428"/>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Focusing on key indicators, the WVP calculates the probability of success. </a:t>
            </a:r>
          </a:p>
          <a:p>
            <a:pPr algn="ctr"/>
            <a:endParaRPr lang="en-US" sz="2000" dirty="0">
              <a:solidFill>
                <a:schemeClr val="bg1"/>
              </a:solidFill>
              <a:latin typeface="Times New Roman" panose="02020603050405020304" pitchFamily="18" charset="0"/>
              <a:cs typeface="Times New Roman" panose="02020603050405020304" pitchFamily="18" charset="0"/>
            </a:endParaRPr>
          </a:p>
          <a:p>
            <a:pPr algn="ctr"/>
            <a:r>
              <a:rPr lang="en-US" sz="2000" dirty="0">
                <a:solidFill>
                  <a:schemeClr val="bg1"/>
                </a:solidFill>
                <a:latin typeface="Times New Roman" panose="02020603050405020304" pitchFamily="18" charset="0"/>
                <a:cs typeface="Times New Roman" panose="02020603050405020304" pitchFamily="18" charset="0"/>
              </a:rPr>
              <a:t>If many fail to meet the 100% minimum, the strategic process may not be appropriate and a recommendation is made o pursue the traditional ad hoc deployment approach.</a:t>
            </a:r>
          </a:p>
        </p:txBody>
      </p:sp>
    </p:spTree>
    <p:extLst>
      <p:ext uri="{BB962C8B-B14F-4D97-AF65-F5344CB8AC3E}">
        <p14:creationId xmlns:p14="http://schemas.microsoft.com/office/powerpoint/2010/main" val="480204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16546B91-0FEE-43FC-C91C-4A40EC2982C6}"/>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1614CC6F-7F04-E5EE-2F69-DEE405955431}"/>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The C-Suite MUST set the Goals and Guidelines</a:t>
            </a:r>
          </a:p>
        </p:txBody>
      </p:sp>
      <p:cxnSp>
        <p:nvCxnSpPr>
          <p:cNvPr id="29" name="Straight Connector 28">
            <a:extLst>
              <a:ext uri="{FF2B5EF4-FFF2-40B4-BE49-F238E27FC236}">
                <a16:creationId xmlns:a16="http://schemas.microsoft.com/office/drawing/2014/main" id="{06559FC3-BA6B-2610-93C8-8F9D6FC1AC9A}"/>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3E70272-0A38-B89A-77B1-B3AA3CD910B4}"/>
              </a:ext>
            </a:extLst>
          </p:cNvPr>
          <p:cNvSpPr txBox="1"/>
          <p:nvPr/>
        </p:nvSpPr>
        <p:spPr>
          <a:xfrm>
            <a:off x="633412" y="1104869"/>
            <a:ext cx="2800451" cy="5324535"/>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The “Go-No GO” decision is a senior management decision- it is not an HR or transportation task.</a:t>
            </a:r>
          </a:p>
          <a:p>
            <a:pPr algn="ctr"/>
            <a:endParaRPr lang="en-US" sz="2000" dirty="0">
              <a:solidFill>
                <a:schemeClr val="bg1"/>
              </a:solidFill>
              <a:latin typeface="Times New Roman" panose="02020603050405020304" pitchFamily="18" charset="0"/>
              <a:cs typeface="Times New Roman" panose="02020603050405020304" pitchFamily="18" charset="0"/>
            </a:endParaRPr>
          </a:p>
          <a:p>
            <a:pPr algn="ctr"/>
            <a:r>
              <a:rPr lang="en-US" sz="2000" dirty="0">
                <a:solidFill>
                  <a:schemeClr val="bg1"/>
                </a:solidFill>
                <a:latin typeface="Times New Roman" panose="02020603050405020304" pitchFamily="18" charset="0"/>
                <a:cs typeface="Times New Roman" panose="02020603050405020304" pitchFamily="18" charset="0"/>
              </a:rPr>
              <a:t>TCR brings the management team together to define the programs Goals and Guidelines.  it is the first step in implementing an entity –wide process of virtualization of accountability to enhance fiscal and operational performance .</a:t>
            </a:r>
          </a:p>
        </p:txBody>
      </p:sp>
      <p:pic>
        <p:nvPicPr>
          <p:cNvPr id="3" name="Picture 2">
            <a:extLst>
              <a:ext uri="{FF2B5EF4-FFF2-40B4-BE49-F238E27FC236}">
                <a16:creationId xmlns:a16="http://schemas.microsoft.com/office/drawing/2014/main" id="{0C64ED21-E9CF-0A7E-9510-93102ADA8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05299" y="1288838"/>
            <a:ext cx="7353300" cy="3870960"/>
          </a:xfrm>
          <a:prstGeom prst="rect">
            <a:avLst/>
          </a:prstGeom>
        </p:spPr>
      </p:pic>
      <p:pic>
        <p:nvPicPr>
          <p:cNvPr id="5" name="Picture 4">
            <a:extLst>
              <a:ext uri="{FF2B5EF4-FFF2-40B4-BE49-F238E27FC236}">
                <a16:creationId xmlns:a16="http://schemas.microsoft.com/office/drawing/2014/main" id="{229CF66D-19D7-25A2-58B3-0382C7F20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2167" y="1196340"/>
            <a:ext cx="7299960" cy="5280660"/>
          </a:xfrm>
          <a:prstGeom prst="rect">
            <a:avLst/>
          </a:prstGeom>
        </p:spPr>
      </p:pic>
      <p:sp>
        <p:nvSpPr>
          <p:cNvPr id="27" name="Action Button: Go to End 26">
            <a:hlinkClick r:id="" action="ppaction://hlinkshowjump?jump=nextslide" highlightClick="1"/>
            <a:extLst>
              <a:ext uri="{FF2B5EF4-FFF2-40B4-BE49-F238E27FC236}">
                <a16:creationId xmlns:a16="http://schemas.microsoft.com/office/drawing/2014/main" id="{6F479CC5-BB73-A2EF-1E7A-269F58A6F577}"/>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29679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FED2DF-8D3E-D0DC-EC88-79B74FE060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5475" y="1004887"/>
            <a:ext cx="3821925" cy="4987533"/>
          </a:xfrm>
          <a:prstGeom prst="rect">
            <a:avLst/>
          </a:prstGeom>
        </p:spPr>
      </p:pic>
      <p:sp>
        <p:nvSpPr>
          <p:cNvPr id="5" name="Rectangle: Rounded Corners 4">
            <a:extLst>
              <a:ext uri="{FF2B5EF4-FFF2-40B4-BE49-F238E27FC236}">
                <a16:creationId xmlns:a16="http://schemas.microsoft.com/office/drawing/2014/main" id="{7910E71A-FB4B-E83A-C811-AC2F68C65BBE}"/>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ction Button: Go to End 5">
            <a:hlinkClick r:id="" action="ppaction://hlinkshowjump?jump=nextslide" highlightClick="1"/>
            <a:extLst>
              <a:ext uri="{FF2B5EF4-FFF2-40B4-BE49-F238E27FC236}">
                <a16:creationId xmlns:a16="http://schemas.microsoft.com/office/drawing/2014/main" id="{195FFA54-3109-1B99-D434-89BE93CD5B1F}"/>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3DE172DC-C506-4E6D-F695-F25E5376DD17}"/>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IMPLEMENT IT IN LOGICAL STEPS</a:t>
            </a:r>
          </a:p>
        </p:txBody>
      </p:sp>
      <p:cxnSp>
        <p:nvCxnSpPr>
          <p:cNvPr id="8" name="Straight Connector 7">
            <a:extLst>
              <a:ext uri="{FF2B5EF4-FFF2-40B4-BE49-F238E27FC236}">
                <a16:creationId xmlns:a16="http://schemas.microsoft.com/office/drawing/2014/main" id="{D747E935-97CA-06E6-29EA-DE8D83313527}"/>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F54C2A9-845E-BA34-EC26-0914C180E2A0}"/>
              </a:ext>
            </a:extLst>
          </p:cNvPr>
          <p:cNvSpPr txBox="1"/>
          <p:nvPr/>
        </p:nvSpPr>
        <p:spPr>
          <a:xfrm>
            <a:off x="647701" y="1485900"/>
            <a:ext cx="2695574" cy="5324535"/>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The Process is simple:</a:t>
            </a:r>
          </a:p>
          <a:p>
            <a:pPr algn="ctr"/>
            <a:r>
              <a:rPr lang="en-US" sz="2000" dirty="0">
                <a:solidFill>
                  <a:schemeClr val="bg1"/>
                </a:solidFill>
                <a:latin typeface="Times New Roman" panose="02020603050405020304" pitchFamily="18" charset="0"/>
                <a:cs typeface="Times New Roman" panose="02020603050405020304" pitchFamily="18" charset="0"/>
              </a:rPr>
              <a:t>FEASIBILITY</a:t>
            </a:r>
          </a:p>
          <a:p>
            <a:pPr algn="ctr"/>
            <a:r>
              <a:rPr lang="en-US" sz="2000" dirty="0">
                <a:solidFill>
                  <a:schemeClr val="bg1">
                    <a:lumMod val="85000"/>
                  </a:schemeClr>
                </a:solidFill>
                <a:latin typeface="Times New Roman" panose="02020603050405020304" pitchFamily="18" charset="0"/>
                <a:cs typeface="Times New Roman" panose="02020603050405020304" pitchFamily="18" charset="0"/>
              </a:rPr>
              <a:t>Make sure it makes cents.</a:t>
            </a:r>
          </a:p>
          <a:p>
            <a:pPr algn="ctr"/>
            <a:r>
              <a:rPr lang="en-US" sz="2000" dirty="0">
                <a:solidFill>
                  <a:schemeClr val="bg1"/>
                </a:solidFill>
                <a:latin typeface="Times New Roman" panose="02020603050405020304" pitchFamily="18" charset="0"/>
                <a:cs typeface="Times New Roman" panose="02020603050405020304" pitchFamily="18" charset="0"/>
              </a:rPr>
              <a:t>OPTIMIZATION</a:t>
            </a:r>
          </a:p>
          <a:p>
            <a:pPr algn="ctr"/>
            <a:r>
              <a:rPr lang="en-US" sz="2000" dirty="0">
                <a:solidFill>
                  <a:schemeClr val="bg1">
                    <a:lumMod val="75000"/>
                  </a:schemeClr>
                </a:solidFill>
                <a:latin typeface="Times New Roman" panose="02020603050405020304" pitchFamily="18" charset="0"/>
                <a:cs typeface="Times New Roman" panose="02020603050405020304" pitchFamily="18" charset="0"/>
              </a:rPr>
              <a:t>Make sure it is efficient</a:t>
            </a:r>
          </a:p>
          <a:p>
            <a:pPr algn="ctr"/>
            <a:r>
              <a:rPr lang="en-US" sz="2000" dirty="0">
                <a:solidFill>
                  <a:schemeClr val="bg1"/>
                </a:solidFill>
                <a:latin typeface="Times New Roman" panose="02020603050405020304" pitchFamily="18" charset="0"/>
                <a:cs typeface="Times New Roman" panose="02020603050405020304" pitchFamily="18" charset="0"/>
              </a:rPr>
              <a:t>SEQUENTIAL</a:t>
            </a:r>
          </a:p>
          <a:p>
            <a:pPr algn="ctr"/>
            <a:r>
              <a:rPr lang="en-US" sz="2000" dirty="0">
                <a:solidFill>
                  <a:schemeClr val="bg1">
                    <a:lumMod val="75000"/>
                  </a:schemeClr>
                </a:solidFill>
                <a:latin typeface="Times New Roman" panose="02020603050405020304" pitchFamily="18" charset="0"/>
                <a:cs typeface="Times New Roman" panose="02020603050405020304" pitchFamily="18" charset="0"/>
              </a:rPr>
              <a:t>Logic dictates schedule</a:t>
            </a:r>
          </a:p>
          <a:p>
            <a:pPr algn="ctr"/>
            <a:r>
              <a:rPr lang="en-US" sz="2000" dirty="0">
                <a:solidFill>
                  <a:schemeClr val="bg1"/>
                </a:solidFill>
                <a:latin typeface="Times New Roman" panose="02020603050405020304" pitchFamily="18" charset="0"/>
                <a:cs typeface="Times New Roman" panose="02020603050405020304" pitchFamily="18" charset="0"/>
              </a:rPr>
              <a:t>ACCOUNTABLE</a:t>
            </a:r>
          </a:p>
          <a:p>
            <a:pPr algn="ctr"/>
            <a:r>
              <a:rPr lang="en-US" sz="2000" dirty="0">
                <a:solidFill>
                  <a:schemeClr val="bg1">
                    <a:lumMod val="75000"/>
                  </a:schemeClr>
                </a:solidFill>
                <a:latin typeface="Times New Roman" panose="02020603050405020304" pitchFamily="18" charset="0"/>
                <a:cs typeface="Times New Roman" panose="02020603050405020304" pitchFamily="18" charset="0"/>
              </a:rPr>
              <a:t>Policy updates are critical</a:t>
            </a:r>
          </a:p>
          <a:p>
            <a:pPr algn="ctr"/>
            <a:r>
              <a:rPr lang="en-US" sz="2000" dirty="0">
                <a:solidFill>
                  <a:schemeClr val="bg1"/>
                </a:solidFill>
                <a:latin typeface="Times New Roman" panose="02020603050405020304" pitchFamily="18" charset="0"/>
                <a:cs typeface="Times New Roman" panose="02020603050405020304" pitchFamily="18" charset="0"/>
              </a:rPr>
              <a:t>PERFORMANCE</a:t>
            </a:r>
          </a:p>
          <a:p>
            <a:pPr algn="ctr"/>
            <a:r>
              <a:rPr lang="en-US" sz="2000" dirty="0">
                <a:solidFill>
                  <a:schemeClr val="bg1">
                    <a:lumMod val="75000"/>
                  </a:schemeClr>
                </a:solidFill>
                <a:latin typeface="Times New Roman" panose="02020603050405020304" pitchFamily="18" charset="0"/>
                <a:cs typeface="Times New Roman" panose="02020603050405020304" pitchFamily="18" charset="0"/>
              </a:rPr>
              <a:t>Support your organization and share its impacts with the community</a:t>
            </a:r>
          </a:p>
          <a:p>
            <a:pPr algn="ctr"/>
            <a:endParaRPr lang="en-US"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7976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6" name="Rectangle: Rounded Corners 25">
            <a:extLst>
              <a:ext uri="{FF2B5EF4-FFF2-40B4-BE49-F238E27FC236}">
                <a16:creationId xmlns:a16="http://schemas.microsoft.com/office/drawing/2014/main" id="{16546B91-0FEE-43FC-C91C-4A40EC2982C6}"/>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Action Button: Go to End 26">
            <a:hlinkClick r:id="" action="ppaction://hlinkshowjump?jump=nextslide" highlightClick="1"/>
            <a:extLst>
              <a:ext uri="{FF2B5EF4-FFF2-40B4-BE49-F238E27FC236}">
                <a16:creationId xmlns:a16="http://schemas.microsoft.com/office/drawing/2014/main" id="{6F479CC5-BB73-A2EF-1E7A-269F58A6F577}"/>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1614CC6F-7F04-E5EE-2F69-DEE405955431}"/>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MITIGATE BARRIERS / OPTIMIZE DEPLOYMENT</a:t>
            </a:r>
          </a:p>
        </p:txBody>
      </p:sp>
      <p:cxnSp>
        <p:nvCxnSpPr>
          <p:cNvPr id="29" name="Straight Connector 28">
            <a:extLst>
              <a:ext uri="{FF2B5EF4-FFF2-40B4-BE49-F238E27FC236}">
                <a16:creationId xmlns:a16="http://schemas.microsoft.com/office/drawing/2014/main" id="{06559FC3-BA6B-2610-93C8-8F9D6FC1AC9A}"/>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B0EFDB6D-C77B-8B53-109D-BDAA992A1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9575" y="1350496"/>
            <a:ext cx="6869197" cy="4314822"/>
          </a:xfrm>
          <a:prstGeom prst="rect">
            <a:avLst/>
          </a:prstGeom>
        </p:spPr>
      </p:pic>
      <p:sp>
        <p:nvSpPr>
          <p:cNvPr id="7" name="TextBox 6">
            <a:extLst>
              <a:ext uri="{FF2B5EF4-FFF2-40B4-BE49-F238E27FC236}">
                <a16:creationId xmlns:a16="http://schemas.microsoft.com/office/drawing/2014/main" id="{F3E70272-0A38-B89A-77B1-B3AA3CD910B4}"/>
              </a:ext>
            </a:extLst>
          </p:cNvPr>
          <p:cNvSpPr txBox="1"/>
          <p:nvPr/>
        </p:nvSpPr>
        <p:spPr>
          <a:xfrm>
            <a:off x="647701" y="1485900"/>
            <a:ext cx="2695574" cy="4708981"/>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Once the senior team has defined goals and expectations, The WVP employs modeling to determine which combination of scenarios will generate the greatest results.</a:t>
            </a:r>
          </a:p>
          <a:p>
            <a:pPr algn="ctr"/>
            <a:endParaRPr lang="en-US" sz="2000" dirty="0">
              <a:solidFill>
                <a:schemeClr val="bg1"/>
              </a:solidFill>
              <a:latin typeface="Times New Roman" panose="02020603050405020304" pitchFamily="18" charset="0"/>
              <a:cs typeface="Times New Roman" panose="02020603050405020304" pitchFamily="18" charset="0"/>
            </a:endParaRPr>
          </a:p>
          <a:p>
            <a:pPr algn="ctr"/>
            <a:r>
              <a:rPr lang="en-US" sz="2000" dirty="0">
                <a:solidFill>
                  <a:schemeClr val="bg1"/>
                </a:solidFill>
                <a:latin typeface="Times New Roman" panose="02020603050405020304" pitchFamily="18" charset="0"/>
                <a:cs typeface="Times New Roman" panose="02020603050405020304" pitchFamily="18" charset="0"/>
              </a:rPr>
              <a:t>And virtualization need to negatively impact culture or team development; it empowers innovation to maintain them.</a:t>
            </a:r>
          </a:p>
        </p:txBody>
      </p:sp>
    </p:spTree>
    <p:extLst>
      <p:ext uri="{BB962C8B-B14F-4D97-AF65-F5344CB8AC3E}">
        <p14:creationId xmlns:p14="http://schemas.microsoft.com/office/powerpoint/2010/main" val="1750066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B09EC931-3941-10E1-BE55-196CCD542A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6280" y="1153542"/>
            <a:ext cx="4584496" cy="5226325"/>
          </a:xfrm>
          <a:prstGeom prst="rect">
            <a:avLst/>
          </a:prstGeom>
        </p:spPr>
      </p:pic>
      <p:sp>
        <p:nvSpPr>
          <p:cNvPr id="6" name="Rectangle: Rounded Corners 5">
            <a:extLst>
              <a:ext uri="{FF2B5EF4-FFF2-40B4-BE49-F238E27FC236}">
                <a16:creationId xmlns:a16="http://schemas.microsoft.com/office/drawing/2014/main" id="{630FF639-4327-0340-54F8-4651AAF1909C}"/>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ction Button: Go to End 7">
            <a:hlinkClick r:id="" action="ppaction://hlinkshowjump?jump=nextslide" highlightClick="1"/>
            <a:extLst>
              <a:ext uri="{FF2B5EF4-FFF2-40B4-BE49-F238E27FC236}">
                <a16:creationId xmlns:a16="http://schemas.microsoft.com/office/drawing/2014/main" id="{48506DAE-69C5-D742-72BA-5384B19AE734}"/>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7E65F459-F500-90C8-872F-F00FA91C06D5}"/>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UNDERSTAND CONTINUITY &amp; DISASTER RECOVERY</a:t>
            </a:r>
          </a:p>
        </p:txBody>
      </p:sp>
      <p:cxnSp>
        <p:nvCxnSpPr>
          <p:cNvPr id="12" name="Straight Connector 11">
            <a:extLst>
              <a:ext uri="{FF2B5EF4-FFF2-40B4-BE49-F238E27FC236}">
                <a16:creationId xmlns:a16="http://schemas.microsoft.com/office/drawing/2014/main" id="{D3D058C2-7FB4-4638-DFFF-A73E6FFB7496}"/>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0109BA1-2984-66C2-8BDE-5CF749785384}"/>
              </a:ext>
            </a:extLst>
          </p:cNvPr>
          <p:cNvSpPr txBox="1"/>
          <p:nvPr/>
        </p:nvSpPr>
        <p:spPr>
          <a:xfrm>
            <a:off x="647701" y="1485900"/>
            <a:ext cx="2695574" cy="3477875"/>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TCR’s Feasibility Assessment examines your staff’s awareness of their continuity roles, the requisite recovery environment and how much time they have to recover their activities before the challenge becomes a full-fledged crisis.</a:t>
            </a:r>
          </a:p>
        </p:txBody>
      </p:sp>
    </p:spTree>
    <p:extLst>
      <p:ext uri="{BB962C8B-B14F-4D97-AF65-F5344CB8AC3E}">
        <p14:creationId xmlns:p14="http://schemas.microsoft.com/office/powerpoint/2010/main" val="1850574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3A583CC-701C-4110-B23D-5949CD53FE0A}"/>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ction Button: Go to End 6">
            <a:hlinkClick r:id="" action="ppaction://hlinkshowjump?jump=nextslide" highlightClick="1"/>
            <a:extLst>
              <a:ext uri="{FF2B5EF4-FFF2-40B4-BE49-F238E27FC236}">
                <a16:creationId xmlns:a16="http://schemas.microsoft.com/office/drawing/2014/main" id="{8B216934-7A8B-0055-513C-07C7EF84EA14}"/>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96C757CF-B1A9-4CEF-2534-C301C71E5572}"/>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AND UNDERSTAND YOUR RISK ENVIRONMENT</a:t>
            </a:r>
          </a:p>
        </p:txBody>
      </p:sp>
      <p:cxnSp>
        <p:nvCxnSpPr>
          <p:cNvPr id="9" name="Straight Connector 8">
            <a:extLst>
              <a:ext uri="{FF2B5EF4-FFF2-40B4-BE49-F238E27FC236}">
                <a16:creationId xmlns:a16="http://schemas.microsoft.com/office/drawing/2014/main" id="{D310B097-3D5D-BF89-5BB0-3898C3031965}"/>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pic>
        <p:nvPicPr>
          <p:cNvPr id="15" name="Picture 14">
            <a:extLst>
              <a:ext uri="{FF2B5EF4-FFF2-40B4-BE49-F238E27FC236}">
                <a16:creationId xmlns:a16="http://schemas.microsoft.com/office/drawing/2014/main" id="{0A3D450D-DAC6-3E38-A684-ECAA727D472B}"/>
              </a:ext>
            </a:extLst>
          </p:cNvPr>
          <p:cNvPicPr>
            <a:picLocks noChangeAspect="1"/>
          </p:cNvPicPr>
          <p:nvPr/>
        </p:nvPicPr>
        <p:blipFill>
          <a:blip r:embed="rId2">
            <a:extLst>
              <a:ext uri="{28A0092B-C50C-407E-A947-70E740481C1C}">
                <a14:useLocalDpi xmlns:a14="http://schemas.microsoft.com/office/drawing/2010/main" val="0"/>
              </a:ext>
            </a:extLst>
          </a:blip>
          <a:srcRect l="2761" t="5323" r="1314" b="5948"/>
          <a:stretch/>
        </p:blipFill>
        <p:spPr>
          <a:xfrm>
            <a:off x="4591050" y="1322167"/>
            <a:ext cx="6067426" cy="4213665"/>
          </a:xfrm>
          <a:prstGeom prst="rect">
            <a:avLst/>
          </a:prstGeom>
        </p:spPr>
      </p:pic>
      <p:sp>
        <p:nvSpPr>
          <p:cNvPr id="16" name="TextBox 15">
            <a:extLst>
              <a:ext uri="{FF2B5EF4-FFF2-40B4-BE49-F238E27FC236}">
                <a16:creationId xmlns:a16="http://schemas.microsoft.com/office/drawing/2014/main" id="{AEE83DFE-02D9-F971-9063-3B8A9150E207}"/>
              </a:ext>
            </a:extLst>
          </p:cNvPr>
          <p:cNvSpPr txBox="1"/>
          <p:nvPr/>
        </p:nvSpPr>
        <p:spPr>
          <a:xfrm>
            <a:off x="647701" y="1485900"/>
            <a:ext cx="2695574" cy="4708981"/>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A regional Viability Audit graphically defines which static or dynamic risks would impact your facilities.</a:t>
            </a:r>
          </a:p>
          <a:p>
            <a:pPr algn="ctr"/>
            <a:endParaRPr lang="en-US" sz="2000" dirty="0">
              <a:solidFill>
                <a:schemeClr val="bg1"/>
              </a:solidFill>
              <a:latin typeface="Times New Roman" panose="02020603050405020304" pitchFamily="18" charset="0"/>
              <a:cs typeface="Times New Roman" panose="02020603050405020304" pitchFamily="18" charset="0"/>
            </a:endParaRPr>
          </a:p>
          <a:p>
            <a:pPr algn="ctr"/>
            <a:r>
              <a:rPr lang="en-US" sz="2000" dirty="0">
                <a:solidFill>
                  <a:schemeClr val="bg1"/>
                </a:solidFill>
                <a:latin typeface="Times New Roman" panose="02020603050405020304" pitchFamily="18" charset="0"/>
                <a:cs typeface="Times New Roman" panose="02020603050405020304" pitchFamily="18" charset="0"/>
              </a:rPr>
              <a:t>Make sure your continuity workers are outside of the various impact zones plotted around your facilities.  They are no good to you if they are impacted by the same event that impacts your facility.</a:t>
            </a:r>
          </a:p>
        </p:txBody>
      </p:sp>
    </p:spTree>
    <p:extLst>
      <p:ext uri="{BB962C8B-B14F-4D97-AF65-F5344CB8AC3E}">
        <p14:creationId xmlns:p14="http://schemas.microsoft.com/office/powerpoint/2010/main" val="2181548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BDEA21A-B6B2-7325-0C6A-4C1F6D52C8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97948" y="1493383"/>
            <a:ext cx="6978407" cy="3871233"/>
          </a:xfrm>
        </p:spPr>
      </p:pic>
      <p:sp>
        <p:nvSpPr>
          <p:cNvPr id="26" name="Rectangle: Rounded Corners 25">
            <a:extLst>
              <a:ext uri="{FF2B5EF4-FFF2-40B4-BE49-F238E27FC236}">
                <a16:creationId xmlns:a16="http://schemas.microsoft.com/office/drawing/2014/main" id="{16546B91-0FEE-43FC-C91C-4A40EC2982C6}"/>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Action Button: Go to End 26">
            <a:hlinkClick r:id="" action="ppaction://hlinkshowjump?jump=nextslide" highlightClick="1"/>
            <a:extLst>
              <a:ext uri="{FF2B5EF4-FFF2-40B4-BE49-F238E27FC236}">
                <a16:creationId xmlns:a16="http://schemas.microsoft.com/office/drawing/2014/main" id="{6F479CC5-BB73-A2EF-1E7A-269F58A6F577}"/>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1614CC6F-7F04-E5EE-2F69-DEE405955431}"/>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FOCUS ON VIABILITY</a:t>
            </a:r>
          </a:p>
        </p:txBody>
      </p:sp>
      <p:cxnSp>
        <p:nvCxnSpPr>
          <p:cNvPr id="29" name="Straight Connector 28">
            <a:extLst>
              <a:ext uri="{FF2B5EF4-FFF2-40B4-BE49-F238E27FC236}">
                <a16:creationId xmlns:a16="http://schemas.microsoft.com/office/drawing/2014/main" id="{06559FC3-BA6B-2610-93C8-8F9D6FC1AC9A}"/>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2463E1CF-B0AA-0818-23DA-6A4929519CF9}"/>
              </a:ext>
            </a:extLst>
          </p:cNvPr>
          <p:cNvSpPr txBox="1"/>
          <p:nvPr/>
        </p:nvSpPr>
        <p:spPr>
          <a:xfrm>
            <a:off x="647701" y="1485900"/>
            <a:ext cx="2695574" cy="4401205"/>
          </a:xfrm>
          <a:prstGeom prst="rect">
            <a:avLst/>
          </a:prstGeom>
          <a:noFill/>
        </p:spPr>
        <p:txBody>
          <a:bodyPr wrap="square" rtlCol="0">
            <a:spAutoFit/>
          </a:bodyPr>
          <a:lstStyle/>
          <a:p>
            <a:pPr algn="ctr"/>
            <a:endParaRPr lang="en-US" sz="2000" dirty="0">
              <a:solidFill>
                <a:schemeClr val="bg1"/>
              </a:solidFill>
              <a:latin typeface="Times New Roman" panose="02020603050405020304" pitchFamily="18" charset="0"/>
              <a:cs typeface="Times New Roman" panose="02020603050405020304" pitchFamily="18" charset="0"/>
            </a:endParaRPr>
          </a:p>
          <a:p>
            <a:pPr algn="ctr"/>
            <a:r>
              <a:rPr lang="en-US" sz="2000" dirty="0">
                <a:solidFill>
                  <a:schemeClr val="bg1"/>
                </a:solidFill>
                <a:latin typeface="Times New Roman" panose="02020603050405020304" pitchFamily="18" charset="0"/>
                <a:cs typeface="Times New Roman" panose="02020603050405020304" pitchFamily="18" charset="0"/>
              </a:rPr>
              <a:t>By deploying employees with specific continuity responsibilities, your Continuity program is tested daily- and a fraction of traditional methods. </a:t>
            </a:r>
          </a:p>
          <a:p>
            <a:pPr algn="ctr"/>
            <a:endParaRPr lang="en-US" sz="2000" dirty="0">
              <a:solidFill>
                <a:schemeClr val="bg1"/>
              </a:solidFill>
              <a:latin typeface="Times New Roman" panose="02020603050405020304" pitchFamily="18" charset="0"/>
              <a:cs typeface="Times New Roman" panose="02020603050405020304" pitchFamily="18" charset="0"/>
            </a:endParaRPr>
          </a:p>
          <a:p>
            <a:pPr algn="ctr"/>
            <a:r>
              <a:rPr lang="en-US" sz="2000" dirty="0">
                <a:solidFill>
                  <a:schemeClr val="bg1"/>
                </a:solidFill>
                <a:latin typeface="Times New Roman" panose="02020603050405020304" pitchFamily="18" charset="0"/>
                <a:cs typeface="Times New Roman" panose="02020603050405020304" pitchFamily="18" charset="0"/>
              </a:rPr>
              <a:t>All you have to do is identify “Continuity Roles” to secure your viability.</a:t>
            </a:r>
          </a:p>
        </p:txBody>
      </p:sp>
    </p:spTree>
    <p:extLst>
      <p:ext uri="{BB962C8B-B14F-4D97-AF65-F5344CB8AC3E}">
        <p14:creationId xmlns:p14="http://schemas.microsoft.com/office/powerpoint/2010/main" val="3882198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13BCE3-5AC4-3190-028C-32DF783675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1839" y="1196707"/>
            <a:ext cx="5980776" cy="4956444"/>
          </a:xfrm>
          <a:prstGeom prst="rect">
            <a:avLst/>
          </a:prstGeom>
        </p:spPr>
      </p:pic>
      <p:sp>
        <p:nvSpPr>
          <p:cNvPr id="5" name="Rectangle: Rounded Corners 4">
            <a:extLst>
              <a:ext uri="{FF2B5EF4-FFF2-40B4-BE49-F238E27FC236}">
                <a16:creationId xmlns:a16="http://schemas.microsoft.com/office/drawing/2014/main" id="{FE8A3833-1A4E-858E-548C-F2D408D3A99C}"/>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ction Button: Go to End 5">
            <a:hlinkClick r:id="" action="ppaction://hlinkshowjump?jump=nextslide" highlightClick="1"/>
            <a:extLst>
              <a:ext uri="{FF2B5EF4-FFF2-40B4-BE49-F238E27FC236}">
                <a16:creationId xmlns:a16="http://schemas.microsoft.com/office/drawing/2014/main" id="{DEC0912A-E754-1794-768C-291856E833AB}"/>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808B0C6B-DB7D-46EB-8737-3BDEE04422C1}"/>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USE A CRITICAL PATH FOR ACCOUNTABILITY</a:t>
            </a:r>
          </a:p>
        </p:txBody>
      </p:sp>
      <p:cxnSp>
        <p:nvCxnSpPr>
          <p:cNvPr id="8" name="Straight Connector 7">
            <a:extLst>
              <a:ext uri="{FF2B5EF4-FFF2-40B4-BE49-F238E27FC236}">
                <a16:creationId xmlns:a16="http://schemas.microsoft.com/office/drawing/2014/main" id="{57AC360B-ADDB-6984-CAAE-0A9EF4DE7DDC}"/>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8CF7C58-A2F0-E69E-9F02-47F7B0DADEA8}"/>
              </a:ext>
            </a:extLst>
          </p:cNvPr>
          <p:cNvSpPr txBox="1"/>
          <p:nvPr/>
        </p:nvSpPr>
        <p:spPr>
          <a:xfrm>
            <a:off x="647701" y="1485900"/>
            <a:ext cx="2695574" cy="3477875"/>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The WVP employs a database menu system. This allows every phase of the program to be tracked by the Deployment Team. </a:t>
            </a:r>
          </a:p>
          <a:p>
            <a:pPr algn="ctr"/>
            <a:endParaRPr lang="en-US" sz="2000" dirty="0">
              <a:solidFill>
                <a:schemeClr val="bg1"/>
              </a:solidFill>
              <a:latin typeface="Times New Roman" panose="02020603050405020304" pitchFamily="18" charset="0"/>
              <a:cs typeface="Times New Roman" panose="02020603050405020304" pitchFamily="18" charset="0"/>
            </a:endParaRPr>
          </a:p>
          <a:p>
            <a:pPr algn="ctr"/>
            <a:r>
              <a:rPr lang="en-US" sz="2000" dirty="0">
                <a:solidFill>
                  <a:schemeClr val="bg1"/>
                </a:solidFill>
                <a:latin typeface="Times New Roman" panose="02020603050405020304" pitchFamily="18" charset="0"/>
                <a:cs typeface="Times New Roman" panose="02020603050405020304" pitchFamily="18" charset="0"/>
              </a:rPr>
              <a:t> Additional resources are applied when necessary to get back on schedule</a:t>
            </a:r>
          </a:p>
        </p:txBody>
      </p:sp>
    </p:spTree>
    <p:extLst>
      <p:ext uri="{BB962C8B-B14F-4D97-AF65-F5344CB8AC3E}">
        <p14:creationId xmlns:p14="http://schemas.microsoft.com/office/powerpoint/2010/main" val="2782566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49031B-64DC-C7B9-30EF-D8A8B9242B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4164" y="1257299"/>
            <a:ext cx="6366076" cy="4700905"/>
          </a:xfrm>
          <a:prstGeom prst="rect">
            <a:avLst/>
          </a:prstGeom>
        </p:spPr>
      </p:pic>
      <p:sp>
        <p:nvSpPr>
          <p:cNvPr id="5" name="Rectangle: Rounded Corners 4">
            <a:extLst>
              <a:ext uri="{FF2B5EF4-FFF2-40B4-BE49-F238E27FC236}">
                <a16:creationId xmlns:a16="http://schemas.microsoft.com/office/drawing/2014/main" id="{A4CED6E2-1272-9992-046E-026A24C18BCC}"/>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ction Button: Go to End 5">
            <a:hlinkClick r:id="" action="ppaction://hlinkshowjump?jump=nextslide" highlightClick="1"/>
            <a:extLst>
              <a:ext uri="{FF2B5EF4-FFF2-40B4-BE49-F238E27FC236}">
                <a16:creationId xmlns:a16="http://schemas.microsoft.com/office/drawing/2014/main" id="{A04EC1E0-193A-2EE5-3821-9829354B606C}"/>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BF912135-F7C2-A011-811B-6FAB0821EE03}"/>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METRICS Are the Key to Plan Success</a:t>
            </a:r>
          </a:p>
        </p:txBody>
      </p:sp>
      <p:cxnSp>
        <p:nvCxnSpPr>
          <p:cNvPr id="8" name="Straight Connector 7">
            <a:extLst>
              <a:ext uri="{FF2B5EF4-FFF2-40B4-BE49-F238E27FC236}">
                <a16:creationId xmlns:a16="http://schemas.microsoft.com/office/drawing/2014/main" id="{23F8076D-77BB-2410-1889-993E66FECAA3}"/>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E92AC63-B277-FD73-48C2-AC16815655B1}"/>
              </a:ext>
            </a:extLst>
          </p:cNvPr>
          <p:cNvSpPr txBox="1"/>
          <p:nvPr/>
        </p:nvSpPr>
        <p:spPr>
          <a:xfrm>
            <a:off x="647701" y="1485900"/>
            <a:ext cx="2695574" cy="4093428"/>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The Deployment Plan integrates the needs of all departments. It  coordinates specific targets for each.</a:t>
            </a:r>
          </a:p>
          <a:p>
            <a:pPr algn="ctr"/>
            <a:endParaRPr lang="en-US" sz="2000" dirty="0">
              <a:solidFill>
                <a:schemeClr val="bg1"/>
              </a:solidFill>
              <a:latin typeface="Times New Roman" panose="02020603050405020304" pitchFamily="18" charset="0"/>
              <a:cs typeface="Times New Roman" panose="02020603050405020304" pitchFamily="18" charset="0"/>
            </a:endParaRPr>
          </a:p>
          <a:p>
            <a:pPr algn="ctr"/>
            <a:r>
              <a:rPr lang="en-US" sz="2000" dirty="0">
                <a:solidFill>
                  <a:schemeClr val="bg1"/>
                </a:solidFill>
                <a:latin typeface="Times New Roman" panose="02020603050405020304" pitchFamily="18" charset="0"/>
                <a:cs typeface="Times New Roman" panose="02020603050405020304" pitchFamily="18" charset="0"/>
              </a:rPr>
              <a:t>Statistics are embedded throughout the system to ensure it remains on a “critical path” to ensure the goals are achieved by the end of the five-year program.</a:t>
            </a:r>
          </a:p>
        </p:txBody>
      </p:sp>
    </p:spTree>
    <p:extLst>
      <p:ext uri="{BB962C8B-B14F-4D97-AF65-F5344CB8AC3E}">
        <p14:creationId xmlns:p14="http://schemas.microsoft.com/office/powerpoint/2010/main" val="3260979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70B67F-04FF-90DC-9745-EA6ABCB181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2681" y="1314450"/>
            <a:ext cx="7503941" cy="4229100"/>
          </a:xfrm>
          <a:prstGeom prst="rect">
            <a:avLst/>
          </a:prstGeom>
        </p:spPr>
      </p:pic>
      <p:sp>
        <p:nvSpPr>
          <p:cNvPr id="5" name="Rectangle: Rounded Corners 4">
            <a:extLst>
              <a:ext uri="{FF2B5EF4-FFF2-40B4-BE49-F238E27FC236}">
                <a16:creationId xmlns:a16="http://schemas.microsoft.com/office/drawing/2014/main" id="{08D258DD-AAEF-1B89-9CBE-A459AAC306A6}"/>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ction Button: Go Home 6">
            <a:hlinkClick r:id="" action="ppaction://hlinkshowjump?jump=firstslide" highlightClick="1"/>
            <a:extLst>
              <a:ext uri="{FF2B5EF4-FFF2-40B4-BE49-F238E27FC236}">
                <a16:creationId xmlns:a16="http://schemas.microsoft.com/office/drawing/2014/main" id="{660BF9AF-3727-890B-29A7-5FB0CF34B638}"/>
              </a:ext>
            </a:extLst>
          </p:cNvPr>
          <p:cNvSpPr/>
          <p:nvPr/>
        </p:nvSpPr>
        <p:spPr>
          <a:xfrm>
            <a:off x="10696575" y="5686425"/>
            <a:ext cx="914400" cy="790575"/>
          </a:xfrm>
          <a:prstGeom prst="actionButtonHom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1CF52DF0-D5C2-560D-B759-F4B4C00126AA}"/>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USE THE NATIONAL RESEARCH BASE TO ENHANCE</a:t>
            </a:r>
          </a:p>
        </p:txBody>
      </p:sp>
      <p:cxnSp>
        <p:nvCxnSpPr>
          <p:cNvPr id="9" name="Straight Connector 8">
            <a:extLst>
              <a:ext uri="{FF2B5EF4-FFF2-40B4-BE49-F238E27FC236}">
                <a16:creationId xmlns:a16="http://schemas.microsoft.com/office/drawing/2014/main" id="{05922C9C-E95C-9388-FE7C-F26E50697D7F}"/>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B38D3F9-2204-BF76-6C5F-F9B6016F5F9D}"/>
              </a:ext>
            </a:extLst>
          </p:cNvPr>
          <p:cNvSpPr txBox="1"/>
          <p:nvPr/>
        </p:nvSpPr>
        <p:spPr>
          <a:xfrm>
            <a:off x="600075" y="1485900"/>
            <a:ext cx="2743200" cy="4708981"/>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After 50 years, the ad hoc approach remains unable to provide meaningful statistics on how to deploy remote workers.</a:t>
            </a:r>
          </a:p>
          <a:p>
            <a:pPr algn="ctr"/>
            <a:endParaRPr lang="en-US" sz="2000" dirty="0">
              <a:solidFill>
                <a:schemeClr val="bg1"/>
              </a:solidFill>
              <a:latin typeface="Times New Roman" panose="02020603050405020304" pitchFamily="18" charset="0"/>
              <a:cs typeface="Times New Roman" panose="02020603050405020304" pitchFamily="18" charset="0"/>
            </a:endParaRPr>
          </a:p>
          <a:p>
            <a:pPr algn="ctr"/>
            <a:r>
              <a:rPr lang="en-US" sz="2000" dirty="0">
                <a:solidFill>
                  <a:schemeClr val="bg1"/>
                </a:solidFill>
                <a:latin typeface="Times New Roman" panose="02020603050405020304" pitchFamily="18" charset="0"/>
                <a:cs typeface="Times New Roman" panose="02020603050405020304" pitchFamily="18" charset="0"/>
              </a:rPr>
              <a:t>Because the WVP has been designed to customize the plan but maintain the structure, it can provide client’s operational and policy statistics for many topic areas.</a:t>
            </a:r>
          </a:p>
        </p:txBody>
      </p:sp>
    </p:spTree>
    <p:extLst>
      <p:ext uri="{BB962C8B-B14F-4D97-AF65-F5344CB8AC3E}">
        <p14:creationId xmlns:p14="http://schemas.microsoft.com/office/powerpoint/2010/main" val="3751034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81BCC0-1999-6A6D-2044-3751AA87CA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199" y="1285575"/>
            <a:ext cx="5980215" cy="4660350"/>
          </a:xfrm>
          <a:prstGeom prst="rect">
            <a:avLst/>
          </a:prstGeom>
        </p:spPr>
      </p:pic>
      <p:sp>
        <p:nvSpPr>
          <p:cNvPr id="5" name="Rectangle: Rounded Corners 4">
            <a:extLst>
              <a:ext uri="{FF2B5EF4-FFF2-40B4-BE49-F238E27FC236}">
                <a16:creationId xmlns:a16="http://schemas.microsoft.com/office/drawing/2014/main" id="{C110DF66-681A-D03A-C924-C1BA040F7541}"/>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ction Button: Go to End 5">
            <a:hlinkClick r:id="" action="ppaction://hlinkshowjump?jump=nextslide" highlightClick="1"/>
            <a:extLst>
              <a:ext uri="{FF2B5EF4-FFF2-40B4-BE49-F238E27FC236}">
                <a16:creationId xmlns:a16="http://schemas.microsoft.com/office/drawing/2014/main" id="{74DE8AAF-2B72-B967-6999-0133AECFA50B}"/>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AABE6892-E8B1-2DDF-3F5D-681EC57841B7}"/>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ADOPT A DEPLOYMENT PLAN</a:t>
            </a:r>
          </a:p>
        </p:txBody>
      </p:sp>
      <p:cxnSp>
        <p:nvCxnSpPr>
          <p:cNvPr id="8" name="Straight Connector 7">
            <a:extLst>
              <a:ext uri="{FF2B5EF4-FFF2-40B4-BE49-F238E27FC236}">
                <a16:creationId xmlns:a16="http://schemas.microsoft.com/office/drawing/2014/main" id="{D2F0EFFD-059F-5FA9-6A50-E1DFEFD84098}"/>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D399FCC-F007-655F-731F-A1F178B80D21}"/>
              </a:ext>
            </a:extLst>
          </p:cNvPr>
          <p:cNvSpPr txBox="1"/>
          <p:nvPr/>
        </p:nvSpPr>
        <p:spPr>
          <a:xfrm>
            <a:off x="647701" y="1485900"/>
            <a:ext cx="2695574" cy="2246769"/>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As part of Tele-Commuter Resources’ Information Age Community project , the WVP  supports the Community, the Public and  the Private Sector.</a:t>
            </a:r>
          </a:p>
        </p:txBody>
      </p:sp>
    </p:spTree>
    <p:extLst>
      <p:ext uri="{BB962C8B-B14F-4D97-AF65-F5344CB8AC3E}">
        <p14:creationId xmlns:p14="http://schemas.microsoft.com/office/powerpoint/2010/main" val="2685260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FB2F35-504E-A51A-EDAB-B5A8F2B82D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1473" y="1310265"/>
            <a:ext cx="6746051" cy="4237469"/>
          </a:xfrm>
          <a:prstGeom prst="rect">
            <a:avLst/>
          </a:prstGeom>
        </p:spPr>
      </p:pic>
      <p:sp>
        <p:nvSpPr>
          <p:cNvPr id="5" name="Rectangle: Rounded Corners 4">
            <a:extLst>
              <a:ext uri="{FF2B5EF4-FFF2-40B4-BE49-F238E27FC236}">
                <a16:creationId xmlns:a16="http://schemas.microsoft.com/office/drawing/2014/main" id="{76D29167-3460-4D90-8CC5-19B8A8F747A1}"/>
              </a:ext>
            </a:extLst>
          </p:cNvPr>
          <p:cNvSpPr/>
          <p:nvPr/>
        </p:nvSpPr>
        <p:spPr>
          <a:xfrm>
            <a:off x="447675" y="1057275"/>
            <a:ext cx="3067050" cy="5419725"/>
          </a:xfrm>
          <a:prstGeom prst="round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ction Button: Go to End 5">
            <a:hlinkClick r:id="" action="ppaction://hlinkshowjump?jump=nextslide" highlightClick="1"/>
            <a:extLst>
              <a:ext uri="{FF2B5EF4-FFF2-40B4-BE49-F238E27FC236}">
                <a16:creationId xmlns:a16="http://schemas.microsoft.com/office/drawing/2014/main" id="{F998A0E2-5080-8D3A-2C0E-9F2FC90B02E4}"/>
              </a:ext>
            </a:extLst>
          </p:cNvPr>
          <p:cNvSpPr/>
          <p:nvPr/>
        </p:nvSpPr>
        <p:spPr>
          <a:xfrm>
            <a:off x="10832307" y="5734050"/>
            <a:ext cx="912018" cy="742950"/>
          </a:xfrm>
          <a:prstGeom prst="actionButtonEnd">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5634F6C9-148F-183B-EC38-F23EB51F76BE}"/>
              </a:ext>
            </a:extLst>
          </p:cNvPr>
          <p:cNvSpPr txBox="1"/>
          <p:nvPr/>
        </p:nvSpPr>
        <p:spPr>
          <a:xfrm>
            <a:off x="0" y="57834"/>
            <a:ext cx="12192000" cy="646331"/>
          </a:xfrm>
          <a:prstGeom prst="rect">
            <a:avLst/>
          </a:prstGeom>
          <a:noFill/>
        </p:spPr>
        <p:txBody>
          <a:bodyPr wrap="square" rtlCol="0">
            <a:spAutoFit/>
          </a:bodyPr>
          <a:lstStyle/>
          <a:p>
            <a:pPr algn="ctr"/>
            <a:r>
              <a:rPr lang="en-US" sz="3600" b="1" dirty="0">
                <a:solidFill>
                  <a:schemeClr val="bg1"/>
                </a:solidFill>
                <a:latin typeface="Times New Roman" panose="02020603050405020304" pitchFamily="18" charset="0"/>
                <a:cs typeface="Times New Roman" panose="02020603050405020304" pitchFamily="18" charset="0"/>
              </a:rPr>
              <a:t>BEGIN WITH A CONCEPT</a:t>
            </a:r>
          </a:p>
        </p:txBody>
      </p:sp>
      <p:cxnSp>
        <p:nvCxnSpPr>
          <p:cNvPr id="8" name="Straight Connector 7">
            <a:extLst>
              <a:ext uri="{FF2B5EF4-FFF2-40B4-BE49-F238E27FC236}">
                <a16:creationId xmlns:a16="http://schemas.microsoft.com/office/drawing/2014/main" id="{8170F2F4-F88C-0B00-4144-067EF59AF4E3}"/>
              </a:ext>
            </a:extLst>
          </p:cNvPr>
          <p:cNvCxnSpPr>
            <a:cxnSpLocks/>
          </p:cNvCxnSpPr>
          <p:nvPr/>
        </p:nvCxnSpPr>
        <p:spPr>
          <a:xfrm>
            <a:off x="0" y="704165"/>
            <a:ext cx="12192000"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3376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1478</TotalTime>
  <Words>670</Words>
  <Application>Microsoft Office PowerPoint</Application>
  <PresentationFormat>Widescreen</PresentationFormat>
  <Paragraphs>58</Paragraphs>
  <Slides>15</Slides>
  <Notes>2</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Sanger</dc:creator>
  <cp:lastModifiedBy>John Sanger</cp:lastModifiedBy>
  <cp:revision>5</cp:revision>
  <dcterms:created xsi:type="dcterms:W3CDTF">2026-06-11T17:02:49Z</dcterms:created>
  <dcterms:modified xsi:type="dcterms:W3CDTF">2026-07-18T21:12:08Z</dcterms:modified>
</cp:coreProperties>
</file>